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2" r:id="rId14"/>
    <p:sldId id="271" r:id="rId15"/>
    <p:sldId id="270" r:id="rId16"/>
    <p:sldId id="273" r:id="rId17"/>
    <p:sldId id="274" r:id="rId18"/>
    <p:sldId id="278" r:id="rId19"/>
    <p:sldId id="279" r:id="rId20"/>
    <p:sldId id="280" r:id="rId21"/>
    <p:sldId id="275" r:id="rId22"/>
    <p:sldId id="281" r:id="rId23"/>
    <p:sldId id="282" r:id="rId24"/>
    <p:sldId id="283" r:id="rId25"/>
    <p:sldId id="277" r:id="rId26"/>
    <p:sldId id="284" r:id="rId27"/>
    <p:sldId id="285" r:id="rId28"/>
  </p:sldIdLst>
  <p:sldSz cx="9144000" cy="5143500" type="screen16x9"/>
  <p:notesSz cx="6858000" cy="9144000"/>
  <p:embeddedFontLst>
    <p:embeddedFont>
      <p:font typeface="Wingdings 3" pitchFamily="2" charset="2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61"/>
    <p:restoredTop sz="94650"/>
  </p:normalViewPr>
  <p:slideViewPr>
    <p:cSldViewPr snapToGrid="0">
      <p:cViewPr varScale="1">
        <p:scale>
          <a:sx n="157" d="100"/>
          <a:sy n="157" d="100"/>
        </p:scale>
        <p:origin x="18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69678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4641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הרעיון הוא לעשות משחק ל 7 בום בין הקבוצה. במשחק אומרים את המספר ואם המספר מתחלק ב-7 אומרים בום. בנוסף, אם מופיע בספרה 7 גם נגיד בום.</a:t>
            </a:r>
          </a:p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הרעיון הוא שלאחר ששיחקנו – לתת להם לכתוב את הקוד של המשחק. יהיה בלתי אפשרי לכתוב את המשחק בלי תנאים.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96439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שימוש בתנאים עוזר להבין אם המשתמש טעה – ולתקן אותו. למשל אם לא הביא את הסיסמה הנכונה שעומדת בהגדרות, אז נבקש ממנו שיכתוב שוב את הסיסמה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27557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ניתן לתת את התרגול כדוגמה ובהמשך נעשה שאלה דומה שיעשו בעצמם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74958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87440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r" rtl="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C38B02BB-6392-A7DB-54C3-767A0B6622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68066" y="4295646"/>
            <a:ext cx="2168820" cy="8478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4075" y="162067"/>
            <a:ext cx="5005448" cy="5042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5175" y="4134525"/>
            <a:ext cx="268900" cy="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8625" y="438525"/>
            <a:ext cx="268900" cy="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1962" y="351375"/>
            <a:ext cx="679225" cy="67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2500" y="2922150"/>
            <a:ext cx="268900" cy="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6275" y="1547975"/>
            <a:ext cx="466650" cy="4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2425050" y="2022514"/>
            <a:ext cx="42939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 rtl="1"/>
            <a:r>
              <a:rPr lang="he-IL" sz="4400" dirty="0"/>
              <a:t>תנאים</a:t>
            </a:r>
            <a:endParaRPr sz="4100" b="1" dirty="0">
              <a:solidFill>
                <a:srgbClr val="1C4587"/>
              </a:solidFill>
              <a:latin typeface="Calibri" panose="020F0502020204030204" pitchFamily="34" charset="0"/>
              <a:ea typeface="Assistant"/>
              <a:cs typeface="Calibri" panose="020F0502020204030204" pitchFamily="34" charset="0"/>
              <a:sym typeface="Assistant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32A0155A-C7CC-C086-83F6-76F68615C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638" y="314597"/>
            <a:ext cx="3442348" cy="13457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900D3D-0DBD-E452-FCA1-C5140572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בואו נבין את הצורך בתנאים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1B901A3-E69F-CDBC-0971-5DD069C98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4" name="Content Placeholder 4" descr="A blue and red text with a yellow background&#10;&#10;Description automatically generated">
            <a:extLst>
              <a:ext uri="{FF2B5EF4-FFF2-40B4-BE49-F238E27FC236}">
                <a16:creationId xmlns:a16="http://schemas.microsoft.com/office/drawing/2014/main" id="{E399A47B-91A3-7438-B6CD-2E66144A8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018" y="1152475"/>
            <a:ext cx="6019963" cy="36852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391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8BCBD-1587-3AA4-108B-FB71E6C8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 err="1"/>
              <a:t>if</a:t>
            </a:r>
            <a:r>
              <a:rPr lang="he-IL" dirty="0"/>
              <a:t>, </a:t>
            </a:r>
            <a:r>
              <a:rPr lang="he-IL" dirty="0" err="1"/>
              <a:t>else</a:t>
            </a:r>
            <a:r>
              <a:rPr lang="he-IL" dirty="0"/>
              <a:t>, ומה שביניהם: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B6DF4-8179-F0DA-02B7-B4B318A92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he-IL" dirty="0"/>
              <a:t>בשביל לממש את המשחק 7 בום, אנחנו צריכים לחלק את המשחק לשלבים:</a:t>
            </a:r>
          </a:p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he-IL" dirty="0"/>
              <a:t>1. </a:t>
            </a:r>
            <a:r>
              <a:rPr lang="he-IL" b="1" dirty="0"/>
              <a:t>אם</a:t>
            </a:r>
            <a:r>
              <a:rPr lang="he-IL" dirty="0"/>
              <a:t> במספר עצמו יש 7? (137 לדוגמה)</a:t>
            </a:r>
          </a:p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he-IL" dirty="0"/>
              <a:t>2. </a:t>
            </a:r>
            <a:r>
              <a:rPr lang="he-IL" b="1" dirty="0"/>
              <a:t>אם</a:t>
            </a:r>
            <a:r>
              <a:rPr lang="he-IL" dirty="0"/>
              <a:t> המספר מתחלק ב7 ללא שארית? (49 לדוגמה)</a:t>
            </a:r>
          </a:p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he-IL" dirty="0"/>
              <a:t>3. </a:t>
            </a:r>
            <a:r>
              <a:rPr lang="he-IL" b="1" dirty="0"/>
              <a:t>אחרת? 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09605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62919-334F-21B0-ECD4-4F56EBA94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 err="1"/>
              <a:t>if</a:t>
            </a:r>
            <a:r>
              <a:rPr lang="he-IL" dirty="0"/>
              <a:t>, </a:t>
            </a:r>
            <a:r>
              <a:rPr lang="he-IL" dirty="0" err="1"/>
              <a:t>else</a:t>
            </a:r>
            <a:r>
              <a:rPr lang="he-IL" dirty="0"/>
              <a:t>, ומה שביניהם: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18FD1-23C2-38D8-B70D-A2731F1FE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b="1" dirty="0"/>
              <a:t>ב</a:t>
            </a:r>
            <a:r>
              <a:rPr lang="en-US" b="1" dirty="0" err="1"/>
              <a:t>Javascript</a:t>
            </a:r>
            <a:r>
              <a:rPr lang="en-US" b="1" dirty="0"/>
              <a:t> </a:t>
            </a:r>
            <a:r>
              <a:rPr lang="he-IL" b="1" dirty="0"/>
              <a:t> נשתמש בכלים הבאים:</a:t>
            </a:r>
          </a:p>
          <a:p>
            <a:pPr algn="r" rtl="1"/>
            <a:r>
              <a:rPr lang="en-US" b="1" dirty="0"/>
              <a:t>I</a:t>
            </a:r>
            <a:r>
              <a:rPr lang="he-IL" b="1" dirty="0" err="1"/>
              <a:t>f</a:t>
            </a:r>
            <a:r>
              <a:rPr lang="he-IL" b="1" dirty="0"/>
              <a:t> – התוכנה בודקת מה קורה אם התנאי מתקיים</a:t>
            </a:r>
          </a:p>
          <a:p>
            <a:pPr algn="r" rtl="1"/>
            <a:r>
              <a:rPr lang="en-US" b="1" dirty="0"/>
              <a:t>E</a:t>
            </a:r>
            <a:r>
              <a:rPr lang="he-IL" b="1" dirty="0" err="1"/>
              <a:t>lse</a:t>
            </a:r>
            <a:r>
              <a:rPr lang="he-IL" b="1" dirty="0"/>
              <a:t> </a:t>
            </a:r>
            <a:r>
              <a:rPr lang="he-IL" b="1" dirty="0" err="1"/>
              <a:t>if</a:t>
            </a:r>
            <a:r>
              <a:rPr lang="he-IL" b="1" dirty="0"/>
              <a:t>- אם התנאי הקודם לא התקיים, אבל הנוכחי מתקיים</a:t>
            </a:r>
          </a:p>
          <a:p>
            <a:pPr algn="r" rtl="1"/>
            <a:r>
              <a:rPr lang="en-US" b="1" dirty="0"/>
              <a:t>E</a:t>
            </a:r>
            <a:r>
              <a:rPr lang="he-IL" b="1" dirty="0" err="1"/>
              <a:t>lse</a:t>
            </a:r>
            <a:r>
              <a:rPr lang="he-IL" b="1" dirty="0"/>
              <a:t>- אחרת</a:t>
            </a:r>
          </a:p>
          <a:p>
            <a:pPr algn="r" rtl="1"/>
            <a:endParaRPr lang="he-IL" b="1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09591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6BCC5-6460-D876-DF33-884800190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דוגמה נוספת: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49A03-B8E6-11EC-787E-D2EE7ABAE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BE97E30F-A5FA-952A-1CC6-DACC7F342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152475"/>
            <a:ext cx="4117572" cy="2130927"/>
          </a:xfrm>
          <a:prstGeom prst="rect">
            <a:avLst/>
          </a:prstGeom>
        </p:spPr>
      </p:pic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9CEBD82F-1645-D485-1D33-0C3CB915B1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446"/>
          <a:stretch/>
        </p:blipFill>
        <p:spPr>
          <a:xfrm>
            <a:off x="4912166" y="1581342"/>
            <a:ext cx="3775748" cy="1187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screenshot of a phone&#10;&#10;Description automatically generated">
            <a:extLst>
              <a:ext uri="{FF2B5EF4-FFF2-40B4-BE49-F238E27FC236}">
                <a16:creationId xmlns:a16="http://schemas.microsoft.com/office/drawing/2014/main" id="{498B1B3D-2534-A636-0527-39A5DE0E8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166" y="3355081"/>
            <a:ext cx="3920134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527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577F8-4DEE-2470-099A-2BA01E394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שימוש בתנאים עוזר לנו להתחמק משגיאות!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86C6E-27DA-BDA4-9F47-0F22C8E4B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pic>
        <p:nvPicPr>
          <p:cNvPr id="4" name="Content Placeholder 6" descr="A text on a white background&#10;&#10;Description automatically generated">
            <a:extLst>
              <a:ext uri="{FF2B5EF4-FFF2-40B4-BE49-F238E27FC236}">
                <a16:creationId xmlns:a16="http://schemas.microsoft.com/office/drawing/2014/main" id="{F7C5A89D-8B34-E53E-2672-356BC5397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52475"/>
            <a:ext cx="4030952" cy="28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40866015-1287-1C3B-745A-503152E8047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1102" r="-271"/>
          <a:stretch/>
        </p:blipFill>
        <p:spPr>
          <a:xfrm>
            <a:off x="4342652" y="1152475"/>
            <a:ext cx="4396135" cy="311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390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221A8-52A8-DD1A-16CE-E1B96C602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אופרטורים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21EDE-1966-5A68-9BB0-2DE333EB9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4" name="Content Placeholder 4" descr="A screenshot of a phone&#10;&#10;Description automatically generated">
            <a:extLst>
              <a:ext uri="{FF2B5EF4-FFF2-40B4-BE49-F238E27FC236}">
                <a16:creationId xmlns:a16="http://schemas.microsoft.com/office/drawing/2014/main" id="{719E36BA-B84E-C10A-2591-83CB658E4E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4962" b="14962"/>
          <a:stretch/>
        </p:blipFill>
        <p:spPr>
          <a:xfrm>
            <a:off x="4879546" y="574625"/>
            <a:ext cx="3785792" cy="3887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9DE7FE93-9B0A-BC41-C40B-DA12CA1D0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75" y="805056"/>
            <a:ext cx="4083909" cy="376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247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C74A7-7D8F-4B5A-9B4B-5438B8100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 אופרטורים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D8893-C694-9D9B-F4A6-50A68D558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he-IL" dirty="0"/>
              <a:t>קבעו </a:t>
            </a:r>
            <a:r>
              <a:rPr lang="he-IL" dirty="0" err="1"/>
              <a:t>a</a:t>
            </a:r>
            <a:r>
              <a:rPr lang="he-IL" dirty="0"/>
              <a:t> = 3 ו-</a:t>
            </a:r>
            <a:r>
              <a:rPr lang="he-IL" dirty="0" err="1"/>
              <a:t>b</a:t>
            </a:r>
            <a:r>
              <a:rPr lang="he-IL" dirty="0"/>
              <a:t> =3</a:t>
            </a:r>
          </a:p>
          <a:p>
            <a:pPr marL="114300" indent="0">
              <a:buNone/>
            </a:pPr>
            <a:r>
              <a:rPr lang="he-IL" dirty="0"/>
              <a:t>כתבו קוד ש:</a:t>
            </a:r>
          </a:p>
          <a:p>
            <a:pPr marL="114300" indent="0">
              <a:buNone/>
            </a:pPr>
            <a:endParaRPr lang="he-IL" dirty="0"/>
          </a:p>
          <a:p>
            <a:pPr marL="114300" indent="0">
              <a:buNone/>
            </a:pPr>
            <a:r>
              <a:rPr lang="he-IL" dirty="0"/>
              <a:t>אם </a:t>
            </a:r>
            <a:r>
              <a:rPr lang="he-IL" dirty="0" err="1"/>
              <a:t>a</a:t>
            </a:r>
            <a:r>
              <a:rPr lang="he-IL" dirty="0"/>
              <a:t> גדול מ-</a:t>
            </a:r>
            <a:r>
              <a:rPr lang="he-IL" dirty="0" err="1"/>
              <a:t>b</a:t>
            </a:r>
            <a:r>
              <a:rPr lang="he-IL" dirty="0"/>
              <a:t> הדפיסו </a:t>
            </a:r>
            <a:r>
              <a:rPr lang="he-IL" dirty="0" err="1"/>
              <a:t>False</a:t>
            </a:r>
            <a:endParaRPr lang="he-IL" dirty="0"/>
          </a:p>
          <a:p>
            <a:pPr marL="114300" indent="0">
              <a:buNone/>
            </a:pPr>
            <a:r>
              <a:rPr lang="he-IL" dirty="0"/>
              <a:t>אם </a:t>
            </a:r>
            <a:r>
              <a:rPr lang="he-IL" dirty="0" err="1"/>
              <a:t>a</a:t>
            </a:r>
            <a:r>
              <a:rPr lang="he-IL" dirty="0"/>
              <a:t> שווה ל-</a:t>
            </a:r>
            <a:r>
              <a:rPr lang="he-IL" dirty="0" err="1"/>
              <a:t>b</a:t>
            </a:r>
            <a:r>
              <a:rPr lang="he-IL" dirty="0"/>
              <a:t> הדפיסו </a:t>
            </a:r>
            <a:r>
              <a:rPr lang="he-IL" dirty="0" err="1"/>
              <a:t>True</a:t>
            </a:r>
            <a:endParaRPr lang="he-IL" dirty="0"/>
          </a:p>
          <a:p>
            <a:pPr marL="114300" indent="0">
              <a:buNone/>
            </a:pPr>
            <a:r>
              <a:rPr lang="he-IL" dirty="0"/>
              <a:t>אם </a:t>
            </a:r>
            <a:r>
              <a:rPr lang="he-IL" dirty="0" err="1"/>
              <a:t>a</a:t>
            </a:r>
            <a:r>
              <a:rPr lang="he-IL" dirty="0"/>
              <a:t> גדול מ-</a:t>
            </a:r>
            <a:r>
              <a:rPr lang="he-IL" dirty="0" err="1"/>
              <a:t>b</a:t>
            </a:r>
            <a:r>
              <a:rPr lang="he-IL" dirty="0"/>
              <a:t> הדפיסו </a:t>
            </a:r>
            <a:r>
              <a:rPr lang="he-IL" dirty="0" err="1"/>
              <a:t>False</a:t>
            </a:r>
            <a:endParaRPr lang="he-IL" dirty="0"/>
          </a:p>
          <a:p>
            <a:pPr marL="114300" indent="0">
              <a:buNone/>
            </a:pPr>
            <a:r>
              <a:rPr lang="he-IL" dirty="0"/>
              <a:t>אם </a:t>
            </a:r>
            <a:r>
              <a:rPr lang="he-IL" dirty="0" err="1"/>
              <a:t>a</a:t>
            </a:r>
            <a:r>
              <a:rPr lang="he-IL" dirty="0"/>
              <a:t> גדול או שווה ל-</a:t>
            </a:r>
            <a:r>
              <a:rPr lang="he-IL" dirty="0" err="1"/>
              <a:t>b</a:t>
            </a:r>
            <a:r>
              <a:rPr lang="he-IL" dirty="0"/>
              <a:t> הדפיסו </a:t>
            </a:r>
            <a:r>
              <a:rPr lang="he-IL" dirty="0" err="1"/>
              <a:t>True</a:t>
            </a:r>
            <a:endParaRPr lang="he-IL" dirty="0"/>
          </a:p>
          <a:p>
            <a:pPr marL="114300" indent="0">
              <a:buNone/>
            </a:pPr>
            <a:endParaRPr lang="he-IL" dirty="0"/>
          </a:p>
          <a:p>
            <a:pPr marL="114300" indent="0">
              <a:buNone/>
            </a:pPr>
            <a:r>
              <a:rPr lang="he-IL" dirty="0"/>
              <a:t>שנו את </a:t>
            </a:r>
            <a:r>
              <a:rPr lang="he-IL" dirty="0" err="1"/>
              <a:t>a</a:t>
            </a:r>
            <a:r>
              <a:rPr lang="he-IL" dirty="0"/>
              <a:t> ו-</a:t>
            </a:r>
            <a:r>
              <a:rPr lang="he-IL" dirty="0" err="1"/>
              <a:t>b</a:t>
            </a:r>
            <a:r>
              <a:rPr lang="he-IL" dirty="0"/>
              <a:t> כך שהקוד ידפיס </a:t>
            </a:r>
            <a:r>
              <a:rPr lang="he-IL" dirty="0" err="1"/>
              <a:t>False</a:t>
            </a:r>
            <a:endParaRPr lang="he-IL" dirty="0"/>
          </a:p>
          <a:p>
            <a:pPr marL="114300" indent="0">
              <a:buNone/>
            </a:pPr>
            <a:r>
              <a:rPr lang="he-IL" dirty="0"/>
              <a:t>שנו את </a:t>
            </a:r>
            <a:r>
              <a:rPr lang="he-IL" dirty="0" err="1"/>
              <a:t>a</a:t>
            </a:r>
            <a:r>
              <a:rPr lang="he-IL" dirty="0"/>
              <a:t> ו-</a:t>
            </a:r>
            <a:r>
              <a:rPr lang="he-IL" dirty="0" err="1"/>
              <a:t>b</a:t>
            </a:r>
            <a:r>
              <a:rPr lang="he-IL" dirty="0"/>
              <a:t>  כך שהקוד ידפיס </a:t>
            </a:r>
            <a:r>
              <a:rPr lang="he-IL" dirty="0" err="1"/>
              <a:t>True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89487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3B096-85C3-9191-E48C-CC92BD569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אם וגם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08720-F75A-EAB5-43D2-0680AAFBE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מה ההבדל בין 2 המשפטים הבאים:</a:t>
            </a:r>
          </a:p>
          <a:p>
            <a:r>
              <a:rPr lang="he-IL" dirty="0"/>
              <a:t>אני מרוצה אם בני, או דני, או גיל יבואו למסיבה שלי</a:t>
            </a:r>
          </a:p>
          <a:p>
            <a:r>
              <a:rPr lang="he-IL" dirty="0"/>
              <a:t>אני מרוצה אם גם בני, גם גיל, וגם דני יבואו למסיבה שלי</a:t>
            </a:r>
          </a:p>
          <a:p>
            <a:endParaRPr lang="he-IL" dirty="0"/>
          </a:p>
          <a:p>
            <a:r>
              <a:rPr lang="he-IL" dirty="0"/>
              <a:t>מתי אני אהיה מרוצה בכל אחד מהמקרים?</a:t>
            </a:r>
            <a:endParaRPr lang="en-IL" dirty="0"/>
          </a:p>
        </p:txBody>
      </p:sp>
      <p:pic>
        <p:nvPicPr>
          <p:cNvPr id="5" name="Picture 4" descr="A group of cartoon children&#10;&#10;Description automatically generated">
            <a:extLst>
              <a:ext uri="{FF2B5EF4-FFF2-40B4-BE49-F238E27FC236}">
                <a16:creationId xmlns:a16="http://schemas.microsoft.com/office/drawing/2014/main" id="{4BBD8AE8-E5FD-752C-5123-74E10F9EE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889" b="96000" l="4889" r="91556">
                        <a14:foregroundMark x1="29333" y1="26667" x2="29333" y2="26667"/>
                        <a14:foregroundMark x1="32000" y1="21333" x2="32000" y2="21333"/>
                        <a14:foregroundMark x1="38667" y1="20000" x2="38667" y2="20000"/>
                        <a14:foregroundMark x1="44444" y1="16444" x2="44444" y2="16444"/>
                        <a14:foregroundMark x1="52889" y1="17333" x2="52889" y2="17333"/>
                        <a14:foregroundMark x1="57778" y1="21778" x2="57778" y2="21778"/>
                        <a14:foregroundMark x1="64444" y1="21778" x2="64444" y2="21778"/>
                        <a14:foregroundMark x1="71556" y1="15556" x2="71556" y2="15556"/>
                        <a14:foregroundMark x1="60889" y1="8444" x2="60889" y2="8444"/>
                        <a14:foregroundMark x1="47556" y1="5333" x2="47556" y2="5333"/>
                        <a14:foregroundMark x1="33778" y1="8889" x2="33778" y2="8889"/>
                        <a14:foregroundMark x1="21778" y1="21333" x2="21778" y2="21333"/>
                        <a14:foregroundMark x1="5333" y1="57778" x2="5333" y2="57778"/>
                        <a14:foregroundMark x1="14667" y1="33333" x2="14667" y2="33333"/>
                        <a14:foregroundMark x1="85778" y1="35111" x2="85778" y2="35111"/>
                        <a14:foregroundMark x1="91556" y1="8889" x2="91556" y2="8889"/>
                        <a14:foregroundMark x1="87556" y1="32889" x2="87556" y2="32889"/>
                        <a14:foregroundMark x1="88000" y1="34222" x2="88000" y2="34222"/>
                        <a14:foregroundMark x1="88000" y1="35556" x2="88000" y2="35556"/>
                        <a14:foregroundMark x1="89778" y1="34222" x2="89778" y2="34222"/>
                        <a14:foregroundMark x1="84444" y1="36889" x2="84444" y2="36889"/>
                        <a14:foregroundMark x1="90667" y1="34222" x2="90667" y2="34222"/>
                        <a14:foregroundMark x1="67111" y1="27556" x2="67111" y2="27556"/>
                        <a14:foregroundMark x1="60889" y1="31111" x2="60889" y2="31111"/>
                        <a14:foregroundMark x1="53778" y1="34222" x2="53778" y2="34222"/>
                        <a14:foregroundMark x1="42222" y1="34222" x2="42222" y2="34222"/>
                        <a14:foregroundMark x1="36444" y1="32444" x2="36444" y2="32444"/>
                        <a14:foregroundMark x1="44444" y1="83111" x2="44444" y2="83111"/>
                        <a14:foregroundMark x1="43556" y1="91556" x2="43556" y2="91556"/>
                        <a14:foregroundMark x1="40000" y1="96000" x2="40000" y2="96000"/>
                        <a14:foregroundMark x1="52889" y1="95556" x2="52889" y2="95556"/>
                        <a14:foregroundMark x1="50667" y1="94667" x2="50667" y2="94667"/>
                        <a14:foregroundMark x1="40000" y1="95111" x2="40000" y2="95111"/>
                        <a14:foregroundMark x1="40889" y1="94667" x2="40889" y2="9555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1700" y="1634247"/>
            <a:ext cx="3063600" cy="30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266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0D3C1-BF5C-E2C5-F1F6-188F7BEF3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גם כשכותבים קוד משתמשים ב-גם </a:t>
            </a:r>
            <a:r>
              <a:rPr lang="he-IL" dirty="0" err="1"/>
              <a:t>וב</a:t>
            </a:r>
            <a:r>
              <a:rPr lang="he-IL" dirty="0"/>
              <a:t>-אם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C3EFC-E919-69D6-3FB8-786978C84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pic>
        <p:nvPicPr>
          <p:cNvPr id="4" name="Content Placeholder 4" descr="A screenshot of a phone&#10;&#10;Description automatically generated">
            <a:extLst>
              <a:ext uri="{FF2B5EF4-FFF2-40B4-BE49-F238E27FC236}">
                <a16:creationId xmlns:a16="http://schemas.microsoft.com/office/drawing/2014/main" id="{A49CDFB2-9AAA-761B-4A53-89120F4E4F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4688" b="62132"/>
          <a:stretch/>
        </p:blipFill>
        <p:spPr>
          <a:xfrm>
            <a:off x="2005033" y="1449534"/>
            <a:ext cx="5394833" cy="224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94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3B0DD-678B-B0A0-476E-4F4A83E54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614992-EF57-E192-AD3A-19717534D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אם 1&gt;3 וגם 3&gt;1: הדפיסו </a:t>
            </a:r>
            <a:r>
              <a:rPr lang="he-IL" dirty="0" err="1"/>
              <a:t>True</a:t>
            </a:r>
            <a:endParaRPr lang="he-IL" dirty="0"/>
          </a:p>
          <a:p>
            <a:pPr marL="114300" indent="0">
              <a:buNone/>
            </a:pPr>
            <a:endParaRPr lang="he-IL" dirty="0"/>
          </a:p>
          <a:p>
            <a:r>
              <a:rPr lang="he-IL" dirty="0"/>
              <a:t>אם 9&gt;3 וגם 3&gt;0: הדפיסו </a:t>
            </a:r>
            <a:r>
              <a:rPr lang="he-IL" dirty="0" err="1"/>
              <a:t>True</a:t>
            </a:r>
            <a:endParaRPr lang="he-IL" dirty="0"/>
          </a:p>
          <a:p>
            <a:endParaRPr lang="he-IL" dirty="0"/>
          </a:p>
          <a:p>
            <a:r>
              <a:rPr lang="he-IL" dirty="0"/>
              <a:t>אם 1&gt;3 וגם 3&gt;1: הדפיסו </a:t>
            </a:r>
            <a:r>
              <a:rPr lang="he-IL" dirty="0" err="1"/>
              <a:t>False</a:t>
            </a:r>
            <a:endParaRPr lang="he-IL" dirty="0"/>
          </a:p>
          <a:p>
            <a:endParaRPr lang="he-IL" dirty="0"/>
          </a:p>
          <a:p>
            <a:r>
              <a:rPr lang="he-IL" dirty="0"/>
              <a:t>אם 1&gt;3 או 3&gt;1: הדפיסו </a:t>
            </a:r>
            <a:r>
              <a:rPr lang="he-IL" dirty="0" err="1"/>
              <a:t>True</a:t>
            </a:r>
            <a:endParaRPr lang="he-IL" dirty="0"/>
          </a:p>
          <a:p>
            <a:endParaRPr lang="he-IL" dirty="0"/>
          </a:p>
          <a:p>
            <a:r>
              <a:rPr lang="he-IL" dirty="0"/>
              <a:t>אם 1&gt;3 או  0&gt;1: הדפיסו </a:t>
            </a:r>
            <a:r>
              <a:rPr lang="he-IL" dirty="0" err="1"/>
              <a:t>False</a:t>
            </a:r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51537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3DA6D-F065-7F14-C8C1-B67662B91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תרגיל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E2078-2251-C076-D9B9-7138062F4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457200" rtl="1" eaLnBrk="1" latinLnBrk="0" hangingPunct="1"/>
            <a:r>
              <a:rPr lang="he-IL" dirty="0"/>
              <a:t>מי נכנס למסיבה?</a:t>
            </a:r>
          </a:p>
          <a:p>
            <a:pPr marL="0" algn="r" defTabSz="457200" rtl="1" eaLnBrk="1" latinLnBrk="0" hangingPunct="1"/>
            <a:r>
              <a:rPr lang="he-IL" dirty="0"/>
              <a:t>במסיבה שלי יכולים להיכנס רק אנשים בין גיל 20-25,</a:t>
            </a:r>
          </a:p>
          <a:p>
            <a:pPr marL="0" algn="r" defTabSz="457200" rtl="1" eaLnBrk="1" latinLnBrk="0" hangingPunct="1"/>
            <a:r>
              <a:rPr lang="he-IL" dirty="0"/>
              <a:t>איך נבנה תוכנה שתקבל את גיל המשתמש ותגיד אם הוא יכול להיכנס?</a:t>
            </a:r>
            <a:endParaRPr lang="en-IL" dirty="0"/>
          </a:p>
          <a:p>
            <a:pPr marL="114300" indent="0"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934015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6AFF2-4EC6-C9F9-C7C8-090191DF2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פתרון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A6B76-7976-01A3-8FA8-23F4906AE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pic>
        <p:nvPicPr>
          <p:cNvPr id="4" name="Content Placeholder 4" descr="A screenshot of a phone&#10;&#10;Description automatically generated">
            <a:extLst>
              <a:ext uri="{FF2B5EF4-FFF2-40B4-BE49-F238E27FC236}">
                <a16:creationId xmlns:a16="http://schemas.microsoft.com/office/drawing/2014/main" id="{99AAE222-B17C-116C-B97A-4D9F51FF0B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393" t="58409" r="393" b="-684"/>
          <a:stretch/>
        </p:blipFill>
        <p:spPr>
          <a:xfrm>
            <a:off x="1985071" y="1602833"/>
            <a:ext cx="5173857" cy="2515684"/>
          </a:xfrm>
        </p:spPr>
      </p:pic>
    </p:spTree>
    <p:extLst>
      <p:ext uri="{BB962C8B-B14F-4D97-AF65-F5344CB8AC3E}">
        <p14:creationId xmlns:p14="http://schemas.microsoft.com/office/powerpoint/2010/main" val="576210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D1279-D45A-9440-3FFF-B3C72108A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מי נכנס למסיבה שלכם?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24D08-1353-2394-08D9-DBEEB28D7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4" name="Content Placeholder 4" descr="A screenshot of a phone&#10;&#10;Description automatically generated">
            <a:extLst>
              <a:ext uri="{FF2B5EF4-FFF2-40B4-BE49-F238E27FC236}">
                <a16:creationId xmlns:a16="http://schemas.microsoft.com/office/drawing/2014/main" id="{AA0BAE46-1B21-0C63-B193-8C1E99F559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393" t="58409" r="393" b="-684"/>
          <a:stretch/>
        </p:blipFill>
        <p:spPr>
          <a:xfrm>
            <a:off x="1649835" y="1152475"/>
            <a:ext cx="5844329" cy="28416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C271B73-D0EA-8740-2493-29E1497851F3}"/>
              </a:ext>
            </a:extLst>
          </p:cNvPr>
          <p:cNvSpPr/>
          <p:nvPr/>
        </p:nvSpPr>
        <p:spPr>
          <a:xfrm>
            <a:off x="2592006" y="1820895"/>
            <a:ext cx="3260558" cy="25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2FB71B-49A3-7F5A-6B62-49C82C9D7252}"/>
              </a:ext>
            </a:extLst>
          </p:cNvPr>
          <p:cNvSpPr/>
          <p:nvPr/>
        </p:nvSpPr>
        <p:spPr>
          <a:xfrm>
            <a:off x="1918239" y="2398411"/>
            <a:ext cx="3140242" cy="25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82133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FCEE-9E7C-0186-CA8F-CA2569BC5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5ECFF-3781-7F65-0D6B-2CA60CCDD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algn="r" defTabSz="457200" rtl="1" eaLnBrk="1" latinLnBrk="0" hangingPunct="1"/>
            <a:r>
              <a:rPr lang="he-IL" dirty="0"/>
              <a:t>מי מגיע למסיבת כיתה? למסיבת כיתה יכולים להגיע ילדים בגיל 18 או ילדים בגיל 16</a:t>
            </a:r>
          </a:p>
          <a:p>
            <a:pPr marL="0" indent="0" algn="r" defTabSz="457200" rtl="1" eaLnBrk="1" latinLnBrk="0" hangingPunct="1">
              <a:buNone/>
            </a:pPr>
            <a:r>
              <a:rPr lang="he-IL" dirty="0"/>
              <a:t>      איך נבנה תוכנה שתקבל את גיל המשתמש ותגיד אם הוא יכול להיכנס?</a:t>
            </a:r>
          </a:p>
          <a:p>
            <a:pPr marL="114300" indent="0">
              <a:buNone/>
            </a:pPr>
            <a:endParaRPr lang="he-IL" dirty="0"/>
          </a:p>
          <a:p>
            <a:pPr marL="0" algn="r" defTabSz="457200" rtl="1" eaLnBrk="1" latinLnBrk="0" hangingPunct="1"/>
            <a:r>
              <a:rPr lang="he-IL" dirty="0"/>
              <a:t>מי מגיע למסיבת כיתה? למסיבת כיתה יכולים להגיע ילדים בגיל 18-21</a:t>
            </a:r>
          </a:p>
          <a:p>
            <a:pPr marL="0" indent="0" algn="r" defTabSz="457200" rtl="1" eaLnBrk="1" latinLnBrk="0" hangingPunct="1">
              <a:buNone/>
            </a:pPr>
            <a:r>
              <a:rPr lang="he-IL" dirty="0"/>
              <a:t>      איך נבנה תוכנה שתקבל את גיל המשתמש ותגיד אם הוא יכול להיכנס?</a:t>
            </a:r>
          </a:p>
          <a:p>
            <a:pPr marL="0" indent="0" algn="r" defTabSz="457200" rtl="1" eaLnBrk="1" latinLnBrk="0" hangingPunct="1">
              <a:buNone/>
            </a:pPr>
            <a:endParaRPr lang="he-IL" dirty="0"/>
          </a:p>
          <a:p>
            <a:pPr marL="0" algn="r" defTabSz="457200" rtl="1" eaLnBrk="1" latinLnBrk="0" hangingPunct="1"/>
            <a:r>
              <a:rPr lang="he-IL" dirty="0"/>
              <a:t>מי מגיע למסיבת כיתה? למסיבת כיתה יכולים להגיע ילדים בגיל 18 או ילדים בגיל 21</a:t>
            </a:r>
          </a:p>
          <a:p>
            <a:pPr marL="0" indent="0" algn="r" defTabSz="457200" rtl="1" eaLnBrk="1" latinLnBrk="0" hangingPunct="1">
              <a:buNone/>
            </a:pPr>
            <a:r>
              <a:rPr lang="he-IL" dirty="0"/>
              <a:t>      איך נבנה תוכנה שתקבל את גיל המשתמש ותגיד אם הוא יכול להיכנס?</a:t>
            </a:r>
          </a:p>
          <a:p>
            <a:pPr marL="0" indent="0" algn="r" defTabSz="457200" rtl="1" eaLnBrk="1" latinLnBrk="0" hangingPunct="1">
              <a:buNone/>
            </a:pPr>
            <a:endParaRPr lang="he-IL" dirty="0"/>
          </a:p>
          <a:p>
            <a:pPr marL="0" algn="r" defTabSz="457200" rtl="1" eaLnBrk="1" latinLnBrk="0" hangingPunct="1"/>
            <a:r>
              <a:rPr lang="he-IL" dirty="0"/>
              <a:t>מי מגיע למסיבת כיתה? למסיבת כיתה יכולים להגיע ילדים בגיל 18-35</a:t>
            </a:r>
          </a:p>
          <a:p>
            <a:pPr marL="0" indent="0" algn="r" defTabSz="457200" rtl="1" eaLnBrk="1" latinLnBrk="0" hangingPunct="1">
              <a:buNone/>
            </a:pPr>
            <a:r>
              <a:rPr lang="he-IL" dirty="0"/>
              <a:t>      איך נבנה תוכנה שתקבל את גיל המשתמש ותגיד אם הוא יכול להיכנס?</a:t>
            </a:r>
            <a:endParaRPr lang="en-IL" dirty="0"/>
          </a:p>
          <a:p>
            <a:pPr marL="0" indent="0" algn="r" defTabSz="457200" rtl="1" eaLnBrk="1" latinLnBrk="0" hangingPunct="1">
              <a:buNone/>
            </a:pPr>
            <a:endParaRPr lang="en-IL" dirty="0"/>
          </a:p>
          <a:p>
            <a:pPr marL="0" indent="0" algn="r" defTabSz="457200" rtl="1" eaLnBrk="1" latinLnBrk="0" hangingPunct="1">
              <a:buNone/>
            </a:pPr>
            <a:endParaRPr lang="en-IL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48405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B0705-5729-4885-6396-F3DE1EF6F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השוואה בין או לבין וגם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9839C-0172-AB25-E3FB-BAD7322DD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466F6F0A-3F8A-01D8-BEC7-A369C6A1A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50" y="301570"/>
            <a:ext cx="2837517" cy="446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926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0B7A8-F899-9BCD-1D47-CEE596783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שאלות מתקדמות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2674E-B973-3832-360E-D24883AE9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1800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רמה קלה </a:t>
            </a:r>
            <a:endParaRPr lang="en-IL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SA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סיווג של גיל</a:t>
            </a:r>
            <a:br>
              <a:rPr lang="en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צרו משתנה בשם 'גיל' ותשימו בו ערך. </a:t>
            </a:r>
            <a:br>
              <a:rPr lang="en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תבדקו באמצעות תנאים האם מדובר על ילד, נער או מבוגר</a:t>
            </a:r>
            <a:br>
              <a:rPr lang="en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"ילד" (0-12), "נער" (13-19), "מבוגר" (20-59). הצג את הקטגוריה המתאימה בהתבסס על הגיל הנתון.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טמפרטורה:</a:t>
            </a:r>
            <a:br>
              <a:rPr lang="en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צור משתנה 'טמפרטורה' והקצה לו ערך בצלזיוס. תבדקו באמצעות  </a:t>
            </a:r>
            <a:r>
              <a:rPr lang="en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if-else</a:t>
            </a:r>
            <a:r>
              <a:rPr lang="en-IL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he-IL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האם  הטמפרטורה מתחת לאפס (0°</a:t>
            </a:r>
            <a:r>
              <a:rPr lang="en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או מעל טמפרטורת החדר הרגילה (25°</a:t>
            </a:r>
            <a:r>
              <a:rPr lang="en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שדרוג – במקום להחזיר משפט, החזירו </a:t>
            </a:r>
            <a:r>
              <a:rPr lang="he-IL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True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אם הטמפרטורה מעל טמפ׳ החדר, </a:t>
            </a:r>
            <a:r>
              <a:rPr lang="he-IL" kern="1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וFalse</a:t>
            </a: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אחרת</a:t>
            </a:r>
            <a:endParaRPr lang="en-IL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SA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הערכת ציונים: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תקבלו מהמשתמש ציון באמצעות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prompt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ותדפיסו "</a:t>
            </a:r>
            <a:r>
              <a:rPr lang="en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 אם הציון הוא 90 ומעלה, "</a:t>
            </a:r>
            <a:r>
              <a:rPr lang="en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 אם הוא בין 80 ל-89, "</a:t>
            </a:r>
            <a:r>
              <a:rPr lang="en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 אם הוא בין 70 ל-79, "</a:t>
            </a:r>
            <a:r>
              <a:rPr lang="en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 אם הוא בין 60 ל-69, ו-"</a:t>
            </a:r>
            <a:r>
              <a:rPr lang="en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 אם הוא מתחת ל-60.</a:t>
            </a:r>
            <a:endParaRPr lang="en-IL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 rtl="1">
              <a:lnSpc>
                <a:spcPct val="107000"/>
              </a:lnSpc>
              <a:spcAft>
                <a:spcPts val="800"/>
              </a:spcAft>
              <a:buNone/>
            </a:pPr>
            <a:endParaRPr lang="en-IL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endParaRPr lang="en-IL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IL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4759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A3514-7148-617D-A6D1-A916F89A3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פתרונות: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D8757-3A07-0458-BDE9-0429A65B9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 rtl="0"/>
            <a:endParaRPr lang="en-IL" dirty="0"/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934AA924-A984-F42F-7CAB-75DBFF0E8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617" y="1250950"/>
            <a:ext cx="4597400" cy="26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56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D7023-67D9-ADC7-19D1-0CA55FD6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C9BD7-720F-A5A7-E005-EFE4BA185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 rtl="0"/>
            <a:endParaRPr lang="en-IL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B097D12-1D76-4440-71C0-A6B79D10B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07" y="1152475"/>
            <a:ext cx="4597400" cy="26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036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2599D-BD24-BE3A-3B00-D54133B16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DFC3D-83E0-A0C0-24FB-E7776EAA0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 rtl="0"/>
            <a:endParaRPr lang="en-IL" dirty="0"/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B18D337D-A174-3EF8-6D2B-F6FC454EE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730250"/>
            <a:ext cx="4089400" cy="368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458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BD409-AB0D-CC6A-BD3A-59B6DABEC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B39F9-3F52-31E0-C082-EECB5F244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dirty="0"/>
              <a:t>4</a:t>
            </a:r>
            <a:r>
              <a:rPr lang="ar-SA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זוגי או אי זוגי</a:t>
            </a:r>
            <a:br>
              <a:rPr lang="en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צורו שתי משתנים '</a:t>
            </a:r>
            <a:r>
              <a:rPr lang="en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num1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' ו-'</a:t>
            </a:r>
            <a:r>
              <a:rPr lang="en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num2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', והקצה להם ערכים מספריים. תקבעו  אם המכפלה של שני המספרים הללו זוגי או אי-זוגי, ותדפיסו את התוצאה.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שדרוג- החזירו </a:t>
            </a:r>
            <a:r>
              <a:rPr lang="he-IL" kern="1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True</a:t>
            </a: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אם המספר זוגי, </a:t>
            </a:r>
            <a:r>
              <a:rPr lang="he-IL" kern="1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וFalse</a:t>
            </a: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אם המספר אי זוגי</a:t>
            </a:r>
            <a:endParaRPr lang="en-IL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SA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5. 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אימות שם משתמש:</a:t>
            </a:r>
            <a:br>
              <a:rPr lang="en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צורו משתנה 'שם משתמש' ותיתנו לו ערך. תבדקו אם שם המשתמש באורך של לפחות 6 תווים. אם הוא אכן 6 תווים או יותר, כתבו למשתמש הודעת כל הכבוד, אם לא, תנזפו במשתמש על כך שלא עמד בכללים.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1800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רמה קשה יותר: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משולשים</a:t>
            </a:r>
            <a:br>
              <a:rPr lang="en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צור שלושה משתנים המייצגים את אורכי הצלעות של המשולש. תבדקו האם המשולש שווה צלעות (כל הצלעות שוות), שווה שוקיים (שתי צלעות שוות) או קנה מידה (אין צלעות שוות).</a:t>
            </a:r>
            <a:endParaRPr lang="en-IL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endParaRPr lang="en-IL" sz="1800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endParaRPr lang="en-IL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IL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723583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D2E53-5A6A-09E6-52CC-60F44C638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AC3CA-C4DA-E8D4-FE4D-8B3DAB429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 rtl="0"/>
            <a:endParaRPr lang="en-IL" dirty="0"/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55249BB7-E511-2706-3E36-F0ACA49BB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730250"/>
            <a:ext cx="4089400" cy="368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199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EEA4C-8C2C-E965-7CF2-739A53AE2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DF7F6-A6D3-8627-E506-61A7EFF540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en-IL" dirty="0"/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DE1AE9BE-FFB0-A7FF-2998-FF1F9134B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152475"/>
            <a:ext cx="4051300" cy="250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2256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CA23C-DCAF-1253-1DA8-387B72E17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E6058-122C-C2A7-5F52-AB0AC2916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330315"/>
          </a:xfrm>
        </p:spPr>
        <p:txBody>
          <a:bodyPr>
            <a:normAutofit/>
          </a:bodyPr>
          <a:lstStyle/>
          <a:p>
            <a:pPr algn="l" rtl="0"/>
            <a:endParaRPr lang="en-IL" dirty="0"/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5AF51851-EF94-49D1-6F1D-C572895B5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017725"/>
            <a:ext cx="6159500" cy="3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915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47234-0DE2-5221-6EC2-0314A6074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72860-A514-6926-BA89-C1806D213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SA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תנועות או עיצורים:</a:t>
            </a:r>
            <a:br>
              <a:rPr lang="en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צור משתנה עם אות אחת בדקו האם האות הנתונה היא תנועות (</a:t>
            </a:r>
            <a:r>
              <a:rPr lang="en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a, e, i, o, u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או עיצור, תדפיסו את התוצאה. שדרוג- הדפיסו </a:t>
            </a:r>
            <a:r>
              <a:rPr lang="he-IL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True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אם האות היא תנועה ו-</a:t>
            </a:r>
            <a:r>
              <a:rPr lang="he-IL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</a:t>
            </a:r>
            <a:r>
              <a:rPr lang="he-IL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lse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אם התנועה היא עיצור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מחשבון:</a:t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צרו משתנה שמקבל מספר מהמשתמש, משתנה שמקבל מספר נוסף מהמשתמש, ומשתנה נוסף שמקבל במילה מה המשתמש רוצה לעשות: כפל/חילוק/חיבור/חיסור</a:t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עשו בהתאם לרצון המשתמש את הפעולה החשבונית שרצה והדפיסו את התוצאה</a:t>
            </a:r>
          </a:p>
          <a:p>
            <a:pPr marL="0" indent="0" algn="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למשל:</a:t>
            </a:r>
          </a:p>
          <a:p>
            <a:pPr marL="0" indent="0" algn="l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</a:t>
            </a: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um1 = 5</a:t>
            </a:r>
          </a:p>
          <a:p>
            <a:pPr marL="0" indent="0" algn="l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um2</a:t>
            </a: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6</a:t>
            </a:r>
          </a:p>
          <a:p>
            <a:pPr marL="0" indent="0" algn="l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</a:t>
            </a:r>
            <a:r>
              <a:rPr lang="he-IL" kern="1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ction</a:t>
            </a: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= ׳כפל׳</a:t>
            </a:r>
          </a:p>
          <a:p>
            <a:pPr marL="0" indent="0" algn="l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he-IL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esolt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30 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27292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EB9A1-DA51-27A3-885D-875CC8934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70933"/>
            <a:ext cx="8520600" cy="4297942"/>
          </a:xfrm>
        </p:spPr>
        <p:txBody>
          <a:bodyPr>
            <a:normAutofit/>
          </a:bodyPr>
          <a:lstStyle/>
          <a:p>
            <a:pPr marL="457200" marR="0" indent="-3429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endParaRPr lang="en-IL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495589D-11C1-76BD-A166-B86D01A62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15" y="1230544"/>
            <a:ext cx="7772400" cy="2682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9221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9B351-5606-624E-F71B-B53B23C2A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72533"/>
            <a:ext cx="8520600" cy="4196342"/>
          </a:xfrm>
        </p:spPr>
        <p:txBody>
          <a:bodyPr>
            <a:normAutofit/>
          </a:bodyPr>
          <a:lstStyle/>
          <a:p>
            <a:pPr marL="457200" marR="0" indent="-3429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endParaRPr lang="en-IL" dirty="0"/>
          </a:p>
        </p:txBody>
      </p:sp>
      <p:pic>
        <p:nvPicPr>
          <p:cNvPr id="4" name="Picture 3" descr="A computer code with numbers and symbols&#10;&#10;Description automatically generated">
            <a:extLst>
              <a:ext uri="{FF2B5EF4-FFF2-40B4-BE49-F238E27FC236}">
                <a16:creationId xmlns:a16="http://schemas.microsoft.com/office/drawing/2014/main" id="{CFF5C49B-BEC8-150F-0360-12F9FC347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275562"/>
            <a:ext cx="5615147" cy="41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72702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5818</TotalTime>
  <Words>920</Words>
  <Application>Microsoft Macintosh PowerPoint</Application>
  <PresentationFormat>On-screen Show (16:9)</PresentationFormat>
  <Paragraphs>91</Paragraphs>
  <Slides>27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Calibri</vt:lpstr>
      <vt:lpstr>Wingdings 3</vt:lpstr>
      <vt:lpstr>Arial</vt:lpstr>
      <vt:lpstr>Simple Light</vt:lpstr>
      <vt:lpstr>PowerPoint Presentation</vt:lpstr>
      <vt:lpstr>בואו נבין את הצורך בתנאים</vt:lpstr>
      <vt:lpstr>if, else, ומה שביניהם:</vt:lpstr>
      <vt:lpstr>if, else, ומה שביניהם:</vt:lpstr>
      <vt:lpstr>דוגמה נוספת:</vt:lpstr>
      <vt:lpstr>שימוש בתנאים עוזר לנו להתחמק משגיאות!</vt:lpstr>
      <vt:lpstr>אופרטורים</vt:lpstr>
      <vt:lpstr>תרגול אופרטורים</vt:lpstr>
      <vt:lpstr>אם וגם</vt:lpstr>
      <vt:lpstr>גם כשכותבים קוד משתמשים ב-גם וב-אם</vt:lpstr>
      <vt:lpstr>תרגול</vt:lpstr>
      <vt:lpstr>תרגיל</vt:lpstr>
      <vt:lpstr>פתרון</vt:lpstr>
      <vt:lpstr>מי נכנס למסיבה שלכם?</vt:lpstr>
      <vt:lpstr>תרגול</vt:lpstr>
      <vt:lpstr>השוואה בין או לבין וגם</vt:lpstr>
      <vt:lpstr>שאלות מתקדמות</vt:lpstr>
      <vt:lpstr>פתרונות:</vt:lpstr>
      <vt:lpstr>PowerPoint Presentation</vt:lpstr>
      <vt:lpstr>PowerPoint Presentation</vt:lpstr>
      <vt:lpstr>תרגול</vt:lpstr>
      <vt:lpstr>PowerPoint Presentation</vt:lpstr>
      <vt:lpstr>PowerPoint Presentation</vt:lpstr>
      <vt:lpstr>PowerPoint Presentation</vt:lpstr>
      <vt:lpstr>תרגול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Maya Majlaton</dc:creator>
  <cp:lastModifiedBy>Ziv זיו יוסף</cp:lastModifiedBy>
  <cp:revision>31</cp:revision>
  <dcterms:modified xsi:type="dcterms:W3CDTF">2024-03-22T07:48:23Z</dcterms:modified>
</cp:coreProperties>
</file>