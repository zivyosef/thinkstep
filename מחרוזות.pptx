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8" r:id="rId3"/>
    <p:sldId id="278" r:id="rId4"/>
    <p:sldId id="259" r:id="rId5"/>
    <p:sldId id="260" r:id="rId6"/>
    <p:sldId id="262" r:id="rId7"/>
    <p:sldId id="270" r:id="rId8"/>
    <p:sldId id="273" r:id="rId9"/>
    <p:sldId id="261" r:id="rId10"/>
    <p:sldId id="263" r:id="rId11"/>
    <p:sldId id="264" r:id="rId12"/>
    <p:sldId id="265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66" r:id="rId21"/>
    <p:sldId id="269" r:id="rId22"/>
    <p:sldId id="274" r:id="rId23"/>
    <p:sldId id="267" r:id="rId24"/>
    <p:sldId id="272" r:id="rId25"/>
    <p:sldId id="268" r:id="rId26"/>
    <p:sldId id="295" r:id="rId27"/>
    <p:sldId id="296" r:id="rId28"/>
    <p:sldId id="275" r:id="rId29"/>
    <p:sldId id="276" r:id="rId30"/>
    <p:sldId id="277" r:id="rId31"/>
    <p:sldId id="292" r:id="rId32"/>
    <p:sldId id="293" r:id="rId33"/>
    <p:sldId id="294" r:id="rId34"/>
    <p:sldId id="286" r:id="rId35"/>
    <p:sldId id="288" r:id="rId36"/>
    <p:sldId id="287" r:id="rId37"/>
    <p:sldId id="289" r:id="rId38"/>
    <p:sldId id="290" r:id="rId39"/>
    <p:sldId id="291" r:id="rId4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/>
    <p:restoredTop sz="94565"/>
  </p:normalViewPr>
  <p:slideViewPr>
    <p:cSldViewPr snapToGrid="0">
      <p:cViewPr>
        <p:scale>
          <a:sx n="81" d="100"/>
          <a:sy n="81" d="100"/>
        </p:scale>
        <p:origin x="308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פעולות לדוגמה: בדיקת אורך, הוספת תווים, פיצול המשפט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בשקופיות הבאות יהיו דוגמאות לפעולות שאפשר לעשות על מחרוזות גם דרך האתר, ממליצה להריץ ולהראות לילדים בשביל להראות את השימוש שיש במחרוזות.</a:t>
            </a:r>
            <a:br>
              <a:rPr lang="en-US" dirty="0"/>
            </a:br>
            <a:r>
              <a:rPr lang="he-IL" dirty="0"/>
              <a:t>לאחר מכן יהיו תרגילים בסיסיים על מחרוזות.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92221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אם המשתמש מקליד יותר מידי תווים ניתן לקחת רק את ה-40 תווים הראשוני על ידי: </a:t>
            </a:r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שמחזירה תת-מחרוזת, כלומר חלק ממחרוזת, באורך נתון החל ממקום נתון. </a:t>
            </a:r>
            <a:r>
              <a:rPr lang="he-IL" b="1" i="0" dirty="0">
                <a:solidFill>
                  <a:srgbClr val="000000"/>
                </a:solidFill>
                <a:effectLst/>
                <a:latin typeface="-apple-system"/>
              </a:rPr>
              <a:t>התו הראשון במחרוזת נחשב לתו במקום ה- 0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696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בלחיצת כפתור אפשר לשנות את הטקסט לאותיות קטנות או אותיות גדולות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39254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הקוד מחליף את המילה שיכתוב המשתמש, במקום לקוח יהיה רשום מה שהמשתמש כתב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08426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בהינתן שהילדים למדו מערך – ניתן לעשות תרגיל בסיס בו עוברים על הטקסט כאילו הוא מערך, למשל [׳ש׳,׳ל׳,׳ו׳,׳ם׳] ולאחר מכן לעבור </a:t>
            </a:r>
            <a:r>
              <a:rPr lang="he-IL" dirty="0" err="1"/>
              <a:t>ללואה</a:t>
            </a:r>
            <a:r>
              <a:rPr lang="he-IL" dirty="0"/>
              <a:t> שעוברת רק על המחרוזת ׳שלום׳</a:t>
            </a:r>
          </a:p>
          <a:p>
            <a:pPr marL="457200" marR="0" lvl="0" indent="-298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he-IL" dirty="0"/>
              <a:t>צריך את </a:t>
            </a:r>
            <a:r>
              <a:rPr lang="he-IL" dirty="0" err="1"/>
              <a:t>substr</a:t>
            </a:r>
            <a:r>
              <a:rPr lang="he-IL" dirty="0"/>
              <a:t> בשביל להוציא את תת המחרוזת הרצויה ואת </a:t>
            </a:r>
            <a:r>
              <a:rPr lang="he-IL" dirty="0" err="1"/>
              <a:t>length</a:t>
            </a:r>
            <a:r>
              <a:rPr lang="he-IL" dirty="0"/>
              <a:t> בשביל לדעת את אורך המחרוזת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36499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צריך את </a:t>
            </a:r>
            <a:r>
              <a:rPr lang="he-IL" dirty="0" err="1"/>
              <a:t>substr</a:t>
            </a:r>
            <a:r>
              <a:rPr lang="he-IL" dirty="0"/>
              <a:t> בשביל להוציא את תת המחרוזת הרצויה ואת </a:t>
            </a:r>
            <a:r>
              <a:rPr lang="he-IL" dirty="0" err="1"/>
              <a:t>length</a:t>
            </a:r>
            <a:r>
              <a:rPr lang="he-IL" dirty="0"/>
              <a:t> בשביל לדעת את אורך המחרוזת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מתקדמים – לעשות עם לולאת </a:t>
            </a:r>
            <a:r>
              <a:rPr lang="he-IL" dirty="0" err="1"/>
              <a:t>while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7419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 err="1"/>
              <a:t>השקפית</a:t>
            </a:r>
            <a:r>
              <a:rPr lang="he-IL" dirty="0"/>
              <a:t> הזו יותר העשרה בנוגע למחרוזות אבל כן עוזרת בהבנה של איך לחבר </a:t>
            </a:r>
            <a:r>
              <a:rPr lang="he-IL" dirty="0" err="1"/>
              <a:t>java</a:t>
            </a:r>
            <a:r>
              <a:rPr lang="he-IL" dirty="0"/>
              <a:t> </a:t>
            </a:r>
            <a:r>
              <a:rPr lang="he-IL" dirty="0" err="1"/>
              <a:t>script</a:t>
            </a:r>
            <a:r>
              <a:rPr lang="he-IL" dirty="0"/>
              <a:t>  ל-</a:t>
            </a:r>
            <a:r>
              <a:rPr lang="he-IL" dirty="0" err="1"/>
              <a:t>html</a:t>
            </a:r>
            <a:r>
              <a:rPr lang="he-IL" dirty="0"/>
              <a:t>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058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מחרוזות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הקדמה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הקוד ידפיס</a:t>
            </a:r>
            <a:br>
              <a:rPr lang="en-US" dirty="0"/>
            </a:br>
            <a:r>
              <a:rPr lang="he-IL" dirty="0"/>
              <a:t> בכל אחת מהשורות?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FBA20E3-9B9E-483C-4F59-A385759B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54737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A227-04B4-0025-1DE4-42BB6BC3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מה זה מחרוזת?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EDCAE-792E-16D5-C327-3E5295670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מחרוזת היא רצף של תווים, מקיפים אותה </a:t>
            </a:r>
            <a:r>
              <a:rPr lang="he-IL" dirty="0" err="1"/>
              <a:t>במרכאות</a:t>
            </a:r>
            <a:r>
              <a:rPr lang="he-IL" dirty="0"/>
              <a:t> או בגרשיים.</a:t>
            </a:r>
          </a:p>
          <a:p>
            <a:endParaRPr lang="en-IL" dirty="0"/>
          </a:p>
        </p:txBody>
      </p:sp>
      <p:pic>
        <p:nvPicPr>
          <p:cNvPr id="4" name="תמונה 5">
            <a:extLst>
              <a:ext uri="{FF2B5EF4-FFF2-40B4-BE49-F238E27FC236}">
                <a16:creationId xmlns:a16="http://schemas.microsoft.com/office/drawing/2014/main" id="{A5A79415-A81F-7BDA-5179-6359A45F8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058543"/>
            <a:ext cx="5193897" cy="102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4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68A8-B1A8-D062-BF46-1CCE7D49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למה זה שימושי?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F26B-D92B-039B-32B8-F43944301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נרצה להתעמק קצת יותר במחרוזות</a:t>
            </a:r>
          </a:p>
          <a:p>
            <a:r>
              <a:rPr lang="he-IL" dirty="0"/>
              <a:t>אפשר לעשות כמה פעולות על מחרוזת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pPr marL="114300" indent="0" algn="ctr">
              <a:buNone/>
            </a:pPr>
            <a:r>
              <a:rPr lang="he-IL" sz="2800" b="1" dirty="0"/>
              <a:t>דוגמאות על מה ניתן לעשות עם מחרוזות:</a:t>
            </a:r>
          </a:p>
        </p:txBody>
      </p:sp>
    </p:spTree>
    <p:extLst>
      <p:ext uri="{BB962C8B-B14F-4D97-AF65-F5344CB8AC3E}">
        <p14:creationId xmlns:p14="http://schemas.microsoft.com/office/powerpoint/2010/main" val="839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0B11-3EEB-7AE1-4646-8809501A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פעולה 1: </a:t>
            </a:r>
            <a:r>
              <a:rPr lang="he-IL" dirty="0" err="1"/>
              <a:t>length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5D5BC-3063-EF5C-1C97-18BCD8E24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he-IL" dirty="0" err="1"/>
              <a:t>egnth</a:t>
            </a:r>
            <a:r>
              <a:rPr lang="he-IL" dirty="0"/>
              <a:t> בודקת את אורך המחרוזת</a:t>
            </a:r>
          </a:p>
          <a:p>
            <a:r>
              <a:rPr lang="he-IL" dirty="0"/>
              <a:t>מתי </a:t>
            </a:r>
            <a:r>
              <a:rPr lang="he-IL" dirty="0" err="1"/>
              <a:t>length</a:t>
            </a:r>
            <a:r>
              <a:rPr lang="he-IL" dirty="0"/>
              <a:t> תהיה משמעותית?</a:t>
            </a:r>
          </a:p>
          <a:p>
            <a:pPr lvl="2" algn="r" rtl="1"/>
            <a:r>
              <a:rPr lang="he-IL" dirty="0"/>
              <a:t>כשנרצה להגביל את האורך של שדה מסוים כמו סיסמה</a:t>
            </a:r>
          </a:p>
          <a:p>
            <a:pPr marL="1054100" lvl="2" indent="0" algn="r" rtl="1">
              <a:buNone/>
            </a:pPr>
            <a:r>
              <a:rPr lang="en-US" dirty="0"/>
              <a:t>		</a:t>
            </a:r>
            <a:endParaRPr lang="he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4F299AD-EFA1-6D1B-D692-1154E36E7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57" y="2733725"/>
            <a:ext cx="34163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5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C3A6-1226-E21C-B46F-516EEA01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איך </a:t>
            </a:r>
            <a:r>
              <a:rPr lang="he-IL" dirty="0" err="1"/>
              <a:t>length</a:t>
            </a:r>
            <a:r>
              <a:rPr lang="he-IL" dirty="0"/>
              <a:t> יעזור לנו באתר שלנו?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D1E7F-3530-0D4A-872B-47259EBB4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לפעמים נרצה להגביל את האורך של שדה מסוים:</a:t>
            </a:r>
          </a:p>
          <a:p>
            <a:endParaRPr lang="en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6423E72-087F-3899-AD04-268FC195D2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70"/>
          <a:stretch/>
        </p:blipFill>
        <p:spPr>
          <a:xfrm>
            <a:off x="197400" y="1574265"/>
            <a:ext cx="4970593" cy="1286410"/>
          </a:xfrm>
          <a:prstGeom prst="rect">
            <a:avLst/>
          </a:prstGeom>
        </p:spPr>
      </p:pic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7111810-C42B-AE2C-11CC-E91875F58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00" y="2839635"/>
            <a:ext cx="6402406" cy="180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7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484E-D2F9-FF4D-C304-F7FF3678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פעולה 2: </a:t>
            </a:r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FBACA-BD10-3DAE-0F0C-A4B27C7F1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מחזירה את תת המחרוזת שנבקש, באורך שנבקש: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השתמשנו ב- </a:t>
            </a:r>
            <a:r>
              <a:rPr lang="en-US" dirty="0" err="1"/>
              <a:t>substr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1)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כדי לקבל את התו ה- </a:t>
            </a:r>
            <a:r>
              <a:rPr lang="en-US" dirty="0" err="1"/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במחרוזת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(תזכורת - התו הראשון הוא התו במקום ה- 0).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91231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61B2-747F-554A-BCF6-BA94294F1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באתר שלנו: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AA643-A3A8-2D2D-B012-8ACBF55F0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3037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947E-09DD-112E-9BB1-E3E86567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פעולה 3: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toLowerCase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toUpperCase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01AA6-FD74-1F69-A3F2-FDE58CEF6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toLowerCase</a:t>
            </a:r>
            <a:r>
              <a:rPr lang="en-US" dirty="0"/>
              <a:t>() - </a:t>
            </a:r>
            <a:r>
              <a:rPr lang="he-IL" dirty="0"/>
              <a:t> ממירה את כל </a:t>
            </a:r>
            <a:r>
              <a:rPr lang="he-IL" dirty="0" err="1"/>
              <a:t>התוים</a:t>
            </a:r>
            <a:r>
              <a:rPr lang="he-IL" dirty="0"/>
              <a:t> באנגלית לאותיות קטנות</a:t>
            </a:r>
          </a:p>
          <a:p>
            <a:r>
              <a:rPr lang="en-US" dirty="0" err="1"/>
              <a:t>toUpperCase</a:t>
            </a:r>
            <a:r>
              <a:rPr lang="en-US" dirty="0"/>
              <a:t>() - </a:t>
            </a:r>
            <a:r>
              <a:rPr lang="he-IL" dirty="0"/>
              <a:t> ממירה את כל </a:t>
            </a:r>
            <a:r>
              <a:rPr lang="he-IL" dirty="0" err="1"/>
              <a:t>התוים</a:t>
            </a:r>
            <a:r>
              <a:rPr lang="he-IL" dirty="0"/>
              <a:t> לאותיות גדולות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en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0E47270-CA72-D6EE-FA33-A7F8BA065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14" y="2733725"/>
            <a:ext cx="4318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9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D8BD-E28C-24EB-96DA-C1B28ECB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toLowerCase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toUpperCase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באתר שלנו: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4718C-117B-24C2-193C-9729761BE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תריצו את הקוד ותראו מה קורה!</a:t>
            </a:r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90AB724-EED6-6317-A1F9-56CAFC306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844725"/>
            <a:ext cx="67437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7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088F-714A-D8E5-05F1-8BAD1F06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פעולה 4: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replace(to, from)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CAA6F-AC1F-A20C-93BA-87F1BF655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מחליפה את </a:t>
            </a:r>
            <a:r>
              <a:rPr lang="en-US" dirty="0"/>
              <a:t>from </a:t>
            </a:r>
            <a:r>
              <a:rPr lang="he-IL" dirty="0"/>
              <a:t> ב- </a:t>
            </a:r>
            <a:r>
              <a:rPr lang="en-US" dirty="0"/>
              <a:t>to </a:t>
            </a:r>
            <a:r>
              <a:rPr lang="he-IL" dirty="0"/>
              <a:t> בכל מקום שהוא מופיע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85A9F-C9E6-BCA6-0980-7B1CECCD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65" y="1943100"/>
            <a:ext cx="34163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7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4F96-516A-F2B7-1835-672AAF3D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replace(to, from)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באתר שלנו: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B063A-A8EC-8132-ACA5-5715DBA2F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C1A0D30-0844-EC51-5616-8B0878149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4954126" cy="304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3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21B5-B9CD-FB87-E2E6-6C21FE5A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מחרוזות – בסיסי: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81D53-8FFA-CD03-FC43-7FE686BA0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e-IL" b="1" dirty="0"/>
              <a:t>איך המחשב עושה את כל הפעולות על המחרוזות?</a:t>
            </a:r>
            <a:endParaRPr lang="he-IL" sz="1800" b="1" dirty="0"/>
          </a:p>
          <a:p>
            <a:pPr marL="114300" indent="0">
              <a:buNone/>
            </a:pPr>
            <a:r>
              <a:rPr lang="he-IL" dirty="0"/>
              <a:t>הוא יודע את המקום של כל אות לפי ה- </a:t>
            </a:r>
            <a:r>
              <a:rPr lang="he-IL" b="1" u="sng" dirty="0"/>
              <a:t>אינדקס</a:t>
            </a:r>
            <a:r>
              <a:rPr lang="he-IL" dirty="0"/>
              <a:t> שלה.</a:t>
            </a:r>
          </a:p>
          <a:p>
            <a:pPr marL="114300" indent="0">
              <a:buNone/>
            </a:pPr>
            <a:endParaRPr lang="he-IL" sz="1800" b="1" u="sng" dirty="0"/>
          </a:p>
          <a:p>
            <a:pPr marL="114300" indent="0">
              <a:buNone/>
            </a:pPr>
            <a:r>
              <a:rPr lang="he-IL" sz="1800" b="1" u="sng" dirty="0"/>
              <a:t>מה זה אינדקס?</a:t>
            </a:r>
          </a:p>
          <a:p>
            <a:pPr marL="114300" indent="0">
              <a:buNone/>
            </a:pPr>
            <a:r>
              <a:rPr lang="he-IL" dirty="0"/>
              <a:t>אם </a:t>
            </a:r>
            <a:r>
              <a:rPr lang="he-IL" sz="1800" dirty="0"/>
              <a:t>ניתן מספר לכל תו במחרוזת יהיה לנו יותר קל לדבר על המקומות!</a:t>
            </a:r>
          </a:p>
          <a:p>
            <a:pPr marL="114300" indent="0">
              <a:buNone/>
            </a:pPr>
            <a:r>
              <a:rPr lang="he-IL" dirty="0"/>
              <a:t>האינדקס הוא המספר של התו במחרוזת</a:t>
            </a:r>
            <a:endParaRPr lang="he-IL" sz="1800" dirty="0"/>
          </a:p>
          <a:p>
            <a:pPr marL="114300" indent="0">
              <a:buNone/>
            </a:pPr>
            <a:endParaRPr lang="he-IL" sz="1800" b="1" u="sng" dirty="0"/>
          </a:p>
        </p:txBody>
      </p:sp>
      <p:pic>
        <p:nvPicPr>
          <p:cNvPr id="1026" name="Picture 2" descr="What Is a Stock Market Index? Defined and Listed | The Motley Fool">
            <a:extLst>
              <a:ext uri="{FF2B5EF4-FFF2-40B4-BE49-F238E27FC236}">
                <a16:creationId xmlns:a16="http://schemas.microsoft.com/office/drawing/2014/main" id="{BCDB6F66-28C0-8167-EF8C-08A3CDCA2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98" y="2886684"/>
            <a:ext cx="2947988" cy="196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781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C3FF-3878-1F9C-1151-62861B68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למה עוזר לתת מספר לכל אות?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409BC-FA52-F79A-2E9D-B56FE5B0C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e-IL" dirty="0"/>
              <a:t>אבי, בני, גילי ודנה יושבים על שורת הכיסאות:</a:t>
            </a:r>
          </a:p>
          <a:p>
            <a:pPr marL="114300" indent="0">
              <a:buNone/>
            </a:pPr>
            <a:r>
              <a:rPr lang="he-IL" dirty="0"/>
              <a:t>נסו להסביר לי באיזה כיסא כל אחד יושב</a:t>
            </a:r>
            <a:endParaRPr lang="en-IL" dirty="0"/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A905E330-B42A-BF22-8619-6A8A3CA0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51"/>
          <a:stretch/>
        </p:blipFill>
        <p:spPr>
          <a:xfrm>
            <a:off x="311700" y="2768007"/>
            <a:ext cx="4461624" cy="1800868"/>
          </a:xfrm>
          <a:prstGeom prst="rect">
            <a:avLst/>
          </a:prstGeom>
        </p:spPr>
      </p:pic>
      <p:pic>
        <p:nvPicPr>
          <p:cNvPr id="2050" name="Picture 2" descr="lovepik_401028308 גרפיקה_תמונה חינם ילדים מצוירים">
            <a:extLst>
              <a:ext uri="{FF2B5EF4-FFF2-40B4-BE49-F238E27FC236}">
                <a16:creationId xmlns:a16="http://schemas.microsoft.com/office/drawing/2014/main" id="{1CC558E5-44DB-80B4-A597-C57D30F13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6279" y1="41199" x2="16279" y2="41199"/>
                        <a14:foregroundMark x1="19419" y1="61315" x2="19419" y2="61315"/>
                        <a14:foregroundMark x1="17442" y1="55706" x2="17442" y2="55706"/>
                        <a14:foregroundMark x1="59070" y1="43133" x2="59070" y2="43133"/>
                        <a14:foregroundMark x1="61628" y1="62089" x2="61628" y2="62089"/>
                        <a14:foregroundMark x1="60930" y1="56480" x2="60930" y2="56480"/>
                        <a14:foregroundMark x1="81977" y1="35783" x2="81977" y2="35783"/>
                        <a14:foregroundMark x1="78721" y1="30948" x2="78721" y2="30948"/>
                        <a14:foregroundMark x1="77674" y1="59768" x2="77674" y2="59768"/>
                        <a14:foregroundMark x1="60930" y1="56093" x2="60930" y2="56093"/>
                        <a14:foregroundMark x1="56860" y1="56286" x2="56860" y2="56286"/>
                        <a14:foregroundMark x1="19767" y1="59188" x2="19767" y2="59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2227784"/>
            <a:ext cx="3894592" cy="234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5BD848-D819-43A5-DCA9-E2D1938046DC}"/>
              </a:ext>
            </a:extLst>
          </p:cNvPr>
          <p:cNvSpPr txBox="1"/>
          <p:nvPr/>
        </p:nvSpPr>
        <p:spPr>
          <a:xfrm>
            <a:off x="-171452" y="2417861"/>
            <a:ext cx="382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דנה.         בני            גילי              אבי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474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CF5C-AD1A-8B84-6D79-B07A4F1C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ועכשיו: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16FD9-1D2B-B129-B0D4-3269F844F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יותר קל?</a:t>
            </a:r>
            <a:endParaRPr lang="en-IL" dirty="0"/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32033997-49FF-D49F-3B95-7FDB89C845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51"/>
          <a:stretch/>
        </p:blipFill>
        <p:spPr>
          <a:xfrm>
            <a:off x="414054" y="2455970"/>
            <a:ext cx="5190569" cy="2095096"/>
          </a:xfrm>
          <a:prstGeom prst="rect">
            <a:avLst/>
          </a:prstGeom>
        </p:spPr>
      </p:pic>
      <p:sp>
        <p:nvSpPr>
          <p:cNvPr id="5" name="תיבת טקסט 6">
            <a:extLst>
              <a:ext uri="{FF2B5EF4-FFF2-40B4-BE49-F238E27FC236}">
                <a16:creationId xmlns:a16="http://schemas.microsoft.com/office/drawing/2014/main" id="{7364BB40-93EC-E507-413E-63D6004C9AAE}"/>
              </a:ext>
            </a:extLst>
          </p:cNvPr>
          <p:cNvSpPr txBox="1"/>
          <p:nvPr/>
        </p:nvSpPr>
        <p:spPr>
          <a:xfrm flipH="1">
            <a:off x="1092855" y="3228392"/>
            <a:ext cx="204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0</a:t>
            </a:r>
            <a:endParaRPr lang="he-IL" sz="1600" b="1" dirty="0"/>
          </a:p>
        </p:txBody>
      </p:sp>
      <p:sp>
        <p:nvSpPr>
          <p:cNvPr id="6" name="תיבת טקסט 7">
            <a:extLst>
              <a:ext uri="{FF2B5EF4-FFF2-40B4-BE49-F238E27FC236}">
                <a16:creationId xmlns:a16="http://schemas.microsoft.com/office/drawing/2014/main" id="{3F2AA9EF-16E7-F0EF-6D51-77B2B159778D}"/>
              </a:ext>
            </a:extLst>
          </p:cNvPr>
          <p:cNvSpPr txBox="1"/>
          <p:nvPr/>
        </p:nvSpPr>
        <p:spPr>
          <a:xfrm flipH="1">
            <a:off x="1635780" y="3228392"/>
            <a:ext cx="344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1</a:t>
            </a:r>
            <a:endParaRPr lang="he-IL" sz="1600" b="1" dirty="0"/>
          </a:p>
        </p:txBody>
      </p:sp>
      <p:sp>
        <p:nvSpPr>
          <p:cNvPr id="7" name="תיבת טקסט 8">
            <a:extLst>
              <a:ext uri="{FF2B5EF4-FFF2-40B4-BE49-F238E27FC236}">
                <a16:creationId xmlns:a16="http://schemas.microsoft.com/office/drawing/2014/main" id="{E3B62CF7-5127-D833-8991-AB507389869B}"/>
              </a:ext>
            </a:extLst>
          </p:cNvPr>
          <p:cNvSpPr txBox="1"/>
          <p:nvPr/>
        </p:nvSpPr>
        <p:spPr>
          <a:xfrm flipH="1">
            <a:off x="2421312" y="3228392"/>
            <a:ext cx="204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2</a:t>
            </a:r>
            <a:endParaRPr lang="he-IL" sz="1600" b="1" dirty="0"/>
          </a:p>
        </p:txBody>
      </p:sp>
      <p:sp>
        <p:nvSpPr>
          <p:cNvPr id="8" name="תיבת טקסט 9">
            <a:extLst>
              <a:ext uri="{FF2B5EF4-FFF2-40B4-BE49-F238E27FC236}">
                <a16:creationId xmlns:a16="http://schemas.microsoft.com/office/drawing/2014/main" id="{521EE196-E517-0BE8-7904-756B0128AD4C}"/>
              </a:ext>
            </a:extLst>
          </p:cNvPr>
          <p:cNvSpPr txBox="1"/>
          <p:nvPr/>
        </p:nvSpPr>
        <p:spPr>
          <a:xfrm flipH="1">
            <a:off x="3143776" y="3203899"/>
            <a:ext cx="204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3</a:t>
            </a:r>
            <a:endParaRPr lang="he-IL" sz="1600" b="1" dirty="0"/>
          </a:p>
        </p:txBody>
      </p:sp>
      <p:sp>
        <p:nvSpPr>
          <p:cNvPr id="9" name="תיבת טקסט 10">
            <a:extLst>
              <a:ext uri="{FF2B5EF4-FFF2-40B4-BE49-F238E27FC236}">
                <a16:creationId xmlns:a16="http://schemas.microsoft.com/office/drawing/2014/main" id="{6869B712-55F3-82AB-7A5C-A9268C89B9D5}"/>
              </a:ext>
            </a:extLst>
          </p:cNvPr>
          <p:cNvSpPr txBox="1"/>
          <p:nvPr/>
        </p:nvSpPr>
        <p:spPr>
          <a:xfrm flipH="1">
            <a:off x="3822577" y="3202732"/>
            <a:ext cx="204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4</a:t>
            </a:r>
            <a:endParaRPr lang="he-IL" sz="1600" b="1" dirty="0"/>
          </a:p>
        </p:txBody>
      </p:sp>
      <p:sp>
        <p:nvSpPr>
          <p:cNvPr id="10" name="תיבת טקסט 11">
            <a:extLst>
              <a:ext uri="{FF2B5EF4-FFF2-40B4-BE49-F238E27FC236}">
                <a16:creationId xmlns:a16="http://schemas.microsoft.com/office/drawing/2014/main" id="{27F6D6EF-26DB-6DA1-8873-6C376A1B1883}"/>
              </a:ext>
            </a:extLst>
          </p:cNvPr>
          <p:cNvSpPr txBox="1"/>
          <p:nvPr/>
        </p:nvSpPr>
        <p:spPr>
          <a:xfrm flipH="1">
            <a:off x="4506255" y="3177072"/>
            <a:ext cx="204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/>
              <a:t>5</a:t>
            </a:r>
            <a:endParaRPr lang="he-IL" sz="1600" b="1" dirty="0"/>
          </a:p>
        </p:txBody>
      </p:sp>
    </p:spTree>
    <p:extLst>
      <p:ext uri="{BB962C8B-B14F-4D97-AF65-F5344CB8AC3E}">
        <p14:creationId xmlns:p14="http://schemas.microsoft.com/office/powerpoint/2010/main" val="3211276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2A77-1E2E-FA86-9389-BD5D8351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sz="2800" dirty="0"/>
              <a:t>ניתן מספר (אינדקס) לכל מקום במחרוזת</a:t>
            </a:r>
            <a:br>
              <a:rPr lang="he-IL" sz="2800" dirty="0"/>
            </a:b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86D6D-289A-1C50-AFC1-9F4D03379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800" dirty="0"/>
              <a:t>באיזה אינדקס נמצא המספר 1, 6, 9?</a:t>
            </a:r>
            <a:endParaRPr lang="en-IL" sz="1800" dirty="0"/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AD5B282C-40B6-7084-668C-931B7A16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24" y="1744855"/>
            <a:ext cx="4468626" cy="140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4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89FE-B693-F084-6D2C-A8767EDE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אפשר לגשת למיקום של כל תו לפי האינדקס שלו</a:t>
            </a:r>
            <a:br>
              <a:rPr lang="he-IL" dirty="0"/>
            </a:br>
            <a:br>
              <a:rPr lang="he-IL" dirty="0"/>
            </a:br>
            <a:r>
              <a:rPr lang="he-IL" dirty="0"/>
              <a:t>נשתמש בסוגריים מרובעים ובתוכו נכתוב את האינדקס</a:t>
            </a:r>
            <a:br>
              <a:rPr lang="he-IL" dirty="0"/>
            </a:br>
            <a:endParaRPr lang="en-IL" dirty="0"/>
          </a:p>
        </p:txBody>
      </p:sp>
      <p:pic>
        <p:nvPicPr>
          <p:cNvPr id="4" name="תמונה 2">
            <a:extLst>
              <a:ext uri="{FF2B5EF4-FFF2-40B4-BE49-F238E27FC236}">
                <a16:creationId xmlns:a16="http://schemas.microsoft.com/office/drawing/2014/main" id="{9746BB83-4822-F8A3-E152-90C6F42CA2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119"/>
          <a:stretch/>
        </p:blipFill>
        <p:spPr>
          <a:xfrm>
            <a:off x="311700" y="2140324"/>
            <a:ext cx="6110076" cy="185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1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8FBD-836B-532E-C870-A91B542D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 חימום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BA62F-530A-6D13-705B-4FB59CB26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r" rtl="1">
              <a:buNone/>
            </a:pPr>
            <a:endParaRPr lang="en-GB" sz="2800" dirty="0"/>
          </a:p>
          <a:p>
            <a:pPr marL="514350" indent="-514350" algn="r" rtl="1">
              <a:buAutoNum type="arabicPeriod"/>
            </a:pPr>
            <a:r>
              <a:rPr lang="he-IL" sz="1800" dirty="0"/>
              <a:t>תכתבו מחרוזת עם המספרים מ1 ועד 15 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תדפיסו את המספר שמופיע באינדקס אפס</a:t>
            </a:r>
          </a:p>
          <a:p>
            <a:pPr marL="514350" indent="-514350" algn="r" rtl="1">
              <a:buFontTx/>
              <a:buAutoNum type="arabicPeriod"/>
            </a:pPr>
            <a:r>
              <a:rPr lang="he-IL" sz="1800" dirty="0"/>
              <a:t>תדפיסו את המספר שמופיע באינדקס שלוש</a:t>
            </a:r>
          </a:p>
          <a:p>
            <a:pPr marL="514350" indent="-514350" algn="r" rtl="1">
              <a:buFontTx/>
              <a:buAutoNum type="arabicPeriod"/>
            </a:pPr>
            <a:r>
              <a:rPr lang="he-IL" sz="1800" dirty="0"/>
              <a:t>תדפיסו את המספר שמופיע באינדקס עשר</a:t>
            </a:r>
          </a:p>
          <a:p>
            <a:pPr marL="514350" indent="-514350" algn="r" rtl="1">
              <a:buFontTx/>
              <a:buAutoNum type="arabicPeriod"/>
            </a:pPr>
            <a:endParaRPr lang="he-IL" sz="1800" dirty="0"/>
          </a:p>
          <a:p>
            <a:pPr marL="514350" indent="-514350" algn="r" rtl="1">
              <a:buAutoNum type="arabicPeriod"/>
            </a:pPr>
            <a:endParaRPr lang="he-IL" sz="1800" dirty="0"/>
          </a:p>
          <a:p>
            <a:pPr marL="514350" indent="-514350" algn="r" rtl="1">
              <a:buAutoNum type="arabicPeriod"/>
            </a:pPr>
            <a:endParaRPr lang="he-IL" sz="160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5006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63DF-7501-2A54-7478-21427753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 חימום 2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6092C-B7F8-6FB6-67CB-361DA48E7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r" rtl="1">
              <a:buNone/>
            </a:pPr>
            <a:endParaRPr lang="en-GB" sz="2800" dirty="0"/>
          </a:p>
          <a:p>
            <a:pPr marL="514350" indent="-514350" algn="r" rtl="1">
              <a:buAutoNum type="arabicPeriod"/>
            </a:pPr>
            <a:r>
              <a:rPr lang="he-IL" sz="1800" dirty="0"/>
              <a:t>תכתבו מחרוזת עם המספר 1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תכתבו מחרוזת עם השם שלכם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תכתבו מחרוזת עם המילה – אני תלמיד נדיר 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תייצרו קופסא חדשה שמחברת את כולם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תדפיסו שלוש פעמים, בכל פעם עם אינדקס שונה</a:t>
            </a:r>
          </a:p>
          <a:p>
            <a:pPr marL="1143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79335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2EF17-8708-C630-0C16-CB679531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בסיסיות על מחרוזות: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4A2DB-17D5-3B7F-41AE-01687CD6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תרגיל - כתבו תוכנית שמקבלת מהמשתמש טקסט ומדפיסה את התווים שלו בנפרד</a:t>
            </a:r>
          </a:p>
          <a:p>
            <a:r>
              <a:rPr lang="he-IL" dirty="0">
                <a:solidFill>
                  <a:srgbClr val="000000"/>
                </a:solidFill>
                <a:latin typeface="-apple-system"/>
              </a:rPr>
              <a:t>רמז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: השתמשו בלולאה</a:t>
            </a:r>
            <a:br>
              <a:rPr lang="he-IL" dirty="0"/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לדוגמא אם המשתמש מקליד "שלום", התוכנית תקליד: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ש 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ל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ו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ם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השתמשו למימוש ב- </a:t>
            </a:r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dirty="0"/>
              <a:t> (למה?)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0012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DDED-2FAF-05FE-5203-7D73B293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DAAC6-FF57-5052-07A4-79D58D055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של אות אחד, נמצא בשימוש המון!</a:t>
            </a:r>
          </a:p>
          <a:p>
            <a:r>
              <a:rPr lang="he-IL" dirty="0">
                <a:solidFill>
                  <a:srgbClr val="000000"/>
                </a:solidFill>
                <a:latin typeface="-apple-system"/>
              </a:rPr>
              <a:t>לכן יש קיצור: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charAt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(..)</a:t>
            </a:r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30ADCC6-F883-3369-5070-E3D19EA7B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50" y="1152475"/>
            <a:ext cx="5994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44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B127-2DEC-CDCB-B87C-2313000C5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 מקוצר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E2989-41C9-EB97-255C-6A64162AF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F67C05D-AE74-9AE4-BF05-4359FDD8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5994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07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DB4A-8D0B-8030-6A8D-07275DF1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בסיסיות על מחרוזות: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E3423-C4C7-E31B-93D6-F7D48B264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</p:spPr>
        <p:txBody>
          <a:bodyPr/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תרגיל - כתבו תוכנית שמקבלת מהמשתמש טקסט, אם אורך הטקסט מתחת ל-5 אותיות היא תדפיס את האותיות שלו בנפרד. אם הוא 5 אותיות ומעלה היא תבקש מהמשתמש טקסט חדש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למשל: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אם המשתמש הקליד: ׳כלב׳ , התוכנה תדפיס: כ , ל , ב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אם המשתמש הקליד: ׳שלום לכל 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סטרטאפיסטים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׳, התוכנה תבקש ממנו טקסט חדש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השתמשו למימוש ב-</a:t>
            </a:r>
            <a:r>
              <a:rPr lang="en-US" dirty="0" err="1"/>
              <a:t>substr</a:t>
            </a:r>
            <a:r>
              <a:rPr lang="en-US" dirty="0"/>
              <a:t>(from, length)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dirty="0"/>
              <a:t> או </a:t>
            </a:r>
            <a:r>
              <a:rPr lang="en-US" b="0" i="0" dirty="0" err="1">
                <a:solidFill>
                  <a:schemeClr val="bg2"/>
                </a:solidFill>
                <a:effectLst/>
                <a:latin typeface="Courier New" panose="02070309020205020404" pitchFamily="49" charset="0"/>
              </a:rPr>
              <a:t>charAt</a:t>
            </a:r>
            <a:r>
              <a:rPr lang="en-US" b="0" i="0" dirty="0">
                <a:solidFill>
                  <a:schemeClr val="bg2"/>
                </a:solidFill>
                <a:effectLst/>
                <a:latin typeface="Courier New" panose="02070309020205020404" pitchFamily="49" charset="0"/>
              </a:rPr>
              <a:t>(..)</a:t>
            </a:r>
            <a:r>
              <a:rPr lang="he-IL" b="0" i="0" dirty="0">
                <a:solidFill>
                  <a:schemeClr val="bg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 dirty="0"/>
              <a:t>(למה?) </a:t>
            </a:r>
            <a:r>
              <a:rPr lang="he-IL" dirty="0" err="1"/>
              <a:t>וב-length</a:t>
            </a:r>
            <a:r>
              <a:rPr lang="he-IL" dirty="0"/>
              <a:t> (למה?)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CCA2A-8842-7EDF-9DDE-B743F7E43A71}"/>
              </a:ext>
            </a:extLst>
          </p:cNvPr>
          <p:cNvSpPr txBox="1"/>
          <p:nvPr/>
        </p:nvSpPr>
        <p:spPr>
          <a:xfrm>
            <a:off x="0" y="4065814"/>
            <a:ext cx="9086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sz="1800" dirty="0"/>
              <a:t>למתקדמים – תבקשו את הטקסט מחדש ללא הגבלה עד שהמשתמש יקליד טקסט שקטן מ-5 אותיות</a:t>
            </a:r>
            <a:endParaRPr lang="en-IL" sz="1800" dirty="0"/>
          </a:p>
        </p:txBody>
      </p:sp>
    </p:spTree>
    <p:extLst>
      <p:ext uri="{BB962C8B-B14F-4D97-AF65-F5344CB8AC3E}">
        <p14:creationId xmlns:p14="http://schemas.microsoft.com/office/powerpoint/2010/main" val="2934925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E64C-0E3E-C69C-FA26-BD38B0A9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0A952-8B04-C6DB-6055-4D71E095C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12A066E-0FFB-6431-6DB8-C6548523E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77" y="1257300"/>
            <a:ext cx="5743263" cy="331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55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E6DC-980B-9925-3BED-874F1887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תרגילים מתקדמים על מחרוזות: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C369D-2F2E-922C-B7AB-89B20EBC4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כתבו תוכנית שמקבלת טקסט והופכת אותו: שלום -&gt; </a:t>
            </a:r>
            <a:r>
              <a:rPr lang="he-IL" dirty="0" err="1"/>
              <a:t>םולש</a:t>
            </a:r>
            <a:r>
              <a:rPr lang="he-IL" dirty="0"/>
              <a:t>. השתמשו בקלט ופלט בעמוד.</a:t>
            </a:r>
          </a:p>
          <a:p>
            <a:pPr marL="114300" indent="0">
              <a:buNone/>
            </a:pPr>
            <a:r>
              <a:rPr lang="he-IL" dirty="0"/>
              <a:t>ם</a:t>
            </a:r>
          </a:p>
          <a:p>
            <a:pPr marL="114300" indent="0">
              <a:buNone/>
            </a:pPr>
            <a:r>
              <a:rPr lang="he-IL" dirty="0"/>
              <a:t>ו</a:t>
            </a:r>
          </a:p>
          <a:p>
            <a:pPr marL="114300" indent="0">
              <a:buNone/>
            </a:pPr>
            <a:r>
              <a:rPr lang="he-IL" dirty="0"/>
              <a:t>ל</a:t>
            </a:r>
          </a:p>
          <a:p>
            <a:pPr marL="114300" indent="0">
              <a:buNone/>
            </a:pPr>
            <a:r>
              <a:rPr lang="he-IL" dirty="0"/>
              <a:t>ש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במקום להדפיס אות אות, הדפיסו את המשפט בשלמותו - </a:t>
            </a:r>
            <a:r>
              <a:rPr lang="he-IL" dirty="0" err="1"/>
              <a:t>םולש</a:t>
            </a:r>
            <a:endParaRPr lang="he-IL" dirty="0"/>
          </a:p>
          <a:p>
            <a:pPr marL="114300" indent="0">
              <a:buNone/>
            </a:pPr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00345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9301-EC0E-655E-FECB-1134B275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פתרון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F898B-4666-8037-D073-A0AE36841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CFD17AF-393A-2E21-F849-E72BDDDC7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86" y="1127700"/>
            <a:ext cx="5968028" cy="344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5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B62E-CEDA-B0D6-A157-3984F5EE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0E59B-A984-33F8-B46A-5A51DC91B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2D90472F-4316-40DA-1396-0BC7FF41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12" y="1263650"/>
            <a:ext cx="6225375" cy="33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35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9C5B-14C1-0096-DED7-8A2D5F68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טקסט ו-</a:t>
            </a:r>
            <a:r>
              <a:rPr lang="en-US" dirty="0"/>
              <a:t>java script</a:t>
            </a:r>
            <a:r>
              <a:rPr lang="he-IL" dirty="0"/>
              <a:t> בסיסי: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AE961-4CFE-AE22-8A62-7FF0C806F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עד עכשיו קראנו וכתבנו למסמך באמצעות </a:t>
            </a:r>
            <a:r>
              <a:rPr lang="en-US" dirty="0" err="1"/>
              <a:t>document.getElementById</a:t>
            </a:r>
            <a:r>
              <a:rPr lang="en-US" dirty="0"/>
              <a:t>(..)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ובאמצעות: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1. 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קריאה או כתיבה לתיבת טקסט באמצעות .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value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2.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כתיבה לאלמנט באמצעות 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textContent</a:t>
            </a:r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114300" indent="0">
              <a:buNone/>
            </a:pPr>
            <a:endParaRPr lang="he-IL" dirty="0">
              <a:solidFill>
                <a:srgbClr val="000000"/>
              </a:solidFill>
              <a:latin typeface="-apple-system"/>
            </a:endParaRPr>
          </a:p>
          <a:p>
            <a:pPr marL="11430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את המבנה של המסמך הגדרנו בחלק של ה-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HTML 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. אבל מה קורה אם אנחנו רוצים לשנות את המבנה של המסמך באופן דינמי מתוך הקוד ב-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javascript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?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11430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בשביל זה נלמד להשתמש ב- 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innerHTML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כדי לערוך את ה-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HTML </a:t>
            </a: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 בתוך אלמנט.</a:t>
            </a:r>
          </a:p>
          <a:p>
            <a:pPr marL="11430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1143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708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9F3-3D8F-6319-2A1A-97F29309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Placeholder</a:t>
            </a:r>
            <a:r>
              <a:rPr lang="he-IL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0BFC4-B3AC-58AE-F35F-C7433F384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הוא משתמש להצגה של פסקאות </a:t>
            </a:r>
            <a:r>
              <a:rPr lang="en-US" dirty="0"/>
              <a:t>paragraph</a:t>
            </a:r>
            <a:r>
              <a:rPr lang="he-IL" dirty="0"/>
              <a:t> ב-</a:t>
            </a:r>
            <a:r>
              <a:rPr lang="he-IL" dirty="0" err="1"/>
              <a:t>html</a:t>
            </a:r>
            <a:endParaRPr lang="en-US" dirty="0"/>
          </a:p>
        </p:txBody>
      </p:sp>
      <p:pic>
        <p:nvPicPr>
          <p:cNvPr id="7" name="Picture 6" descr="A close-up of a sign&#10;&#10;Description automatically generated">
            <a:extLst>
              <a:ext uri="{FF2B5EF4-FFF2-40B4-BE49-F238E27FC236}">
                <a16:creationId xmlns:a16="http://schemas.microsoft.com/office/drawing/2014/main" id="{48AFF1F0-3FD8-B2AF-D2AE-3DDD135F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769835"/>
            <a:ext cx="62230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10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7F19-A568-5C7B-00DF-D0086B4A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D24D-16F7-5795-66FA-902A67696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F4A24485-97D5-53FB-A658-A28AB018C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8" y="1256775"/>
            <a:ext cx="62865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94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AA21-BFC6-A264-53E2-9986B4AB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/>
              <a:t>innerHTML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43337-11F6-08FC-5AEB-FDDE20AD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אפשר להשתמש בו בשביל לשנות כל טקסט ב-HTML</a:t>
            </a:r>
            <a:endParaRPr lang="en-IL" dirty="0"/>
          </a:p>
        </p:txBody>
      </p:sp>
      <p:pic>
        <p:nvPicPr>
          <p:cNvPr id="4" name="תמונה 6">
            <a:extLst>
              <a:ext uri="{FF2B5EF4-FFF2-40B4-BE49-F238E27FC236}">
                <a16:creationId xmlns:a16="http://schemas.microsoft.com/office/drawing/2014/main" id="{13FBA747-F624-54B5-6B4A-D275816EAC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0269"/>
          <a:stretch/>
        </p:blipFill>
        <p:spPr>
          <a:xfrm>
            <a:off x="311700" y="1686127"/>
            <a:ext cx="6865749" cy="1484832"/>
          </a:xfrm>
          <a:prstGeom prst="rect">
            <a:avLst/>
          </a:prstGeom>
        </p:spPr>
      </p:pic>
      <p:pic>
        <p:nvPicPr>
          <p:cNvPr id="5" name="תמונה 7">
            <a:extLst>
              <a:ext uri="{FF2B5EF4-FFF2-40B4-BE49-F238E27FC236}">
                <a16:creationId xmlns:a16="http://schemas.microsoft.com/office/drawing/2014/main" id="{9D23C26E-26E5-4481-7277-07F692F4A3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61" b="10129"/>
          <a:stretch/>
        </p:blipFill>
        <p:spPr>
          <a:xfrm>
            <a:off x="311700" y="3795526"/>
            <a:ext cx="6865749" cy="77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6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4E75-44BF-4C19-9733-4E5CDED3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E928C-4274-4216-D109-BF64136D1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800" b="0" dirty="0">
                <a:effectLst/>
                <a:latin typeface="Consolas" panose="020B0609020204030204" pitchFamily="49" charset="0"/>
              </a:rPr>
              <a:t>תכתבו את התוכנית הבאה:</a:t>
            </a:r>
          </a:p>
          <a:p>
            <a:pPr marL="514350" indent="-514350">
              <a:buAutoNum type="arabicPeriod"/>
            </a:pPr>
            <a:r>
              <a:rPr lang="he-IL" sz="1800" b="0" dirty="0">
                <a:effectLst/>
                <a:latin typeface="Consolas" panose="020B0609020204030204" pitchFamily="49" charset="0"/>
              </a:rPr>
              <a:t>תכתבו קוד 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HTML</a:t>
            </a:r>
            <a:r>
              <a:rPr lang="he-IL" sz="1800" dirty="0">
                <a:latin typeface="Consolas" panose="020B0609020204030204" pitchFamily="49" charset="0"/>
              </a:rPr>
              <a:t> עם כותרת ראשית ופיסקה</a:t>
            </a:r>
          </a:p>
          <a:p>
            <a:pPr marL="514350" indent="-514350">
              <a:buAutoNum type="arabicPeriod"/>
            </a:pPr>
            <a:r>
              <a:rPr lang="he-IL" sz="1800" b="0" dirty="0">
                <a:effectLst/>
                <a:latin typeface="Consolas" panose="020B0609020204030204" pitchFamily="49" charset="0"/>
              </a:rPr>
              <a:t>תוסיפו 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ID</a:t>
            </a:r>
            <a:r>
              <a:rPr lang="he-IL" sz="1800" b="0" dirty="0">
                <a:effectLst/>
                <a:latin typeface="Consolas" panose="020B0609020204030204" pitchFamily="49" charset="0"/>
              </a:rPr>
              <a:t> לכל חלק</a:t>
            </a:r>
          </a:p>
          <a:p>
            <a:pPr marL="514350" indent="-514350">
              <a:buAutoNum type="arabicPeriod"/>
            </a:pPr>
            <a:r>
              <a:rPr lang="he-IL" sz="1800" dirty="0">
                <a:latin typeface="Consolas" panose="020B0609020204030204" pitchFamily="49" charset="0"/>
              </a:rPr>
              <a:t>תכתבו קוד ב</a:t>
            </a:r>
            <a:r>
              <a:rPr lang="en-US" sz="1800" dirty="0">
                <a:latin typeface="Consolas" panose="020B0609020204030204" pitchFamily="49" charset="0"/>
              </a:rPr>
              <a:t>JS</a:t>
            </a:r>
            <a:r>
              <a:rPr lang="he-IL" sz="1800" dirty="0">
                <a:latin typeface="Consolas" panose="020B0609020204030204" pitchFamily="49" charset="0"/>
              </a:rPr>
              <a:t> שלוקח את הקוד של הכותרת ומחליף אותו לכותרת אחרת</a:t>
            </a:r>
            <a:endParaRPr lang="he-IL" sz="1800" b="0" dirty="0">
              <a:effectLst/>
              <a:latin typeface="Consolas" panose="020B0609020204030204" pitchFamily="49" charset="0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75019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47A2-C7A5-C5AB-3876-105276BE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986C-4863-7073-EFEE-EB47342A5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תמונה 2">
            <a:extLst>
              <a:ext uri="{FF2B5EF4-FFF2-40B4-BE49-F238E27FC236}">
                <a16:creationId xmlns:a16="http://schemas.microsoft.com/office/drawing/2014/main" id="{4DF13037-F5CD-6ECA-A2F1-7420E81438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2"/>
          <a:stretch/>
        </p:blipFill>
        <p:spPr>
          <a:xfrm>
            <a:off x="311700" y="1152475"/>
            <a:ext cx="6305178" cy="258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59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22C91-FA00-32FB-A20B-B2999FD7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מערך הוא רצף של משתנים הנמצאים ביחד בסוגריים מרובעות</a:t>
            </a:r>
            <a:endParaRPr lang="en-I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EB08C0-1E14-C71E-A5BF-B02A43FB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מערך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E012D1-C1F1-1215-FC2C-3A4B8962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571750"/>
            <a:ext cx="62611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5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A642-5C0C-2C0B-305A-62ED743D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3BAE0-2868-F711-60EF-8191D638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כתבו מערך שמכיל את השם שלכם</a:t>
            </a:r>
          </a:p>
          <a:p>
            <a:r>
              <a:rPr lang="he-IL" dirty="0"/>
              <a:t>כתבו מערך שמכיל את השם של מי שישוב לידכם</a:t>
            </a:r>
          </a:p>
          <a:p>
            <a:r>
              <a:rPr lang="he-IL" dirty="0"/>
              <a:t>כתבו מערך עם השם של הבית ספר</a:t>
            </a:r>
          </a:p>
          <a:p>
            <a:endParaRPr lang="he-IL" dirty="0"/>
          </a:p>
          <a:p>
            <a:r>
              <a:rPr lang="he-IL" dirty="0"/>
              <a:t>חברו בין המערכים והדפסו את התוצאה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14101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F341-2615-2106-BAB5-AD7BD382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מערך לעומת מחרוזות: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3F630-0621-B4E9-790D-3FD6873DF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C54A12-5E6C-279E-A956-0959DB53F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84426"/>
              </p:ext>
            </p:extLst>
          </p:nvPr>
        </p:nvGraphicFramePr>
        <p:xfrm>
          <a:off x="1319893" y="1735265"/>
          <a:ext cx="6096000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9847530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9962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מחרוזת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מערך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9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'שלום’</a:t>
                      </a:r>
                      <a:r>
                        <a:rPr lang="en-US" dirty="0"/>
                        <a:t> a = 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ar</a:t>
                      </a:r>
                      <a:r>
                        <a:rPr lang="en-US" dirty="0"/>
                        <a:t> = [‘3’, ‘hello’, 4]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764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רק סוג של - </a:t>
                      </a:r>
                      <a:r>
                        <a:rPr lang="he-IL" dirty="0" err="1"/>
                        <a:t>string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יכול להכיל כמה סוגי משתנה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מספר המשתנים לפי האינדקס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מספור המשתנים לפי האינדקס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9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אפשר לבדוק אורך, להדפיס איברים </a:t>
                      </a:r>
                      <a:r>
                        <a:rPr lang="he-IL" dirty="0" err="1"/>
                        <a:t>מסויימים</a:t>
                      </a:r>
                      <a:r>
                        <a:rPr lang="he-IL" dirty="0"/>
                        <a:t>, לחבר ביניהם ועוד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dirty="0"/>
                        <a:t>אפשר לבדוק אורך, להדפיס איברים </a:t>
                      </a:r>
                      <a:r>
                        <a:rPr lang="he-IL" dirty="0" err="1"/>
                        <a:t>מסויימים</a:t>
                      </a:r>
                      <a:r>
                        <a:rPr lang="he-IL" dirty="0"/>
                        <a:t>, לחבר ביניהם ועוד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5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b="1" dirty="0"/>
                        <a:t>אי אפשר לשנות איברים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he-IL" b="1" dirty="0"/>
                        <a:t>אפשר לשנות איברים</a:t>
                      </a:r>
                      <a:endParaRPr lang="en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408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116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DB14-4174-2179-FB8F-CF1CC4E5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שינוי איברים במערך: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DEF15-E196-5B9C-77E2-0E7BD1E70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תמונה 5">
            <a:extLst>
              <a:ext uri="{FF2B5EF4-FFF2-40B4-BE49-F238E27FC236}">
                <a16:creationId xmlns:a16="http://schemas.microsoft.com/office/drawing/2014/main" id="{83AF9A35-C6EF-90B9-D1AB-FED5C179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5637359" cy="18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64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CF8A-7C8E-3FD6-2DBC-96D9DA4B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AC090-DB35-0A05-EF7B-C8C8DCCFB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 algn="r" rtl="1">
              <a:buAutoNum type="arabicPeriod"/>
            </a:pPr>
            <a:r>
              <a:rPr lang="he-IL" sz="1800" dirty="0"/>
              <a:t>תכתבו רשימה עם המספרים מ1 ועד 15 </a:t>
            </a:r>
          </a:p>
          <a:p>
            <a:pPr marL="514350" indent="-514350" algn="r" rtl="1">
              <a:buAutoNum type="arabicPeriod"/>
            </a:pPr>
            <a:r>
              <a:rPr lang="he-IL" sz="1800" dirty="0"/>
              <a:t>תחליפו את המספר שמופיע באינדקס אפס למספר אחר</a:t>
            </a:r>
          </a:p>
          <a:p>
            <a:pPr marL="514350" indent="-514350" algn="r" rtl="1">
              <a:buFontTx/>
              <a:buAutoNum type="arabicPeriod"/>
            </a:pPr>
            <a:r>
              <a:rPr lang="he-IL" sz="1800" dirty="0"/>
              <a:t>תחליפו את המספר שמופיע באינדקס שלוש לשם שלכם</a:t>
            </a:r>
          </a:p>
          <a:p>
            <a:pPr marL="514350" indent="-514350" algn="r" rtl="1">
              <a:buFontTx/>
              <a:buAutoNum type="arabicPeriod"/>
            </a:pPr>
            <a:r>
              <a:rPr lang="he-IL" sz="1800" dirty="0"/>
              <a:t>תחליפו את המספר שמופיע באינדקס עשר לחמש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7493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7344-BDD9-A94B-F3F3-CBE270B4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B6069-F6D8-047E-18C1-841258DE7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/>
              <a:t>תכתבו רשימה עם הימים בשבוע, תשנו את היום השלישי לאות האהובה עליכם ותדפיסו אותו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/>
              <a:t> תכתבו רשימה עם השמות של התלמידים בכיתה ותחליפו את השם הרביעי ל- תומר</a:t>
            </a:r>
          </a:p>
          <a:p>
            <a:pPr algn="r" rtl="1">
              <a:lnSpc>
                <a:spcPct val="150000"/>
              </a:lnSpc>
            </a:pPr>
            <a:endParaRPr lang="he-IL" sz="1800" u="sng" dirty="0"/>
          </a:p>
          <a:p>
            <a:pPr algn="r" rtl="1">
              <a:lnSpc>
                <a:spcPct val="150000"/>
              </a:lnSpc>
            </a:pPr>
            <a:endParaRPr lang="he-IL" u="sng" dirty="0"/>
          </a:p>
          <a:p>
            <a:pPr algn="r" rtl="1">
              <a:lnSpc>
                <a:spcPct val="150000"/>
              </a:lnSpc>
            </a:pPr>
            <a:r>
              <a:rPr lang="he-IL" sz="1800" u="sng" dirty="0"/>
              <a:t>למתקדמים: </a:t>
            </a:r>
            <a:r>
              <a:rPr lang="he-IL" sz="1800" dirty="0"/>
              <a:t>תעשו את התרגילים האלו עם לולאת </a:t>
            </a:r>
            <a:r>
              <a:rPr lang="en-GB" sz="1800" dirty="0"/>
              <a:t>for</a:t>
            </a:r>
            <a:r>
              <a:rPr lang="he-IL" sz="1800" dirty="0"/>
              <a:t> ולולאת </a:t>
            </a:r>
            <a:r>
              <a:rPr lang="en-GB" sz="1800" dirty="0" err="1"/>
              <a:t>whule</a:t>
            </a:r>
            <a:endParaRPr lang="he-IL" sz="180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019096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33096</TotalTime>
  <Words>1138</Words>
  <Application>Microsoft Macintosh PowerPoint</Application>
  <PresentationFormat>On-screen Show (16:9)</PresentationFormat>
  <Paragraphs>171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Courier New</vt:lpstr>
      <vt:lpstr>Arial</vt:lpstr>
      <vt:lpstr>Consolas</vt:lpstr>
      <vt:lpstr>Calibri</vt:lpstr>
      <vt:lpstr>Menlo</vt:lpstr>
      <vt:lpstr>-apple-system</vt:lpstr>
      <vt:lpstr>Simple Light</vt:lpstr>
      <vt:lpstr>PowerPoint Presentation</vt:lpstr>
      <vt:lpstr>הקדמה</vt:lpstr>
      <vt:lpstr>מה זה מחרוזת?</vt:lpstr>
      <vt:lpstr>למה זה שימושי?</vt:lpstr>
      <vt:lpstr>פעולה 1: length</vt:lpstr>
      <vt:lpstr>איך length יעזור לנו באתר שלנו?</vt:lpstr>
      <vt:lpstr>פעולה 2: substr(from, length)  </vt:lpstr>
      <vt:lpstr>substr(from, length)  באתר שלנו:</vt:lpstr>
      <vt:lpstr>פעולה 3: toLowerCase(), toUpperCase()</vt:lpstr>
      <vt:lpstr>toLowerCase(), toUpperCase() באתר שלנו:</vt:lpstr>
      <vt:lpstr>פעולה 4: replace(to, from)</vt:lpstr>
      <vt:lpstr>replace(to, from) באתר שלנו:</vt:lpstr>
      <vt:lpstr>מחרוזות – בסיסי:</vt:lpstr>
      <vt:lpstr>למה עוזר לתת מספר לכל אות?</vt:lpstr>
      <vt:lpstr>ועכשיו:</vt:lpstr>
      <vt:lpstr>ניתן מספר (אינדקס) לכל מקום במחרוזת </vt:lpstr>
      <vt:lpstr>אפשר לגשת למיקום של כל תו לפי האינדקס שלו  נשתמש בסוגריים מרובעים ובתוכו נכתוב את האינדקס </vt:lpstr>
      <vt:lpstr>תרגיל חימום</vt:lpstr>
      <vt:lpstr>תרגיל חימום 2</vt:lpstr>
      <vt:lpstr>פעולות בסיסיות על מחרוזות:</vt:lpstr>
      <vt:lpstr>פתרון</vt:lpstr>
      <vt:lpstr>פתרון מקוצר</vt:lpstr>
      <vt:lpstr>פעולות בסיסיות על מחרוזות:</vt:lpstr>
      <vt:lpstr>פתרון</vt:lpstr>
      <vt:lpstr>תרגילים מתקדמים על מחרוזות:</vt:lpstr>
      <vt:lpstr>פתרון</vt:lpstr>
      <vt:lpstr>פתרון</vt:lpstr>
      <vt:lpstr>טקסט ו-java script בסיסי:</vt:lpstr>
      <vt:lpstr>Placeholder:</vt:lpstr>
      <vt:lpstr>PowerPoint Presentation</vt:lpstr>
      <vt:lpstr>innerHTML</vt:lpstr>
      <vt:lpstr>תרגול</vt:lpstr>
      <vt:lpstr>פתרון</vt:lpstr>
      <vt:lpstr>מערך</vt:lpstr>
      <vt:lpstr>תרגול:</vt:lpstr>
      <vt:lpstr>מערך לעומת מחרוזות:</vt:lpstr>
      <vt:lpstr>שינוי איברים במערך:</vt:lpstr>
      <vt:lpstr>תרגול:</vt:lpstr>
      <vt:lpstr>תרגול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34</cp:revision>
  <dcterms:modified xsi:type="dcterms:W3CDTF">2024-03-10T18:12:58Z</dcterms:modified>
</cp:coreProperties>
</file>