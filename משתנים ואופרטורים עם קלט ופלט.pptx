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4"/>
  </p:notesMasterIdLst>
  <p:sldIdLst>
    <p:sldId id="256" r:id="rId2"/>
    <p:sldId id="258" r:id="rId3"/>
    <p:sldId id="259" r:id="rId4"/>
    <p:sldId id="260" r:id="rId5"/>
    <p:sldId id="261" r:id="rId6"/>
    <p:sldId id="262" r:id="rId7"/>
    <p:sldId id="263" r:id="rId8"/>
    <p:sldId id="264" r:id="rId9"/>
    <p:sldId id="265" r:id="rId10"/>
    <p:sldId id="266" r:id="rId11"/>
    <p:sldId id="267" r:id="rId12"/>
    <p:sldId id="269" r:id="rId13"/>
    <p:sldId id="270" r:id="rId14"/>
    <p:sldId id="271" r:id="rId15"/>
    <p:sldId id="268" r:id="rId16"/>
    <p:sldId id="272" r:id="rId17"/>
    <p:sldId id="273" r:id="rId18"/>
    <p:sldId id="274" r:id="rId19"/>
    <p:sldId id="275" r:id="rId20"/>
    <p:sldId id="276" r:id="rId21"/>
    <p:sldId id="277" r:id="rId22"/>
    <p:sldId id="278" r:id="rId23"/>
    <p:sldId id="279" r:id="rId24"/>
    <p:sldId id="283" r:id="rId25"/>
    <p:sldId id="280" r:id="rId26"/>
    <p:sldId id="281" r:id="rId27"/>
    <p:sldId id="282" r:id="rId28"/>
    <p:sldId id="284" r:id="rId29"/>
    <p:sldId id="285" r:id="rId30"/>
    <p:sldId id="287" r:id="rId31"/>
    <p:sldId id="289" r:id="rId32"/>
    <p:sldId id="288" r:id="rId33"/>
  </p:sldIdLst>
  <p:sldSz cx="9144000" cy="5143500" type="screen16x9"/>
  <p:notesSz cx="6858000" cy="9144000"/>
  <p:embeddedFontLst>
    <p:embeddedFont>
      <p:font typeface="Arimo" panose="020B0604020202020204" pitchFamily="34" charset="0"/>
      <p:regular r:id="rId35"/>
      <p:bold r:id="rId36"/>
      <p:italic r:id="rId37"/>
      <p:boldItalic r:id="rId38"/>
    </p:embeddedFont>
    <p:embeddedFont>
      <p:font typeface="Garamond" panose="02020404030301010803" pitchFamily="18"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49"/>
    <p:restoredTop sz="94650"/>
  </p:normalViewPr>
  <p:slideViewPr>
    <p:cSldViewPr snapToGrid="0">
      <p:cViewPr varScale="1">
        <p:scale>
          <a:sx n="73" d="100"/>
          <a:sy n="73" d="100"/>
        </p:scale>
        <p:origin x="200" y="15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9269678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4641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indent="-298450" algn="r" rtl="1">
              <a:lnSpc>
                <a:spcPct val="100000"/>
              </a:lnSpc>
              <a:spcBef>
                <a:spcPts val="0"/>
              </a:spcBef>
              <a:spcAft>
                <a:spcPts val="0"/>
              </a:spcAft>
              <a:buClr>
                <a:srgbClr val="000000"/>
              </a:buClr>
              <a:buSzPts val="1100"/>
              <a:buFont typeface="Arial"/>
              <a:buChar char="●"/>
            </a:pPr>
            <a:endParaRPr lang="en-IL" dirty="0"/>
          </a:p>
        </p:txBody>
      </p:sp>
    </p:spTree>
    <p:extLst>
      <p:ext uri="{BB962C8B-B14F-4D97-AF65-F5344CB8AC3E}">
        <p14:creationId xmlns:p14="http://schemas.microsoft.com/office/powerpoint/2010/main" val="685269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indent="-298450" algn="r" rtl="1">
              <a:lnSpc>
                <a:spcPct val="100000"/>
              </a:lnSpc>
              <a:spcBef>
                <a:spcPts val="0"/>
              </a:spcBef>
              <a:spcAft>
                <a:spcPts val="0"/>
              </a:spcAft>
              <a:buClr>
                <a:srgbClr val="000000"/>
              </a:buClr>
              <a:buSzPts val="1100"/>
              <a:buFont typeface="Arial"/>
              <a:buChar char="●"/>
            </a:pPr>
            <a:endParaRPr lang="en-IL" dirty="0"/>
          </a:p>
        </p:txBody>
      </p:sp>
    </p:spTree>
    <p:extLst>
      <p:ext uri="{BB962C8B-B14F-4D97-AF65-F5344CB8AC3E}">
        <p14:creationId xmlns:p14="http://schemas.microsoft.com/office/powerpoint/2010/main" val="2657252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lgn="r" rtl="1">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lgn="r" rtl="1">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pic>
        <p:nvPicPr>
          <p:cNvPr id="2" name="תמונה 1">
            <a:extLst>
              <a:ext uri="{FF2B5EF4-FFF2-40B4-BE49-F238E27FC236}">
                <a16:creationId xmlns:a16="http://schemas.microsoft.com/office/drawing/2014/main" id="{C38B02BB-6392-A7DB-54C3-767A0B662255}"/>
              </a:ext>
            </a:extLst>
          </p:cNvPr>
          <p:cNvPicPr>
            <a:picLocks noChangeAspect="1"/>
          </p:cNvPicPr>
          <p:nvPr userDrawn="1"/>
        </p:nvPicPr>
        <p:blipFill>
          <a:blip r:embed="rId2"/>
          <a:stretch>
            <a:fillRect/>
          </a:stretch>
        </p:blipFill>
        <p:spPr>
          <a:xfrm>
            <a:off x="7268066" y="4295646"/>
            <a:ext cx="2168820" cy="84785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כותרת ותוכן"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53" name="Google Shape;53;p13"/>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13"/>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x-non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x-none"/>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1984075" y="162067"/>
            <a:ext cx="5005448" cy="5042685"/>
          </a:xfrm>
          <a:prstGeom prst="rect">
            <a:avLst/>
          </a:prstGeom>
          <a:noFill/>
          <a:ln>
            <a:noFill/>
          </a:ln>
        </p:spPr>
      </p:pic>
      <p:pic>
        <p:nvPicPr>
          <p:cNvPr id="61" name="Google Shape;61;p14"/>
          <p:cNvPicPr preferRelativeResize="0"/>
          <p:nvPr/>
        </p:nvPicPr>
        <p:blipFill>
          <a:blip r:embed="rId4">
            <a:alphaModFix/>
          </a:blip>
          <a:stretch>
            <a:fillRect/>
          </a:stretch>
        </p:blipFill>
        <p:spPr>
          <a:xfrm>
            <a:off x="1715175" y="4134525"/>
            <a:ext cx="268900" cy="268900"/>
          </a:xfrm>
          <a:prstGeom prst="rect">
            <a:avLst/>
          </a:prstGeom>
          <a:noFill/>
          <a:ln>
            <a:noFill/>
          </a:ln>
        </p:spPr>
      </p:pic>
      <p:pic>
        <p:nvPicPr>
          <p:cNvPr id="62" name="Google Shape;62;p14"/>
          <p:cNvPicPr preferRelativeResize="0"/>
          <p:nvPr/>
        </p:nvPicPr>
        <p:blipFill>
          <a:blip r:embed="rId4">
            <a:alphaModFix/>
          </a:blip>
          <a:stretch>
            <a:fillRect/>
          </a:stretch>
        </p:blipFill>
        <p:spPr>
          <a:xfrm>
            <a:off x="2348625" y="438525"/>
            <a:ext cx="268900" cy="268900"/>
          </a:xfrm>
          <a:prstGeom prst="rect">
            <a:avLst/>
          </a:prstGeom>
          <a:noFill/>
          <a:ln>
            <a:noFill/>
          </a:ln>
        </p:spPr>
      </p:pic>
      <p:pic>
        <p:nvPicPr>
          <p:cNvPr id="63" name="Google Shape;63;p14"/>
          <p:cNvPicPr preferRelativeResize="0"/>
          <p:nvPr/>
        </p:nvPicPr>
        <p:blipFill>
          <a:blip r:embed="rId4">
            <a:alphaModFix/>
          </a:blip>
          <a:stretch>
            <a:fillRect/>
          </a:stretch>
        </p:blipFill>
        <p:spPr>
          <a:xfrm>
            <a:off x="6481962" y="351375"/>
            <a:ext cx="679225" cy="679225"/>
          </a:xfrm>
          <a:prstGeom prst="rect">
            <a:avLst/>
          </a:prstGeom>
          <a:noFill/>
          <a:ln>
            <a:noFill/>
          </a:ln>
        </p:spPr>
      </p:pic>
      <p:pic>
        <p:nvPicPr>
          <p:cNvPr id="64" name="Google Shape;64;p14"/>
          <p:cNvPicPr preferRelativeResize="0"/>
          <p:nvPr/>
        </p:nvPicPr>
        <p:blipFill>
          <a:blip r:embed="rId4">
            <a:alphaModFix/>
          </a:blip>
          <a:stretch>
            <a:fillRect/>
          </a:stretch>
        </p:blipFill>
        <p:spPr>
          <a:xfrm>
            <a:off x="7422500" y="2922150"/>
            <a:ext cx="268900" cy="268900"/>
          </a:xfrm>
          <a:prstGeom prst="rect">
            <a:avLst/>
          </a:prstGeom>
          <a:noFill/>
          <a:ln>
            <a:noFill/>
          </a:ln>
        </p:spPr>
      </p:pic>
      <p:pic>
        <p:nvPicPr>
          <p:cNvPr id="65" name="Google Shape;65;p14"/>
          <p:cNvPicPr preferRelativeResize="0"/>
          <p:nvPr/>
        </p:nvPicPr>
        <p:blipFill>
          <a:blip r:embed="rId4">
            <a:alphaModFix/>
          </a:blip>
          <a:stretch>
            <a:fillRect/>
          </a:stretch>
        </p:blipFill>
        <p:spPr>
          <a:xfrm>
            <a:off x="1136275" y="1547975"/>
            <a:ext cx="466650" cy="466650"/>
          </a:xfrm>
          <a:prstGeom prst="rect">
            <a:avLst/>
          </a:prstGeom>
          <a:noFill/>
          <a:ln>
            <a:noFill/>
          </a:ln>
        </p:spPr>
      </p:pic>
      <p:sp>
        <p:nvSpPr>
          <p:cNvPr id="67" name="Google Shape;67;p14"/>
          <p:cNvSpPr txBox="1"/>
          <p:nvPr/>
        </p:nvSpPr>
        <p:spPr>
          <a:xfrm>
            <a:off x="2425050" y="2022514"/>
            <a:ext cx="4293900" cy="1446520"/>
          </a:xfrm>
          <a:prstGeom prst="rect">
            <a:avLst/>
          </a:prstGeom>
          <a:noFill/>
          <a:ln>
            <a:noFill/>
          </a:ln>
        </p:spPr>
        <p:txBody>
          <a:bodyPr spcFirstLastPara="1" wrap="square" lIns="91425" tIns="91425" rIns="91425" bIns="91425" anchor="t" anchorCtr="0">
            <a:spAutoFit/>
          </a:bodyPr>
          <a:lstStyle/>
          <a:p>
            <a:pPr lvl="0" algn="ctr" rtl="1"/>
            <a:r>
              <a:rPr lang="he-IL" sz="4100" b="1" dirty="0">
                <a:solidFill>
                  <a:srgbClr val="1C4587"/>
                </a:solidFill>
                <a:latin typeface="Calibri" panose="020F0502020204030204" pitchFamily="34" charset="0"/>
                <a:ea typeface="Assistant"/>
                <a:cs typeface="Calibri" panose="020F0502020204030204" pitchFamily="34" charset="0"/>
                <a:sym typeface="Assistant"/>
              </a:rPr>
              <a:t>משתנים ואופרטורים</a:t>
            </a:r>
          </a:p>
          <a:p>
            <a:pPr lvl="0" algn="ctr" rtl="1"/>
            <a:endParaRPr sz="4100" b="1" dirty="0">
              <a:solidFill>
                <a:srgbClr val="1C4587"/>
              </a:solidFill>
              <a:latin typeface="Calibri" panose="020F0502020204030204" pitchFamily="34" charset="0"/>
              <a:ea typeface="Assistant"/>
              <a:cs typeface="Calibri" panose="020F0502020204030204" pitchFamily="34" charset="0"/>
              <a:sym typeface="Assistant"/>
            </a:endParaRPr>
          </a:p>
        </p:txBody>
      </p:sp>
      <p:pic>
        <p:nvPicPr>
          <p:cNvPr id="3" name="תמונה 2">
            <a:extLst>
              <a:ext uri="{FF2B5EF4-FFF2-40B4-BE49-F238E27FC236}">
                <a16:creationId xmlns:a16="http://schemas.microsoft.com/office/drawing/2014/main" id="{32A0155A-C7CC-C086-83F6-76F68615C2C7}"/>
              </a:ext>
            </a:extLst>
          </p:cNvPr>
          <p:cNvPicPr>
            <a:picLocks noChangeAspect="1"/>
          </p:cNvPicPr>
          <p:nvPr/>
        </p:nvPicPr>
        <p:blipFill>
          <a:blip r:embed="rId5"/>
          <a:stretch>
            <a:fillRect/>
          </a:stretch>
        </p:blipFill>
        <p:spPr>
          <a:xfrm>
            <a:off x="2606638" y="314597"/>
            <a:ext cx="3442348" cy="13457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900D3D-0DBD-E452-FCA1-C51405723699}"/>
              </a:ext>
            </a:extLst>
          </p:cNvPr>
          <p:cNvSpPr>
            <a:spLocks noGrp="1"/>
          </p:cNvSpPr>
          <p:nvPr>
            <p:ph type="title"/>
          </p:nvPr>
        </p:nvSpPr>
        <p:spPr/>
        <p:txBody>
          <a:bodyPr>
            <a:normAutofit fontScale="90000"/>
          </a:bodyPr>
          <a:lstStyle/>
          <a:p>
            <a:r>
              <a:rPr lang="he-IL" dirty="0"/>
              <a:t>הקדמה – קלט ופלט</a:t>
            </a:r>
          </a:p>
        </p:txBody>
      </p:sp>
      <p:sp>
        <p:nvSpPr>
          <p:cNvPr id="3" name="מציין מיקום טקסט 2">
            <a:extLst>
              <a:ext uri="{FF2B5EF4-FFF2-40B4-BE49-F238E27FC236}">
                <a16:creationId xmlns:a16="http://schemas.microsoft.com/office/drawing/2014/main" id="{21B901A3-E69F-CDBC-0971-5DD069C98A7F}"/>
              </a:ext>
            </a:extLst>
          </p:cNvPr>
          <p:cNvSpPr>
            <a:spLocks noGrp="1"/>
          </p:cNvSpPr>
          <p:nvPr>
            <p:ph type="body" idx="1"/>
          </p:nvPr>
        </p:nvSpPr>
        <p:spPr/>
        <p:txBody>
          <a:bodyPr/>
          <a:lstStyle/>
          <a:p>
            <a:r>
              <a:rPr lang="he-IL" b="1" i="0" dirty="0">
                <a:solidFill>
                  <a:srgbClr val="000000"/>
                </a:solidFill>
                <a:effectLst/>
                <a:latin typeface="-apple-system"/>
              </a:rPr>
              <a:t>לכל מערכת יש קלט ופלט: </a:t>
            </a:r>
            <a:r>
              <a:rPr lang="he-IL" b="1" dirty="0">
                <a:solidFill>
                  <a:srgbClr val="000000"/>
                </a:solidFill>
                <a:latin typeface="-apple-system"/>
              </a:rPr>
              <a:t>למערכת נכנסים דברים מסוימים ואחרי עיבוד, יוצאים ממנה דברים אחרים</a:t>
            </a:r>
          </a:p>
          <a:p>
            <a:endParaRPr lang="he-IL" b="1" i="0" dirty="0">
              <a:solidFill>
                <a:srgbClr val="000000"/>
              </a:solidFill>
              <a:effectLst/>
              <a:latin typeface="-apple-system"/>
            </a:endParaRPr>
          </a:p>
          <a:p>
            <a:r>
              <a:rPr lang="he-IL" b="1" dirty="0">
                <a:solidFill>
                  <a:srgbClr val="000000"/>
                </a:solidFill>
                <a:latin typeface="-apple-system"/>
              </a:rPr>
              <a:t>ניתן לתאר כל מערכת באמצעות המודל הבא</a:t>
            </a:r>
          </a:p>
          <a:p>
            <a:endParaRPr lang="he-IL" b="1" i="0" dirty="0">
              <a:solidFill>
                <a:srgbClr val="000000"/>
              </a:solidFill>
              <a:effectLst/>
              <a:latin typeface="-apple-system"/>
            </a:endParaRPr>
          </a:p>
          <a:p>
            <a:endParaRPr lang="he-IL" b="1" dirty="0">
              <a:solidFill>
                <a:srgbClr val="000000"/>
              </a:solidFill>
              <a:latin typeface="-apple-system"/>
            </a:endParaRPr>
          </a:p>
          <a:p>
            <a:endParaRPr lang="he-IL" b="1" i="0" dirty="0">
              <a:solidFill>
                <a:srgbClr val="000000"/>
              </a:solidFill>
              <a:effectLst/>
              <a:latin typeface="-apple-system"/>
            </a:endParaRPr>
          </a:p>
          <a:p>
            <a:endParaRPr lang="he-IL" b="0" i="0" dirty="0">
              <a:solidFill>
                <a:srgbClr val="000000"/>
              </a:solidFill>
              <a:effectLst/>
              <a:latin typeface="-apple-system"/>
            </a:endParaRPr>
          </a:p>
          <a:p>
            <a:pPr marL="114300" indent="0">
              <a:buNone/>
            </a:pPr>
            <a:r>
              <a:rPr lang="he-IL" dirty="0">
                <a:solidFill>
                  <a:srgbClr val="000000"/>
                </a:solidFill>
                <a:latin typeface="-apple-system"/>
              </a:rPr>
              <a:t>	</a:t>
            </a:r>
            <a:br>
              <a:rPr lang="he-IL" dirty="0"/>
            </a:br>
            <a:endParaRPr lang="he-IL" dirty="0"/>
          </a:p>
        </p:txBody>
      </p:sp>
      <p:sp>
        <p:nvSpPr>
          <p:cNvPr id="4" name="Right Arrow 3">
            <a:extLst>
              <a:ext uri="{FF2B5EF4-FFF2-40B4-BE49-F238E27FC236}">
                <a16:creationId xmlns:a16="http://schemas.microsoft.com/office/drawing/2014/main" id="{C5997090-D405-E07D-8DDD-49B0597566EE}"/>
              </a:ext>
            </a:extLst>
          </p:cNvPr>
          <p:cNvSpPr/>
          <p:nvPr/>
        </p:nvSpPr>
        <p:spPr>
          <a:xfrm rot="10800000">
            <a:off x="5926015" y="3077308"/>
            <a:ext cx="1969477" cy="10726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algn="ctr" rtl="1">
              <a:lnSpc>
                <a:spcPct val="100000"/>
              </a:lnSpc>
              <a:spcBef>
                <a:spcPts val="0"/>
              </a:spcBef>
              <a:spcAft>
                <a:spcPts val="0"/>
              </a:spcAft>
              <a:buClr>
                <a:srgbClr val="000000"/>
              </a:buClr>
              <a:buFont typeface="Arial"/>
            </a:pPr>
            <a:endParaRPr lang="en-IL" sz="1800" dirty="0"/>
          </a:p>
        </p:txBody>
      </p:sp>
      <p:sp>
        <p:nvSpPr>
          <p:cNvPr id="6" name="Right Arrow 5">
            <a:extLst>
              <a:ext uri="{FF2B5EF4-FFF2-40B4-BE49-F238E27FC236}">
                <a16:creationId xmlns:a16="http://schemas.microsoft.com/office/drawing/2014/main" id="{326ACA15-8AEE-B0C6-D374-0AEC27FF9EB3}"/>
              </a:ext>
            </a:extLst>
          </p:cNvPr>
          <p:cNvSpPr/>
          <p:nvPr/>
        </p:nvSpPr>
        <p:spPr>
          <a:xfrm rot="10800000">
            <a:off x="1149380" y="3080237"/>
            <a:ext cx="1969477" cy="10726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algn="ctr" rtl="1">
              <a:lnSpc>
                <a:spcPct val="100000"/>
              </a:lnSpc>
              <a:spcBef>
                <a:spcPts val="0"/>
              </a:spcBef>
              <a:spcAft>
                <a:spcPts val="0"/>
              </a:spcAft>
              <a:buClr>
                <a:srgbClr val="000000"/>
              </a:buClr>
              <a:buFont typeface="Arial"/>
            </a:pPr>
            <a:endParaRPr lang="en-IL"/>
          </a:p>
        </p:txBody>
      </p:sp>
      <p:sp>
        <p:nvSpPr>
          <p:cNvPr id="7" name="Rectangle 6">
            <a:extLst>
              <a:ext uri="{FF2B5EF4-FFF2-40B4-BE49-F238E27FC236}">
                <a16:creationId xmlns:a16="http://schemas.microsoft.com/office/drawing/2014/main" id="{F48063EF-E326-FAEA-329D-7F56C588334F}"/>
              </a:ext>
            </a:extLst>
          </p:cNvPr>
          <p:cNvSpPr/>
          <p:nvPr/>
        </p:nvSpPr>
        <p:spPr>
          <a:xfrm>
            <a:off x="3525715" y="3270056"/>
            <a:ext cx="2092569" cy="7209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algn="ctr" rtl="1">
              <a:lnSpc>
                <a:spcPct val="100000"/>
              </a:lnSpc>
              <a:spcBef>
                <a:spcPts val="0"/>
              </a:spcBef>
              <a:spcAft>
                <a:spcPts val="0"/>
              </a:spcAft>
              <a:buClr>
                <a:srgbClr val="000000"/>
              </a:buClr>
              <a:buFont typeface="Arial"/>
            </a:pPr>
            <a:r>
              <a:rPr lang="he-IL" sz="2800" dirty="0"/>
              <a:t>תהליך</a:t>
            </a:r>
            <a:endParaRPr lang="en-IL" sz="2800" dirty="0"/>
          </a:p>
        </p:txBody>
      </p:sp>
      <p:sp>
        <p:nvSpPr>
          <p:cNvPr id="8" name="TextBox 7">
            <a:extLst>
              <a:ext uri="{FF2B5EF4-FFF2-40B4-BE49-F238E27FC236}">
                <a16:creationId xmlns:a16="http://schemas.microsoft.com/office/drawing/2014/main" id="{015272C2-B9F7-F4FC-DED1-4ABF0ADAC370}"/>
              </a:ext>
            </a:extLst>
          </p:cNvPr>
          <p:cNvSpPr txBox="1"/>
          <p:nvPr/>
        </p:nvSpPr>
        <p:spPr>
          <a:xfrm>
            <a:off x="6409591" y="3413583"/>
            <a:ext cx="1002323" cy="400110"/>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he-IL" sz="2000" dirty="0">
                <a:solidFill>
                  <a:schemeClr val="bg1"/>
                </a:solidFill>
              </a:rPr>
              <a:t>קלט</a:t>
            </a:r>
            <a:endParaRPr lang="en-IL" sz="2000" dirty="0">
              <a:solidFill>
                <a:schemeClr val="bg1"/>
              </a:solidFill>
            </a:endParaRPr>
          </a:p>
        </p:txBody>
      </p:sp>
      <p:sp>
        <p:nvSpPr>
          <p:cNvPr id="9" name="TextBox 8">
            <a:extLst>
              <a:ext uri="{FF2B5EF4-FFF2-40B4-BE49-F238E27FC236}">
                <a16:creationId xmlns:a16="http://schemas.microsoft.com/office/drawing/2014/main" id="{2D4BAE64-56D0-F131-062E-3EC7F4DB9F7F}"/>
              </a:ext>
            </a:extLst>
          </p:cNvPr>
          <p:cNvSpPr txBox="1"/>
          <p:nvPr/>
        </p:nvSpPr>
        <p:spPr>
          <a:xfrm>
            <a:off x="1606579" y="3413583"/>
            <a:ext cx="1002323" cy="400110"/>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he-IL" sz="2000" dirty="0">
                <a:solidFill>
                  <a:schemeClr val="bg1"/>
                </a:solidFill>
              </a:rPr>
              <a:t>פלט</a:t>
            </a:r>
            <a:endParaRPr lang="en-IL" sz="2000" dirty="0">
              <a:solidFill>
                <a:schemeClr val="bg1"/>
              </a:solidFill>
            </a:endParaRPr>
          </a:p>
        </p:txBody>
      </p:sp>
      <p:sp>
        <p:nvSpPr>
          <p:cNvPr id="10" name="TextBox 9">
            <a:extLst>
              <a:ext uri="{FF2B5EF4-FFF2-40B4-BE49-F238E27FC236}">
                <a16:creationId xmlns:a16="http://schemas.microsoft.com/office/drawing/2014/main" id="{10A89AAE-3BE1-4CF3-9F4A-C509CB65F398}"/>
              </a:ext>
            </a:extLst>
          </p:cNvPr>
          <p:cNvSpPr txBox="1"/>
          <p:nvPr/>
        </p:nvSpPr>
        <p:spPr>
          <a:xfrm>
            <a:off x="1019907" y="4175538"/>
            <a:ext cx="7104184" cy="307777"/>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he-IL" dirty="0"/>
              <a:t>הדברים שמוזנים למערכת                עיבוד הקלט בדרכים שונות              התוצרים של המערכת</a:t>
            </a:r>
            <a:endParaRPr lang="en-IL" dirty="0"/>
          </a:p>
        </p:txBody>
      </p:sp>
    </p:spTree>
    <p:extLst>
      <p:ext uri="{BB962C8B-B14F-4D97-AF65-F5344CB8AC3E}">
        <p14:creationId xmlns:p14="http://schemas.microsoft.com/office/powerpoint/2010/main" val="1543914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77DEF-AE8D-CBC2-ADE9-A14CEECC7CE0}"/>
              </a:ext>
            </a:extLst>
          </p:cNvPr>
          <p:cNvSpPr>
            <a:spLocks noGrp="1"/>
          </p:cNvSpPr>
          <p:nvPr>
            <p:ph type="title"/>
          </p:nvPr>
        </p:nvSpPr>
        <p:spPr/>
        <p:txBody>
          <a:bodyPr>
            <a:normAutofit fontScale="90000"/>
          </a:bodyPr>
          <a:lstStyle/>
          <a:p>
            <a:r>
              <a:rPr lang="he-IL" dirty="0"/>
              <a:t>פלט:</a:t>
            </a:r>
            <a:endParaRPr lang="en-IL" dirty="0"/>
          </a:p>
        </p:txBody>
      </p:sp>
      <p:sp>
        <p:nvSpPr>
          <p:cNvPr id="3" name="Text Placeholder 2">
            <a:extLst>
              <a:ext uri="{FF2B5EF4-FFF2-40B4-BE49-F238E27FC236}">
                <a16:creationId xmlns:a16="http://schemas.microsoft.com/office/drawing/2014/main" id="{415EE8B2-CB89-DF75-15DB-F5A3E59C6E87}"/>
              </a:ext>
            </a:extLst>
          </p:cNvPr>
          <p:cNvSpPr>
            <a:spLocks noGrp="1"/>
          </p:cNvSpPr>
          <p:nvPr>
            <p:ph type="body" idx="1"/>
          </p:nvPr>
        </p:nvSpPr>
        <p:spPr/>
        <p:txBody>
          <a:bodyPr/>
          <a:lstStyle/>
          <a:p>
            <a:r>
              <a:rPr lang="en-US" dirty="0"/>
              <a:t>alert( </a:t>
            </a:r>
            <a:r>
              <a:rPr lang="he-IL" dirty="0"/>
              <a:t> מקפיצה למשתמש חלונית</a:t>
            </a:r>
          </a:p>
          <a:p>
            <a:r>
              <a:rPr lang="en-US" dirty="0" err="1"/>
              <a:t>console.log</a:t>
            </a:r>
            <a:r>
              <a:rPr lang="en-US" dirty="0"/>
              <a:t>() </a:t>
            </a:r>
            <a:r>
              <a:rPr lang="he-IL" dirty="0"/>
              <a:t> כותבת מידע לקונסול. הפקודה הזאת מיועדת לשימוש פנימי של מפתחים, כדי למצוא בעיות ולראות מה קורה "מאחורי הקלעים".</a:t>
            </a:r>
          </a:p>
          <a:p>
            <a:pPr marL="114300" indent="0">
              <a:buNone/>
            </a:pPr>
            <a:endParaRPr lang="en-IL" dirty="0"/>
          </a:p>
        </p:txBody>
      </p:sp>
      <p:pic>
        <p:nvPicPr>
          <p:cNvPr id="5" name="Picture 4" descr="A close up of a sign&#10;&#10;Description automatically generated">
            <a:extLst>
              <a:ext uri="{FF2B5EF4-FFF2-40B4-BE49-F238E27FC236}">
                <a16:creationId xmlns:a16="http://schemas.microsoft.com/office/drawing/2014/main" id="{5BA1B4E8-C4CC-AC76-6ACB-5A57ED78A750}"/>
              </a:ext>
            </a:extLst>
          </p:cNvPr>
          <p:cNvPicPr>
            <a:picLocks noChangeAspect="1"/>
          </p:cNvPicPr>
          <p:nvPr/>
        </p:nvPicPr>
        <p:blipFill>
          <a:blip r:embed="rId2"/>
          <a:stretch>
            <a:fillRect/>
          </a:stretch>
        </p:blipFill>
        <p:spPr>
          <a:xfrm>
            <a:off x="472052" y="3610025"/>
            <a:ext cx="5410200" cy="762000"/>
          </a:xfrm>
          <a:prstGeom prst="rect">
            <a:avLst/>
          </a:prstGeom>
        </p:spPr>
      </p:pic>
    </p:spTree>
    <p:extLst>
      <p:ext uri="{BB962C8B-B14F-4D97-AF65-F5344CB8AC3E}">
        <p14:creationId xmlns:p14="http://schemas.microsoft.com/office/powerpoint/2010/main" val="4119910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2F31F-89DC-867E-A01E-537EDCA366EF}"/>
              </a:ext>
            </a:extLst>
          </p:cNvPr>
          <p:cNvSpPr>
            <a:spLocks noGrp="1"/>
          </p:cNvSpPr>
          <p:nvPr>
            <p:ph type="title"/>
          </p:nvPr>
        </p:nvSpPr>
        <p:spPr/>
        <p:txBody>
          <a:bodyPr>
            <a:normAutofit fontScale="90000"/>
          </a:bodyPr>
          <a:lstStyle/>
          <a:p>
            <a:r>
              <a:rPr lang="he-IL" dirty="0"/>
              <a:t>הערות – חלקים ״לא פעילים״ בקוד</a:t>
            </a:r>
            <a:endParaRPr lang="en-IL" dirty="0"/>
          </a:p>
        </p:txBody>
      </p:sp>
      <p:sp>
        <p:nvSpPr>
          <p:cNvPr id="3" name="Text Placeholder 2">
            <a:extLst>
              <a:ext uri="{FF2B5EF4-FFF2-40B4-BE49-F238E27FC236}">
                <a16:creationId xmlns:a16="http://schemas.microsoft.com/office/drawing/2014/main" id="{3F2AF416-605D-50DA-A939-E67A507D90E4}"/>
              </a:ext>
            </a:extLst>
          </p:cNvPr>
          <p:cNvSpPr>
            <a:spLocks noGrp="1"/>
          </p:cNvSpPr>
          <p:nvPr>
            <p:ph type="body" idx="1"/>
          </p:nvPr>
        </p:nvSpPr>
        <p:spPr/>
        <p:txBody>
          <a:bodyPr/>
          <a:lstStyle/>
          <a:p>
            <a:pPr marL="114300" indent="0">
              <a:buNone/>
            </a:pPr>
            <a:r>
              <a:rPr lang="he-IL" b="1" i="0" dirty="0">
                <a:solidFill>
                  <a:srgbClr val="000000"/>
                </a:solidFill>
                <a:effectLst/>
                <a:latin typeface="-apple-system"/>
              </a:rPr>
              <a:t>למה צריך הערות:</a:t>
            </a:r>
          </a:p>
          <a:p>
            <a:pPr>
              <a:buFont typeface="+mj-lt"/>
              <a:buAutoNum type="arabicPeriod"/>
            </a:pPr>
            <a:r>
              <a:rPr lang="he-IL" b="0" i="0" dirty="0">
                <a:solidFill>
                  <a:srgbClr val="000000"/>
                </a:solidFill>
                <a:effectLst/>
                <a:latin typeface="-apple-system"/>
              </a:rPr>
              <a:t>כדי </a:t>
            </a:r>
            <a:r>
              <a:rPr lang="he-IL" b="1" i="0" dirty="0">
                <a:solidFill>
                  <a:srgbClr val="000000"/>
                </a:solidFill>
                <a:effectLst/>
                <a:latin typeface="-apple-system"/>
              </a:rPr>
              <a:t>לכבות / להדליק</a:t>
            </a:r>
            <a:r>
              <a:rPr lang="he-IL" b="0" i="0" dirty="0">
                <a:solidFill>
                  <a:srgbClr val="000000"/>
                </a:solidFill>
                <a:effectLst/>
                <a:latin typeface="-apple-system"/>
              </a:rPr>
              <a:t> באופן זמני שורות קוד שאנחנו לא משתמשים בהן.</a:t>
            </a:r>
          </a:p>
          <a:p>
            <a:pPr>
              <a:buFont typeface="+mj-lt"/>
              <a:buAutoNum type="arabicPeriod"/>
            </a:pPr>
            <a:r>
              <a:rPr lang="he-IL" b="1" i="0" dirty="0">
                <a:solidFill>
                  <a:srgbClr val="000000"/>
                </a:solidFill>
                <a:effectLst/>
                <a:latin typeface="-apple-system"/>
              </a:rPr>
              <a:t>תיעוד</a:t>
            </a:r>
            <a:r>
              <a:rPr lang="he-IL" b="0" i="0" dirty="0">
                <a:solidFill>
                  <a:srgbClr val="000000"/>
                </a:solidFill>
                <a:effectLst/>
                <a:latin typeface="-apple-system"/>
              </a:rPr>
              <a:t> - כדי להסביר למי שקורא את הקוד (שזה יכול להיות גם אנחנו מתישהו בעתיד) מה הקוד עושה. אנחנו תמיד נשאף שהקוד שנכתוב יהיה כמה שיותר "קריא" ומובן, ונשתמש בהערות כדי להסביר מה שלא ברור מהקוד עצמו.</a:t>
            </a:r>
          </a:p>
          <a:p>
            <a:pPr marL="114300" indent="0">
              <a:buNone/>
            </a:pPr>
            <a:endParaRPr lang="en-IL" dirty="0"/>
          </a:p>
        </p:txBody>
      </p:sp>
    </p:spTree>
    <p:extLst>
      <p:ext uri="{BB962C8B-B14F-4D97-AF65-F5344CB8AC3E}">
        <p14:creationId xmlns:p14="http://schemas.microsoft.com/office/powerpoint/2010/main" val="2525759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00935-57E9-0418-4A29-E977CA9D53EB}"/>
              </a:ext>
            </a:extLst>
          </p:cNvPr>
          <p:cNvSpPr>
            <a:spLocks noGrp="1"/>
          </p:cNvSpPr>
          <p:nvPr>
            <p:ph type="title"/>
          </p:nvPr>
        </p:nvSpPr>
        <p:spPr/>
        <p:txBody>
          <a:bodyPr>
            <a:normAutofit fontScale="90000"/>
          </a:bodyPr>
          <a:lstStyle/>
          <a:p>
            <a:r>
              <a:rPr lang="he-IL" dirty="0"/>
              <a:t>דרכים לסימון הערות:</a:t>
            </a:r>
            <a:endParaRPr lang="en-IL" dirty="0"/>
          </a:p>
        </p:txBody>
      </p:sp>
      <p:sp>
        <p:nvSpPr>
          <p:cNvPr id="3" name="Text Placeholder 2">
            <a:extLst>
              <a:ext uri="{FF2B5EF4-FFF2-40B4-BE49-F238E27FC236}">
                <a16:creationId xmlns:a16="http://schemas.microsoft.com/office/drawing/2014/main" id="{B3004EEE-C089-7B86-9440-ACBA998DC904}"/>
              </a:ext>
            </a:extLst>
          </p:cNvPr>
          <p:cNvSpPr>
            <a:spLocks noGrp="1"/>
          </p:cNvSpPr>
          <p:nvPr>
            <p:ph type="body" idx="1"/>
          </p:nvPr>
        </p:nvSpPr>
        <p:spPr/>
        <p:txBody>
          <a:bodyPr/>
          <a:lstStyle/>
          <a:p>
            <a:endParaRPr lang="en-IL"/>
          </a:p>
        </p:txBody>
      </p:sp>
      <p:pic>
        <p:nvPicPr>
          <p:cNvPr id="4" name="Picture 3" descr="A screenshot of a computer&#10;&#10;Description automatically generated">
            <a:extLst>
              <a:ext uri="{FF2B5EF4-FFF2-40B4-BE49-F238E27FC236}">
                <a16:creationId xmlns:a16="http://schemas.microsoft.com/office/drawing/2014/main" id="{E7EE5E08-9D83-04F6-3DBB-54CC2227980F}"/>
              </a:ext>
            </a:extLst>
          </p:cNvPr>
          <p:cNvPicPr>
            <a:picLocks noChangeAspect="1"/>
          </p:cNvPicPr>
          <p:nvPr/>
        </p:nvPicPr>
        <p:blipFill>
          <a:blip r:embed="rId3"/>
          <a:stretch>
            <a:fillRect/>
          </a:stretch>
        </p:blipFill>
        <p:spPr>
          <a:xfrm>
            <a:off x="916134" y="1152475"/>
            <a:ext cx="7680502" cy="3132178"/>
          </a:xfrm>
          <a:prstGeom prst="rect">
            <a:avLst/>
          </a:prstGeom>
        </p:spPr>
      </p:pic>
    </p:spTree>
    <p:extLst>
      <p:ext uri="{BB962C8B-B14F-4D97-AF65-F5344CB8AC3E}">
        <p14:creationId xmlns:p14="http://schemas.microsoft.com/office/powerpoint/2010/main" val="2944841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49F56-4609-30D0-875D-E3BFA3803BED}"/>
              </a:ext>
            </a:extLst>
          </p:cNvPr>
          <p:cNvSpPr>
            <a:spLocks noGrp="1"/>
          </p:cNvSpPr>
          <p:nvPr>
            <p:ph type="title"/>
          </p:nvPr>
        </p:nvSpPr>
        <p:spPr/>
        <p:txBody>
          <a:bodyPr>
            <a:normAutofit fontScale="90000"/>
          </a:bodyPr>
          <a:lstStyle/>
          <a:p>
            <a:r>
              <a:rPr lang="he-IL" dirty="0"/>
              <a:t>תרגול</a:t>
            </a:r>
            <a:endParaRPr lang="en-IL" dirty="0"/>
          </a:p>
        </p:txBody>
      </p:sp>
      <p:sp>
        <p:nvSpPr>
          <p:cNvPr id="3" name="Text Placeholder 2">
            <a:extLst>
              <a:ext uri="{FF2B5EF4-FFF2-40B4-BE49-F238E27FC236}">
                <a16:creationId xmlns:a16="http://schemas.microsoft.com/office/drawing/2014/main" id="{07BE94DE-F405-CA5F-B214-9FF2B152A32B}"/>
              </a:ext>
            </a:extLst>
          </p:cNvPr>
          <p:cNvSpPr>
            <a:spLocks noGrp="1"/>
          </p:cNvSpPr>
          <p:nvPr>
            <p:ph type="body" idx="1"/>
          </p:nvPr>
        </p:nvSpPr>
        <p:spPr/>
        <p:txBody>
          <a:bodyPr/>
          <a:lstStyle/>
          <a:p>
            <a:pPr>
              <a:buFont typeface="+mj-lt"/>
              <a:buAutoNum type="arabicPeriod"/>
            </a:pPr>
            <a:r>
              <a:rPr lang="he-IL" b="0" i="0" dirty="0">
                <a:solidFill>
                  <a:srgbClr val="000000"/>
                </a:solidFill>
                <a:effectLst/>
                <a:latin typeface="-apple-system"/>
              </a:rPr>
              <a:t>טענו את הדוגמא לעורך שלכם</a:t>
            </a:r>
          </a:p>
          <a:p>
            <a:pPr>
              <a:buFont typeface="+mj-lt"/>
              <a:buAutoNum type="arabicPeriod"/>
            </a:pPr>
            <a:r>
              <a:rPr lang="he-IL" b="0" i="0" dirty="0">
                <a:solidFill>
                  <a:srgbClr val="000000"/>
                </a:solidFill>
                <a:effectLst/>
                <a:latin typeface="-apple-system"/>
              </a:rPr>
              <a:t>הדליקו / כבו את השורות הפעילות והריצו את הקוד</a:t>
            </a:r>
          </a:p>
          <a:p>
            <a:pPr>
              <a:buFont typeface="+mj-lt"/>
              <a:buAutoNum type="arabicPeriod"/>
            </a:pPr>
            <a:r>
              <a:rPr lang="he-IL" b="0" i="0" dirty="0">
                <a:solidFill>
                  <a:srgbClr val="000000"/>
                </a:solidFill>
                <a:effectLst/>
                <a:latin typeface="-apple-system"/>
              </a:rPr>
              <a:t>האם ראיתם את ההודעות ב- </a:t>
            </a:r>
            <a:r>
              <a:rPr lang="en-US" b="1" i="0" dirty="0">
                <a:solidFill>
                  <a:srgbClr val="000000"/>
                </a:solidFill>
                <a:effectLst/>
                <a:latin typeface="-apple-system"/>
              </a:rPr>
              <a:t>console</a:t>
            </a:r>
            <a:r>
              <a:rPr lang="en-US" b="0" i="0" dirty="0">
                <a:solidFill>
                  <a:srgbClr val="000000"/>
                </a:solidFill>
                <a:effectLst/>
                <a:latin typeface="-apple-system"/>
              </a:rPr>
              <a:t> </a:t>
            </a:r>
            <a:r>
              <a:rPr lang="he-IL" b="0" i="0" dirty="0">
                <a:solidFill>
                  <a:srgbClr val="000000"/>
                </a:solidFill>
                <a:effectLst/>
                <a:latin typeface="-apple-system"/>
              </a:rPr>
              <a:t> בתחתית המסך מימין?</a:t>
            </a:r>
          </a:p>
          <a:p>
            <a:endParaRPr lang="en-IL" dirty="0"/>
          </a:p>
        </p:txBody>
      </p:sp>
      <p:pic>
        <p:nvPicPr>
          <p:cNvPr id="4" name="Picture 3" descr="A screenshot of a computer&#10;&#10;Description automatically generated">
            <a:extLst>
              <a:ext uri="{FF2B5EF4-FFF2-40B4-BE49-F238E27FC236}">
                <a16:creationId xmlns:a16="http://schemas.microsoft.com/office/drawing/2014/main" id="{58171728-2497-9B8B-9C47-C4D0B8D14945}"/>
              </a:ext>
            </a:extLst>
          </p:cNvPr>
          <p:cNvPicPr>
            <a:picLocks noChangeAspect="1"/>
          </p:cNvPicPr>
          <p:nvPr/>
        </p:nvPicPr>
        <p:blipFill>
          <a:blip r:embed="rId2"/>
          <a:stretch>
            <a:fillRect/>
          </a:stretch>
        </p:blipFill>
        <p:spPr>
          <a:xfrm>
            <a:off x="497680" y="2571750"/>
            <a:ext cx="4291297" cy="1750030"/>
          </a:xfrm>
          <a:prstGeom prst="rect">
            <a:avLst/>
          </a:prstGeom>
        </p:spPr>
      </p:pic>
    </p:spTree>
    <p:extLst>
      <p:ext uri="{BB962C8B-B14F-4D97-AF65-F5344CB8AC3E}">
        <p14:creationId xmlns:p14="http://schemas.microsoft.com/office/powerpoint/2010/main" val="1763477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DA0F0-AFE1-28F1-D2EB-84F6BB03F042}"/>
              </a:ext>
            </a:extLst>
          </p:cNvPr>
          <p:cNvSpPr>
            <a:spLocks noGrp="1"/>
          </p:cNvSpPr>
          <p:nvPr>
            <p:ph type="title"/>
          </p:nvPr>
        </p:nvSpPr>
        <p:spPr/>
        <p:txBody>
          <a:bodyPr>
            <a:normAutofit fontScale="90000"/>
          </a:bodyPr>
          <a:lstStyle/>
          <a:p>
            <a:r>
              <a:rPr lang="he-IL" dirty="0"/>
              <a:t>משתנים</a:t>
            </a:r>
            <a:endParaRPr lang="en-IL" dirty="0"/>
          </a:p>
        </p:txBody>
      </p:sp>
      <p:sp>
        <p:nvSpPr>
          <p:cNvPr id="3" name="Text Placeholder 2">
            <a:extLst>
              <a:ext uri="{FF2B5EF4-FFF2-40B4-BE49-F238E27FC236}">
                <a16:creationId xmlns:a16="http://schemas.microsoft.com/office/drawing/2014/main" id="{24113CB4-A945-5C87-15E2-50DC542112F6}"/>
              </a:ext>
            </a:extLst>
          </p:cNvPr>
          <p:cNvSpPr>
            <a:spLocks noGrp="1"/>
          </p:cNvSpPr>
          <p:nvPr>
            <p:ph type="body" idx="1"/>
          </p:nvPr>
        </p:nvSpPr>
        <p:spPr>
          <a:xfrm>
            <a:off x="-215244" y="3085238"/>
            <a:ext cx="5252192" cy="957769"/>
          </a:xfrm>
        </p:spPr>
        <p:txBody>
          <a:bodyPr/>
          <a:lstStyle/>
          <a:p>
            <a:pPr marL="114300" indent="0">
              <a:buNone/>
            </a:pPr>
            <a:r>
              <a:rPr lang="he-IL" b="1" dirty="0"/>
              <a:t>(מה לשים בתוכו) = (שם של המשתנה) (פקודה)</a:t>
            </a:r>
          </a:p>
          <a:p>
            <a:pPr marL="114300" indent="0">
              <a:buNone/>
            </a:pPr>
            <a:endParaRPr lang="en-IL" dirty="0"/>
          </a:p>
        </p:txBody>
      </p:sp>
      <p:sp>
        <p:nvSpPr>
          <p:cNvPr id="5" name="TextBox 4">
            <a:extLst>
              <a:ext uri="{FF2B5EF4-FFF2-40B4-BE49-F238E27FC236}">
                <a16:creationId xmlns:a16="http://schemas.microsoft.com/office/drawing/2014/main" id="{FA11834F-F49C-4013-7039-56768CDFF1F6}"/>
              </a:ext>
            </a:extLst>
          </p:cNvPr>
          <p:cNvSpPr txBox="1"/>
          <p:nvPr/>
        </p:nvSpPr>
        <p:spPr>
          <a:xfrm>
            <a:off x="2526225" y="1317354"/>
            <a:ext cx="6306076" cy="2246769"/>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he-IL" sz="2000" dirty="0"/>
              <a:t>הרבה פעמים נרצה לשמור מידע - ולשם שמירת המידע נשתמש במשתנה</a:t>
            </a:r>
          </a:p>
          <a:p>
            <a:pPr marR="0" algn="r" rtl="1">
              <a:lnSpc>
                <a:spcPct val="100000"/>
              </a:lnSpc>
              <a:spcBef>
                <a:spcPts val="0"/>
              </a:spcBef>
              <a:spcAft>
                <a:spcPts val="0"/>
              </a:spcAft>
              <a:buClr>
                <a:srgbClr val="000000"/>
              </a:buClr>
              <a:buFont typeface="Arial"/>
            </a:pPr>
            <a:endParaRPr lang="he-IL" sz="2000" dirty="0"/>
          </a:p>
          <a:p>
            <a:pPr marR="0" algn="r" rtl="1">
              <a:lnSpc>
                <a:spcPct val="100000"/>
              </a:lnSpc>
              <a:spcBef>
                <a:spcPts val="0"/>
              </a:spcBef>
              <a:spcAft>
                <a:spcPts val="0"/>
              </a:spcAft>
              <a:buClr>
                <a:srgbClr val="000000"/>
              </a:buClr>
              <a:buFont typeface="Arial"/>
            </a:pPr>
            <a:endParaRPr lang="he-IL" sz="2000" dirty="0"/>
          </a:p>
          <a:p>
            <a:pPr marR="0" algn="r" rtl="1">
              <a:lnSpc>
                <a:spcPct val="100000"/>
              </a:lnSpc>
              <a:spcBef>
                <a:spcPts val="0"/>
              </a:spcBef>
              <a:spcAft>
                <a:spcPts val="0"/>
              </a:spcAft>
              <a:buClr>
                <a:srgbClr val="000000"/>
              </a:buClr>
              <a:buFont typeface="Arial"/>
            </a:pPr>
            <a:r>
              <a:rPr lang="he-IL" sz="2000" dirty="0"/>
              <a:t>המבנה הכללי של משתנה יהיה:</a:t>
            </a:r>
          </a:p>
          <a:p>
            <a:pPr marR="0" algn="r" rtl="1">
              <a:lnSpc>
                <a:spcPct val="100000"/>
              </a:lnSpc>
              <a:spcBef>
                <a:spcPts val="0"/>
              </a:spcBef>
              <a:spcAft>
                <a:spcPts val="0"/>
              </a:spcAft>
              <a:buClr>
                <a:srgbClr val="000000"/>
              </a:buClr>
              <a:buFont typeface="Arial"/>
            </a:pPr>
            <a:endParaRPr lang="he-IL" sz="2000" dirty="0"/>
          </a:p>
          <a:p>
            <a:pPr marR="0" algn="r" rtl="1">
              <a:lnSpc>
                <a:spcPct val="100000"/>
              </a:lnSpc>
              <a:spcBef>
                <a:spcPts val="0"/>
              </a:spcBef>
              <a:spcAft>
                <a:spcPts val="0"/>
              </a:spcAft>
              <a:buClr>
                <a:srgbClr val="000000"/>
              </a:buClr>
              <a:buFont typeface="Arial"/>
            </a:pPr>
            <a:endParaRPr lang="he-IL" sz="2000" dirty="0"/>
          </a:p>
        </p:txBody>
      </p:sp>
    </p:spTree>
    <p:extLst>
      <p:ext uri="{BB962C8B-B14F-4D97-AF65-F5344CB8AC3E}">
        <p14:creationId xmlns:p14="http://schemas.microsoft.com/office/powerpoint/2010/main" val="1077313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9A8A6-05A1-A8DA-34BD-39D957749BDD}"/>
              </a:ext>
            </a:extLst>
          </p:cNvPr>
          <p:cNvSpPr>
            <a:spLocks noGrp="1"/>
          </p:cNvSpPr>
          <p:nvPr>
            <p:ph type="title"/>
          </p:nvPr>
        </p:nvSpPr>
        <p:spPr/>
        <p:txBody>
          <a:bodyPr>
            <a:normAutofit fontScale="90000"/>
          </a:bodyPr>
          <a:lstStyle/>
          <a:p>
            <a:r>
              <a:rPr lang="he-IL" dirty="0"/>
              <a:t>משתנים</a:t>
            </a:r>
            <a:endParaRPr lang="en-IL" dirty="0"/>
          </a:p>
        </p:txBody>
      </p:sp>
      <p:sp>
        <p:nvSpPr>
          <p:cNvPr id="3" name="Text Placeholder 2">
            <a:extLst>
              <a:ext uri="{FF2B5EF4-FFF2-40B4-BE49-F238E27FC236}">
                <a16:creationId xmlns:a16="http://schemas.microsoft.com/office/drawing/2014/main" id="{4DF08E01-DF6A-D849-D8B7-43E7B967ECAC}"/>
              </a:ext>
            </a:extLst>
          </p:cNvPr>
          <p:cNvSpPr>
            <a:spLocks noGrp="1"/>
          </p:cNvSpPr>
          <p:nvPr>
            <p:ph type="body" idx="1"/>
          </p:nvPr>
        </p:nvSpPr>
        <p:spPr/>
        <p:txBody>
          <a:bodyPr/>
          <a:lstStyle/>
          <a:p>
            <a:pPr marL="114300" indent="0">
              <a:buNone/>
            </a:pPr>
            <a:r>
              <a:rPr lang="he-IL" dirty="0"/>
              <a:t>נחשוב על המשתנה כספר</a:t>
            </a:r>
          </a:p>
          <a:p>
            <a:pPr>
              <a:buFontTx/>
              <a:buChar char="-"/>
            </a:pPr>
            <a:r>
              <a:rPr lang="he-IL" dirty="0"/>
              <a:t>הדפים הם המידע שאנו שומרים</a:t>
            </a:r>
          </a:p>
          <a:p>
            <a:pPr>
              <a:buFontTx/>
              <a:buChar char="-"/>
            </a:pPr>
            <a:r>
              <a:rPr lang="he-IL" dirty="0"/>
              <a:t>השם של הספר הוא השם שניתן למשתנה</a:t>
            </a:r>
          </a:p>
          <a:p>
            <a:pPr>
              <a:buFontTx/>
              <a:buChar char="-"/>
            </a:pPr>
            <a:r>
              <a:rPr lang="he-IL" dirty="0"/>
              <a:t>יש כמה סוגי ספרים שמחזיקים – </a:t>
            </a:r>
            <a:br>
              <a:rPr lang="en-US" dirty="0"/>
            </a:br>
            <a:r>
              <a:rPr lang="he-IL" dirty="0"/>
              <a:t>יש גם כמה סוגי משתנים</a:t>
            </a:r>
            <a:endParaRPr lang="en-IL" dirty="0"/>
          </a:p>
        </p:txBody>
      </p:sp>
      <p:pic>
        <p:nvPicPr>
          <p:cNvPr id="1026" name="Picture 2" descr="שבוע הספר 2017: כל האירועים השווים בתל אביב">
            <a:extLst>
              <a:ext uri="{FF2B5EF4-FFF2-40B4-BE49-F238E27FC236}">
                <a16:creationId xmlns:a16="http://schemas.microsoft.com/office/drawing/2014/main" id="{99E125B6-95AE-7E66-1380-A94EEFC2CE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700" y="1625931"/>
            <a:ext cx="2942944" cy="2942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0209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D935C-69A6-385D-0BAD-B40BB7ED98CB}"/>
              </a:ext>
            </a:extLst>
          </p:cNvPr>
          <p:cNvSpPr>
            <a:spLocks noGrp="1"/>
          </p:cNvSpPr>
          <p:nvPr>
            <p:ph type="title"/>
          </p:nvPr>
        </p:nvSpPr>
        <p:spPr/>
        <p:txBody>
          <a:bodyPr>
            <a:normAutofit fontScale="90000"/>
          </a:bodyPr>
          <a:lstStyle/>
          <a:p>
            <a:r>
              <a:rPr lang="he-IL" dirty="0"/>
              <a:t>סוגי משתנים:</a:t>
            </a:r>
            <a:endParaRPr lang="en-IL" dirty="0"/>
          </a:p>
        </p:txBody>
      </p:sp>
      <p:sp>
        <p:nvSpPr>
          <p:cNvPr id="3" name="Text Placeholder 2">
            <a:extLst>
              <a:ext uri="{FF2B5EF4-FFF2-40B4-BE49-F238E27FC236}">
                <a16:creationId xmlns:a16="http://schemas.microsoft.com/office/drawing/2014/main" id="{CD199538-C71D-9880-8FA2-B58890A61821}"/>
              </a:ext>
            </a:extLst>
          </p:cNvPr>
          <p:cNvSpPr>
            <a:spLocks noGrp="1"/>
          </p:cNvSpPr>
          <p:nvPr>
            <p:ph type="body" idx="1"/>
          </p:nvPr>
        </p:nvSpPr>
        <p:spPr/>
        <p:txBody>
          <a:bodyPr/>
          <a:lstStyle/>
          <a:p>
            <a:r>
              <a:rPr lang="he-IL" dirty="0"/>
              <a:t>מה הפקודה, שם המשתנה, והתוכן שהוא מחזיק בכל אחת מהדוגמאות?</a:t>
            </a:r>
            <a:endParaRPr lang="en-IL" dirty="0"/>
          </a:p>
        </p:txBody>
      </p:sp>
      <p:pic>
        <p:nvPicPr>
          <p:cNvPr id="4" name="Picture 2" descr="שבוע הספר 2017: כל האירועים השווים בתל אביב">
            <a:extLst>
              <a:ext uri="{FF2B5EF4-FFF2-40B4-BE49-F238E27FC236}">
                <a16:creationId xmlns:a16="http://schemas.microsoft.com/office/drawing/2014/main" id="{153774A7-F80A-4B99-B3FE-D2B273AA57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700" y="359914"/>
            <a:ext cx="1315622" cy="131562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screenshot of a computer&#10;&#10;Description automatically generated">
            <a:extLst>
              <a:ext uri="{FF2B5EF4-FFF2-40B4-BE49-F238E27FC236}">
                <a16:creationId xmlns:a16="http://schemas.microsoft.com/office/drawing/2014/main" id="{3682CEB9-979E-7835-E394-DD01AA22ED4B}"/>
              </a:ext>
            </a:extLst>
          </p:cNvPr>
          <p:cNvPicPr>
            <a:picLocks noChangeAspect="1"/>
          </p:cNvPicPr>
          <p:nvPr/>
        </p:nvPicPr>
        <p:blipFill>
          <a:blip r:embed="rId3"/>
          <a:stretch>
            <a:fillRect/>
          </a:stretch>
        </p:blipFill>
        <p:spPr>
          <a:xfrm>
            <a:off x="311700" y="2065687"/>
            <a:ext cx="6138137" cy="2503188"/>
          </a:xfrm>
          <a:prstGeom prst="rect">
            <a:avLst/>
          </a:prstGeom>
        </p:spPr>
      </p:pic>
    </p:spTree>
    <p:extLst>
      <p:ext uri="{BB962C8B-B14F-4D97-AF65-F5344CB8AC3E}">
        <p14:creationId xmlns:p14="http://schemas.microsoft.com/office/powerpoint/2010/main" val="1714158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F65D9-1E11-A329-5789-395C71BF8CE2}"/>
              </a:ext>
            </a:extLst>
          </p:cNvPr>
          <p:cNvSpPr>
            <a:spLocks noGrp="1"/>
          </p:cNvSpPr>
          <p:nvPr>
            <p:ph type="title"/>
          </p:nvPr>
        </p:nvSpPr>
        <p:spPr/>
        <p:txBody>
          <a:bodyPr>
            <a:normAutofit fontScale="90000"/>
          </a:bodyPr>
          <a:lstStyle/>
          <a:p>
            <a:r>
              <a:rPr lang="he-IL" dirty="0"/>
              <a:t>סוגי משתנים</a:t>
            </a:r>
            <a:endParaRPr lang="en-IL" dirty="0"/>
          </a:p>
        </p:txBody>
      </p:sp>
      <p:sp>
        <p:nvSpPr>
          <p:cNvPr id="3" name="Text Placeholder 2">
            <a:extLst>
              <a:ext uri="{FF2B5EF4-FFF2-40B4-BE49-F238E27FC236}">
                <a16:creationId xmlns:a16="http://schemas.microsoft.com/office/drawing/2014/main" id="{B7B49D07-7F29-5C89-7944-ED789026BB58}"/>
              </a:ext>
            </a:extLst>
          </p:cNvPr>
          <p:cNvSpPr>
            <a:spLocks noGrp="1"/>
          </p:cNvSpPr>
          <p:nvPr>
            <p:ph type="body" idx="1"/>
          </p:nvPr>
        </p:nvSpPr>
        <p:spPr/>
        <p:txBody>
          <a:bodyPr/>
          <a:lstStyle/>
          <a:p>
            <a:r>
              <a:rPr lang="he-IL" dirty="0"/>
              <a:t>איזה סוג מידע המשתנה מכיל בכל אחת מהדוגמאות?</a:t>
            </a:r>
            <a:endParaRPr lang="en-IL" dirty="0"/>
          </a:p>
        </p:txBody>
      </p:sp>
      <p:pic>
        <p:nvPicPr>
          <p:cNvPr id="5" name="Picture 4" descr="A screenshot of a computer&#10;&#10;Description automatically generated">
            <a:extLst>
              <a:ext uri="{FF2B5EF4-FFF2-40B4-BE49-F238E27FC236}">
                <a16:creationId xmlns:a16="http://schemas.microsoft.com/office/drawing/2014/main" id="{0182382E-52D8-BFD5-E8C5-2523BBCB4D82}"/>
              </a:ext>
            </a:extLst>
          </p:cNvPr>
          <p:cNvPicPr>
            <a:picLocks noChangeAspect="1"/>
          </p:cNvPicPr>
          <p:nvPr/>
        </p:nvPicPr>
        <p:blipFill>
          <a:blip r:embed="rId2"/>
          <a:stretch>
            <a:fillRect/>
          </a:stretch>
        </p:blipFill>
        <p:spPr>
          <a:xfrm>
            <a:off x="311700" y="1736775"/>
            <a:ext cx="6019800" cy="2832100"/>
          </a:xfrm>
          <a:prstGeom prst="rect">
            <a:avLst/>
          </a:prstGeom>
        </p:spPr>
      </p:pic>
      <p:pic>
        <p:nvPicPr>
          <p:cNvPr id="6" name="Picture 2" descr="שבוע הספר 2017: כל האירועים השווים בתל אביב">
            <a:extLst>
              <a:ext uri="{FF2B5EF4-FFF2-40B4-BE49-F238E27FC236}">
                <a16:creationId xmlns:a16="http://schemas.microsoft.com/office/drawing/2014/main" id="{2FF18D75-36C3-7AE6-100F-2D7C2CFF62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00" y="359914"/>
            <a:ext cx="1315622" cy="1315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2616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84BE5-47F2-2C5F-90BA-7C26B1565642}"/>
              </a:ext>
            </a:extLst>
          </p:cNvPr>
          <p:cNvSpPr>
            <a:spLocks noGrp="1"/>
          </p:cNvSpPr>
          <p:nvPr>
            <p:ph type="title"/>
          </p:nvPr>
        </p:nvSpPr>
        <p:spPr/>
        <p:txBody>
          <a:bodyPr>
            <a:normAutofit fontScale="90000"/>
          </a:bodyPr>
          <a:lstStyle/>
          <a:p>
            <a:r>
              <a:rPr lang="he-IL" dirty="0"/>
              <a:t>תרגול </a:t>
            </a:r>
            <a:endParaRPr lang="en-IL" dirty="0"/>
          </a:p>
        </p:txBody>
      </p:sp>
      <p:sp>
        <p:nvSpPr>
          <p:cNvPr id="3" name="Text Placeholder 2">
            <a:extLst>
              <a:ext uri="{FF2B5EF4-FFF2-40B4-BE49-F238E27FC236}">
                <a16:creationId xmlns:a16="http://schemas.microsoft.com/office/drawing/2014/main" id="{87E910EF-FF4A-072D-EB73-D018CF0E6D9A}"/>
              </a:ext>
            </a:extLst>
          </p:cNvPr>
          <p:cNvSpPr>
            <a:spLocks noGrp="1"/>
          </p:cNvSpPr>
          <p:nvPr>
            <p:ph type="body" idx="1"/>
          </p:nvPr>
        </p:nvSpPr>
        <p:spPr/>
        <p:txBody>
          <a:bodyPr>
            <a:normAutofit lnSpcReduction="10000"/>
          </a:bodyPr>
          <a:lstStyle/>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מסוג </a:t>
            </a:r>
            <a:r>
              <a:rPr lang="he-IL" dirty="0" err="1">
                <a:solidFill>
                  <a:srgbClr val="000000"/>
                </a:solidFill>
                <a:latin typeface="Arial" panose="020B0604020202020204" pitchFamily="34" charset="0"/>
              </a:rPr>
              <a:t>let</a:t>
            </a:r>
            <a:r>
              <a:rPr lang="he-IL" dirty="0">
                <a:solidFill>
                  <a:srgbClr val="000000"/>
                </a:solidFill>
                <a:latin typeface="Arial" panose="020B0604020202020204" pitchFamily="34" charset="0"/>
              </a:rPr>
              <a:t> </a:t>
            </a:r>
            <a:r>
              <a:rPr lang="he-IL" sz="1800" b="0" i="0" u="none" strike="noStrike" dirty="0">
                <a:solidFill>
                  <a:srgbClr val="000000"/>
                </a:solidFill>
                <a:effectLst/>
                <a:latin typeface="Arial" panose="020B0604020202020204" pitchFamily="34" charset="0"/>
              </a:rPr>
              <a:t> שהערך שלו הוא הגיל שלכם, </a:t>
            </a: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אותו למשתמש באמצעות הפונקציה </a:t>
            </a:r>
            <a:r>
              <a:rPr lang="en-US" sz="1800" b="0" i="0" u="none" strike="noStrike" dirty="0">
                <a:solidFill>
                  <a:srgbClr val="000000"/>
                </a:solidFill>
                <a:effectLst/>
                <a:latin typeface="Arial" panose="020B0604020202020204" pitchFamily="34" charset="0"/>
              </a:rPr>
              <a:t>alert() </a:t>
            </a:r>
          </a:p>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מסוג </a:t>
            </a:r>
            <a:r>
              <a:rPr lang="he-IL" sz="1800" b="0" i="0" u="none" strike="noStrike" dirty="0" err="1">
                <a:solidFill>
                  <a:srgbClr val="000000"/>
                </a:solidFill>
                <a:effectLst/>
                <a:latin typeface="Arial" panose="020B0604020202020204" pitchFamily="34" charset="0"/>
              </a:rPr>
              <a:t>let</a:t>
            </a:r>
            <a:r>
              <a:rPr lang="he-IL" sz="1800" b="0" i="0" u="none" strike="noStrike" dirty="0">
                <a:solidFill>
                  <a:srgbClr val="000000"/>
                </a:solidFill>
                <a:effectLst/>
                <a:latin typeface="Arial" panose="020B0604020202020204" pitchFamily="34" charset="0"/>
              </a:rPr>
              <a:t> שהערך שלו הוא השם שלכם, </a:t>
            </a: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אותו למשתמש באמצעות הפונקציה </a:t>
            </a:r>
            <a:r>
              <a:rPr lang="en-US" sz="1800" b="0" i="0" u="none" strike="noStrike" dirty="0">
                <a:solidFill>
                  <a:srgbClr val="000000"/>
                </a:solidFill>
                <a:effectLst/>
                <a:latin typeface="Arial" panose="020B0604020202020204" pitchFamily="34" charset="0"/>
              </a:rPr>
              <a:t>alert()</a:t>
            </a:r>
          </a:p>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מסוג </a:t>
            </a:r>
            <a:r>
              <a:rPr lang="he-IL" sz="1800" b="0" i="0" u="none" strike="noStrike" dirty="0" err="1">
                <a:solidFill>
                  <a:srgbClr val="000000"/>
                </a:solidFill>
                <a:effectLst/>
                <a:latin typeface="Arial" panose="020B0604020202020204" pitchFamily="34" charset="0"/>
              </a:rPr>
              <a:t>const</a:t>
            </a:r>
            <a:r>
              <a:rPr lang="he-IL" sz="1800" b="0" i="0" u="none" strike="noStrike" dirty="0">
                <a:solidFill>
                  <a:srgbClr val="000000"/>
                </a:solidFill>
                <a:effectLst/>
                <a:latin typeface="Arial" panose="020B0604020202020204" pitchFamily="34" charset="0"/>
              </a:rPr>
              <a:t>  שהערך שלו הוא שם החבר שיושב מצד ימין שלכם, </a:t>
            </a: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אותו למשתמש באמצעות הפונקציה </a:t>
            </a:r>
            <a:r>
              <a:rPr lang="en-US" sz="1800" b="0" i="0" u="none" strike="noStrike" dirty="0">
                <a:solidFill>
                  <a:srgbClr val="000000"/>
                </a:solidFill>
                <a:effectLst/>
                <a:latin typeface="Arial" panose="020B0604020202020204" pitchFamily="34" charset="0"/>
              </a:rPr>
              <a:t>alert()</a:t>
            </a:r>
            <a:endParaRPr lang="he-IL" sz="1800" b="0" i="0" u="none" strike="noStrike" dirty="0">
              <a:solidFill>
                <a:srgbClr val="000000"/>
              </a:solidFill>
              <a:effectLst/>
              <a:latin typeface="Arial" panose="020B0604020202020204" pitchFamily="34" charset="0"/>
            </a:endParaRPr>
          </a:p>
          <a:p>
            <a:pPr fontAlgn="base">
              <a:buFont typeface="+mj-lt"/>
              <a:buAutoNum type="arabicPeriod"/>
            </a:pPr>
            <a:r>
              <a:rPr lang="he-IL" sz="1800" b="0" i="0" u="none" strike="noStrike" dirty="0">
                <a:solidFill>
                  <a:srgbClr val="000000"/>
                </a:solidFill>
                <a:effectLst/>
                <a:latin typeface="Arial" panose="020B0604020202020204" pitchFamily="34" charset="0"/>
              </a:rPr>
              <a:t>הגדירו משתנה מסוג </a:t>
            </a:r>
            <a:r>
              <a:rPr lang="he-IL" sz="1800" b="0" i="0" u="none" strike="noStrike" dirty="0" err="1">
                <a:solidFill>
                  <a:srgbClr val="000000"/>
                </a:solidFill>
                <a:effectLst/>
                <a:latin typeface="Arial" panose="020B0604020202020204" pitchFamily="34" charset="0"/>
              </a:rPr>
              <a:t>const</a:t>
            </a:r>
            <a:r>
              <a:rPr lang="he-IL" sz="1800" b="0" i="0" u="none" strike="noStrike" dirty="0">
                <a:solidFill>
                  <a:srgbClr val="000000"/>
                </a:solidFill>
                <a:effectLst/>
                <a:latin typeface="Arial" panose="020B0604020202020204" pitchFamily="34" charset="0"/>
              </a:rPr>
              <a:t>  שהערך שלו הוא השם של הבית ספר שלכם, הראו אותו באמצעות הפונקציה </a:t>
            </a:r>
            <a:r>
              <a:rPr lang="en-US" sz="1800" b="0" i="0" u="none" strike="noStrike" dirty="0" err="1">
                <a:solidFill>
                  <a:srgbClr val="000000"/>
                </a:solidFill>
                <a:effectLst/>
                <a:latin typeface="Arial" panose="020B0604020202020204" pitchFamily="34" charset="0"/>
              </a:rPr>
              <a:t>console.log</a:t>
            </a:r>
            <a:r>
              <a:rPr lang="en-US" sz="1800" b="0" i="0" u="none" strike="noStrike" dirty="0">
                <a:solidFill>
                  <a:srgbClr val="000000"/>
                </a:solidFill>
                <a:effectLst/>
                <a:latin typeface="Arial" panose="020B0604020202020204" pitchFamily="34" charset="0"/>
              </a:rPr>
              <a:t>()</a:t>
            </a:r>
          </a:p>
          <a:p>
            <a:pPr algn="r" rtl="1" fontAlgn="base">
              <a:spcBef>
                <a:spcPts val="0"/>
              </a:spcBef>
              <a:spcAft>
                <a:spcPts val="0"/>
              </a:spcAft>
              <a:buFont typeface="+mj-lt"/>
              <a:buAutoNum type="arabicPeriod"/>
            </a:pPr>
            <a:endParaRPr lang="he-IL" sz="1800" b="0" i="0" u="none" strike="noStrike" dirty="0">
              <a:solidFill>
                <a:srgbClr val="000000"/>
              </a:solidFill>
              <a:effectLst/>
              <a:latin typeface="Arial" panose="020B0604020202020204" pitchFamily="34" charset="0"/>
            </a:endParaRPr>
          </a:p>
          <a:p>
            <a:pPr algn="r" rtl="1" fontAlgn="base">
              <a:spcBef>
                <a:spcPts val="0"/>
              </a:spcBef>
              <a:spcAft>
                <a:spcPts val="0"/>
              </a:spcAft>
              <a:buFont typeface="+mj-lt"/>
              <a:buAutoNum type="arabicPeriod"/>
            </a:pPr>
            <a:endParaRPr lang="he-IL" dirty="0">
              <a:solidFill>
                <a:srgbClr val="000000"/>
              </a:solidFill>
              <a:latin typeface="Arial" panose="020B0604020202020204" pitchFamily="34" charset="0"/>
            </a:endParaRPr>
          </a:p>
          <a:p>
            <a:pPr marL="114300" indent="0" fontAlgn="base">
              <a:buNone/>
            </a:pPr>
            <a:r>
              <a:rPr lang="he-IL" sz="1800" dirty="0"/>
              <a:t>תזכורת: (מה לשים בתוכו) = (שם של המשתנה) (פקודה)</a:t>
            </a:r>
            <a:endParaRPr lang="he-IL" dirty="0"/>
          </a:p>
          <a:p>
            <a:pPr marL="114300" indent="0" algn="r" rtl="1" fontAlgn="base">
              <a:spcBef>
                <a:spcPts val="0"/>
              </a:spcBef>
              <a:spcAft>
                <a:spcPts val="0"/>
              </a:spcAft>
              <a:buNone/>
            </a:pPr>
            <a:endParaRPr lang="en-US" sz="18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293403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E3DDA-06B1-DDC1-EFB5-DFDDD949B377}"/>
              </a:ext>
            </a:extLst>
          </p:cNvPr>
          <p:cNvSpPr>
            <a:spLocks noGrp="1"/>
          </p:cNvSpPr>
          <p:nvPr>
            <p:ph type="title"/>
          </p:nvPr>
        </p:nvSpPr>
        <p:spPr/>
        <p:txBody>
          <a:bodyPr>
            <a:normAutofit fontScale="90000"/>
          </a:bodyPr>
          <a:lstStyle/>
          <a:p>
            <a:r>
              <a:rPr lang="he-IL" dirty="0"/>
              <a:t>הצבה במשתנים</a:t>
            </a:r>
            <a:endParaRPr lang="en-IL" dirty="0"/>
          </a:p>
        </p:txBody>
      </p:sp>
      <p:sp>
        <p:nvSpPr>
          <p:cNvPr id="3" name="Text Placeholder 2">
            <a:extLst>
              <a:ext uri="{FF2B5EF4-FFF2-40B4-BE49-F238E27FC236}">
                <a16:creationId xmlns:a16="http://schemas.microsoft.com/office/drawing/2014/main" id="{C485E530-0FBB-4C54-081C-0175C79FCC9B}"/>
              </a:ext>
            </a:extLst>
          </p:cNvPr>
          <p:cNvSpPr>
            <a:spLocks noGrp="1"/>
          </p:cNvSpPr>
          <p:nvPr>
            <p:ph type="body" idx="1"/>
          </p:nvPr>
        </p:nvSpPr>
        <p:spPr/>
        <p:txBody>
          <a:bodyPr/>
          <a:lstStyle/>
          <a:p>
            <a:endParaRPr lang="en-IL" dirty="0"/>
          </a:p>
        </p:txBody>
      </p:sp>
      <p:pic>
        <p:nvPicPr>
          <p:cNvPr id="5" name="Picture 4" descr="A screenshot of a computer&#10;&#10;Description automatically generated">
            <a:extLst>
              <a:ext uri="{FF2B5EF4-FFF2-40B4-BE49-F238E27FC236}">
                <a16:creationId xmlns:a16="http://schemas.microsoft.com/office/drawing/2014/main" id="{C886B715-7D7B-60BE-5BFA-07996415B46C}"/>
              </a:ext>
            </a:extLst>
          </p:cNvPr>
          <p:cNvPicPr>
            <a:picLocks noChangeAspect="1"/>
          </p:cNvPicPr>
          <p:nvPr/>
        </p:nvPicPr>
        <p:blipFill>
          <a:blip r:embed="rId2"/>
          <a:stretch>
            <a:fillRect/>
          </a:stretch>
        </p:blipFill>
        <p:spPr>
          <a:xfrm>
            <a:off x="311699" y="1152475"/>
            <a:ext cx="7261765" cy="3416400"/>
          </a:xfrm>
          <a:prstGeom prst="rect">
            <a:avLst/>
          </a:prstGeom>
        </p:spPr>
      </p:pic>
    </p:spTree>
    <p:extLst>
      <p:ext uri="{BB962C8B-B14F-4D97-AF65-F5344CB8AC3E}">
        <p14:creationId xmlns:p14="http://schemas.microsoft.com/office/powerpoint/2010/main" val="383914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30B3C-5CD8-EE5E-F939-AC9B39B73505}"/>
              </a:ext>
            </a:extLst>
          </p:cNvPr>
          <p:cNvSpPr>
            <a:spLocks noGrp="1"/>
          </p:cNvSpPr>
          <p:nvPr>
            <p:ph type="title"/>
          </p:nvPr>
        </p:nvSpPr>
        <p:spPr/>
        <p:txBody>
          <a:bodyPr>
            <a:normAutofit fontScale="90000"/>
          </a:bodyPr>
          <a:lstStyle/>
          <a:p>
            <a:r>
              <a:rPr lang="he-IL" dirty="0"/>
              <a:t>תרגול</a:t>
            </a:r>
            <a:endParaRPr lang="en-IL" dirty="0"/>
          </a:p>
        </p:txBody>
      </p:sp>
      <p:sp>
        <p:nvSpPr>
          <p:cNvPr id="3" name="Text Placeholder 2">
            <a:extLst>
              <a:ext uri="{FF2B5EF4-FFF2-40B4-BE49-F238E27FC236}">
                <a16:creationId xmlns:a16="http://schemas.microsoft.com/office/drawing/2014/main" id="{56C1DBCB-E5C4-6C6A-EEDE-088432CCF9A1}"/>
              </a:ext>
            </a:extLst>
          </p:cNvPr>
          <p:cNvSpPr>
            <a:spLocks noGrp="1"/>
          </p:cNvSpPr>
          <p:nvPr>
            <p:ph type="body" idx="1"/>
          </p:nvPr>
        </p:nvSpPr>
        <p:spPr/>
        <p:txBody>
          <a:bodyPr/>
          <a:lstStyle/>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מסוג </a:t>
            </a:r>
            <a:r>
              <a:rPr lang="he-IL" dirty="0" err="1">
                <a:solidFill>
                  <a:srgbClr val="000000"/>
                </a:solidFill>
                <a:latin typeface="Arial" panose="020B0604020202020204" pitchFamily="34" charset="0"/>
              </a:rPr>
              <a:t>let</a:t>
            </a:r>
            <a:r>
              <a:rPr lang="he-IL" dirty="0">
                <a:solidFill>
                  <a:srgbClr val="000000"/>
                </a:solidFill>
                <a:latin typeface="Arial" panose="020B0604020202020204" pitchFamily="34" charset="0"/>
              </a:rPr>
              <a:t> מבלי לתת לו ערך</a:t>
            </a:r>
            <a:endParaRPr lang="en-US" sz="1800" b="0" i="0" u="none" strike="noStrike" dirty="0">
              <a:solidFill>
                <a:srgbClr val="000000"/>
              </a:solidFill>
              <a:effectLst/>
              <a:latin typeface="Arial" panose="020B0604020202020204" pitchFamily="34" charset="0"/>
            </a:endParaRPr>
          </a:p>
          <a:p>
            <a:pPr fontAlgn="base">
              <a:buFont typeface="+mj-lt"/>
              <a:buAutoNum type="arabicPeriod"/>
            </a:pPr>
            <a:r>
              <a:rPr lang="he-IL" dirty="0">
                <a:solidFill>
                  <a:srgbClr val="000000"/>
                </a:solidFill>
                <a:latin typeface="Arial" panose="020B0604020202020204" pitchFamily="34" charset="0"/>
              </a:rPr>
              <a:t>הציבו במשתנה שהגדרתם ב-1 ערך – את הגיל שלכם </a:t>
            </a:r>
            <a:r>
              <a:rPr lang="he-IL" dirty="0" err="1">
                <a:solidFill>
                  <a:srgbClr val="000000"/>
                </a:solidFill>
                <a:latin typeface="Arial" panose="020B0604020202020204" pitchFamily="34" charset="0"/>
              </a:rPr>
              <a:t>התריאו</a:t>
            </a:r>
            <a:r>
              <a:rPr lang="he-IL" dirty="0">
                <a:solidFill>
                  <a:srgbClr val="000000"/>
                </a:solidFill>
                <a:latin typeface="Arial" panose="020B0604020202020204" pitchFamily="34" charset="0"/>
              </a:rPr>
              <a:t> אותו למשתמש באמצעות הפונקציה </a:t>
            </a:r>
            <a:r>
              <a:rPr lang="he-IL" sz="1800" b="0" i="0" u="none" strike="noStrike" dirty="0">
                <a:solidFill>
                  <a:srgbClr val="000000"/>
                </a:solidFill>
                <a:effectLst/>
                <a:latin typeface="Arial" panose="020B0604020202020204" pitchFamily="34" charset="0"/>
              </a:rPr>
              <a:t>()</a:t>
            </a:r>
            <a:r>
              <a:rPr lang="he-IL" sz="1800" b="0" i="0" u="none" strike="noStrike" dirty="0" err="1">
                <a:solidFill>
                  <a:srgbClr val="000000"/>
                </a:solidFill>
                <a:effectLst/>
                <a:latin typeface="Arial" panose="020B0604020202020204" pitchFamily="34" charset="0"/>
              </a:rPr>
              <a:t>alert</a:t>
            </a:r>
            <a:endParaRPr lang="en-US" sz="1800" b="0" i="0" u="none" strike="noStrike" dirty="0">
              <a:solidFill>
                <a:srgbClr val="000000"/>
              </a:solidFill>
              <a:effectLst/>
              <a:latin typeface="Arial" panose="020B0604020202020204" pitchFamily="34" charset="0"/>
            </a:endParaRPr>
          </a:p>
          <a:p>
            <a:pPr fontAlgn="base">
              <a:buFont typeface="+mj-lt"/>
              <a:buAutoNum type="arabicPeriod"/>
            </a:pPr>
            <a:r>
              <a:rPr lang="he-IL" sz="1800" b="0" i="0" u="none" strike="noStrike" dirty="0">
                <a:solidFill>
                  <a:srgbClr val="000000"/>
                </a:solidFill>
                <a:effectLst/>
                <a:latin typeface="Arial" panose="020B0604020202020204" pitchFamily="34" charset="0"/>
              </a:rPr>
              <a:t>תיצרו משתנה חדש מסוג </a:t>
            </a:r>
            <a:r>
              <a:rPr lang="he-IL" sz="1800" b="0" i="0" u="none" strike="noStrike" dirty="0" err="1">
                <a:solidFill>
                  <a:srgbClr val="000000"/>
                </a:solidFill>
                <a:effectLst/>
                <a:latin typeface="Arial" panose="020B0604020202020204" pitchFamily="34" charset="0"/>
              </a:rPr>
              <a:t>let</a:t>
            </a:r>
            <a:r>
              <a:rPr lang="he-IL" sz="1800" b="0" i="0" u="none" strike="noStrike" dirty="0">
                <a:solidFill>
                  <a:srgbClr val="000000"/>
                </a:solidFill>
                <a:effectLst/>
                <a:latin typeface="Arial" panose="020B0604020202020204" pitchFamily="34" charset="0"/>
              </a:rPr>
              <a:t>  שהערך שלו הוא השם שלכם, </a:t>
            </a: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אותו למשתמש </a:t>
            </a:r>
            <a:r>
              <a:rPr lang="he-IL" sz="1800" b="0" i="0" u="none" strike="noStrike" dirty="0" err="1">
                <a:solidFill>
                  <a:srgbClr val="000000"/>
                </a:solidFill>
                <a:effectLst/>
                <a:latin typeface="Arial" panose="020B0604020202020204" pitchFamily="34" charset="0"/>
              </a:rPr>
              <a:t>באממצעות</a:t>
            </a:r>
            <a:r>
              <a:rPr lang="he-IL" sz="1800" b="0" i="0" u="none" strike="noStrike" dirty="0">
                <a:solidFill>
                  <a:srgbClr val="000000"/>
                </a:solidFill>
                <a:effectLst/>
                <a:latin typeface="Arial" panose="020B0604020202020204" pitchFamily="34" charset="0"/>
              </a:rPr>
              <a:t> הפונקציה ()</a:t>
            </a:r>
            <a:r>
              <a:rPr lang="he-IL" sz="1800" b="0" i="0" u="none" strike="noStrike" dirty="0" err="1">
                <a:solidFill>
                  <a:srgbClr val="000000"/>
                </a:solidFill>
                <a:effectLst/>
                <a:latin typeface="Arial" panose="020B0604020202020204" pitchFamily="34" charset="0"/>
              </a:rPr>
              <a:t>alert</a:t>
            </a:r>
            <a:endParaRPr lang="en-US" sz="1800" b="0" i="0" u="none" strike="noStrike" dirty="0">
              <a:solidFill>
                <a:srgbClr val="000000"/>
              </a:solidFill>
              <a:effectLst/>
              <a:latin typeface="Arial" panose="020B0604020202020204" pitchFamily="34" charset="0"/>
            </a:endParaRPr>
          </a:p>
          <a:p>
            <a:pPr fontAlgn="base">
              <a:buFont typeface="+mj-lt"/>
              <a:buAutoNum type="arabicPeriod"/>
            </a:pPr>
            <a:r>
              <a:rPr lang="he-IL" sz="1800" b="0" i="0" u="none" strike="noStrike" dirty="0">
                <a:solidFill>
                  <a:srgbClr val="000000"/>
                </a:solidFill>
                <a:effectLst/>
                <a:latin typeface="Arial" panose="020B0604020202020204" pitchFamily="34" charset="0"/>
              </a:rPr>
              <a:t>תיקחו את המשתנה שהגדרתם בסעיף 3 והציבו בערך שלו את המשתנה שיצרתם בסעיף 2. </a:t>
            </a: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את התוצאה למשתמש באמצעות הפונקציה </a:t>
            </a:r>
            <a:r>
              <a:rPr lang="en-US" sz="1800" b="0" i="0" u="none" strike="noStrike" dirty="0" err="1">
                <a:solidFill>
                  <a:srgbClr val="000000"/>
                </a:solidFill>
                <a:effectLst/>
                <a:latin typeface="Arial" panose="020B0604020202020204" pitchFamily="34" charset="0"/>
              </a:rPr>
              <a:t>console.log</a:t>
            </a:r>
            <a:r>
              <a:rPr lang="en-US" sz="1800" b="0" i="0" u="none" strike="noStrike" dirty="0">
                <a:solidFill>
                  <a:srgbClr val="000000"/>
                </a:solidFill>
                <a:effectLst/>
                <a:latin typeface="Arial" panose="020B0604020202020204" pitchFamily="34" charset="0"/>
              </a:rPr>
              <a:t>()</a:t>
            </a:r>
          </a:p>
          <a:p>
            <a:pPr algn="r" rtl="1" fontAlgn="base">
              <a:spcBef>
                <a:spcPts val="0"/>
              </a:spcBef>
              <a:spcAft>
                <a:spcPts val="0"/>
              </a:spcAft>
              <a:buFont typeface="+mj-lt"/>
              <a:buAutoNum type="arabicPeriod"/>
            </a:pPr>
            <a:endParaRPr lang="en-US" sz="1800" b="0" i="0" u="none" strike="noStrike" dirty="0">
              <a:solidFill>
                <a:srgbClr val="000000"/>
              </a:solidFill>
              <a:effectLst/>
              <a:latin typeface="Arial" panose="020B0604020202020204" pitchFamily="34" charset="0"/>
            </a:endParaRPr>
          </a:p>
          <a:p>
            <a:endParaRPr lang="en-IL" dirty="0"/>
          </a:p>
        </p:txBody>
      </p:sp>
    </p:spTree>
    <p:extLst>
      <p:ext uri="{BB962C8B-B14F-4D97-AF65-F5344CB8AC3E}">
        <p14:creationId xmlns:p14="http://schemas.microsoft.com/office/powerpoint/2010/main" val="3894687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03C6-8E62-6893-EE20-62624AD7A7A5}"/>
              </a:ext>
            </a:extLst>
          </p:cNvPr>
          <p:cNvSpPr>
            <a:spLocks noGrp="1"/>
          </p:cNvSpPr>
          <p:nvPr>
            <p:ph type="title"/>
          </p:nvPr>
        </p:nvSpPr>
        <p:spPr/>
        <p:txBody>
          <a:bodyPr>
            <a:normAutofit fontScale="90000"/>
          </a:bodyPr>
          <a:lstStyle/>
          <a:p>
            <a:r>
              <a:rPr lang="he-IL" dirty="0"/>
              <a:t>שימו </a:t>
            </a:r>
            <a:endParaRPr lang="en-IL" dirty="0"/>
          </a:p>
        </p:txBody>
      </p:sp>
      <p:sp>
        <p:nvSpPr>
          <p:cNvPr id="3" name="Text Placeholder 2">
            <a:extLst>
              <a:ext uri="{FF2B5EF4-FFF2-40B4-BE49-F238E27FC236}">
                <a16:creationId xmlns:a16="http://schemas.microsoft.com/office/drawing/2014/main" id="{4B7DE20D-1BF2-CBDB-71FD-691BE0829EAD}"/>
              </a:ext>
            </a:extLst>
          </p:cNvPr>
          <p:cNvSpPr>
            <a:spLocks noGrp="1"/>
          </p:cNvSpPr>
          <p:nvPr>
            <p:ph type="body" idx="1"/>
          </p:nvPr>
        </p:nvSpPr>
        <p:spPr/>
        <p:txBody>
          <a:bodyPr>
            <a:normAutofit/>
          </a:bodyPr>
          <a:lstStyle/>
          <a:p>
            <a:pPr marL="0" lvl="0" indent="0" algn="ctr" rtl="1">
              <a:lnSpc>
                <a:spcPct val="110000"/>
              </a:lnSpc>
              <a:spcBef>
                <a:spcPts val="0"/>
              </a:spcBef>
              <a:spcAft>
                <a:spcPts val="0"/>
              </a:spcAft>
              <a:buSzPct val="100000"/>
              <a:buNone/>
            </a:pPr>
            <a:r>
              <a:rPr lang="en-US" sz="2400" b="1" dirty="0">
                <a:solidFill>
                  <a:schemeClr val="tx1"/>
                </a:solidFill>
              </a:rPr>
              <a:t>let computer = 9</a:t>
            </a:r>
          </a:p>
          <a:p>
            <a:pPr marL="0" lvl="0" indent="0" algn="ctr" rtl="1">
              <a:lnSpc>
                <a:spcPct val="110000"/>
              </a:lnSpc>
              <a:spcBef>
                <a:spcPts val="900"/>
              </a:spcBef>
              <a:spcAft>
                <a:spcPts val="0"/>
              </a:spcAft>
              <a:buSzPct val="100000"/>
              <a:buNone/>
            </a:pPr>
            <a:r>
              <a:rPr lang="en-US" sz="2400" b="1" dirty="0">
                <a:solidFill>
                  <a:schemeClr val="tx1"/>
                </a:solidFill>
              </a:rPr>
              <a:t>let computer = 8</a:t>
            </a:r>
          </a:p>
          <a:p>
            <a:pPr marL="0" lvl="0" indent="0" algn="ctr" rtl="1">
              <a:lnSpc>
                <a:spcPct val="110000"/>
              </a:lnSpc>
              <a:spcBef>
                <a:spcPts val="900"/>
              </a:spcBef>
              <a:spcAft>
                <a:spcPts val="0"/>
              </a:spcAft>
              <a:buSzPct val="100000"/>
              <a:buNone/>
            </a:pPr>
            <a:endParaRPr lang="en-US" sz="2400" b="1" dirty="0">
              <a:solidFill>
                <a:schemeClr val="tx1"/>
              </a:solidFill>
            </a:endParaRPr>
          </a:p>
          <a:p>
            <a:pPr marL="0" lvl="0" indent="0" algn="ctr" rtl="1">
              <a:lnSpc>
                <a:spcPct val="110000"/>
              </a:lnSpc>
              <a:spcBef>
                <a:spcPts val="900"/>
              </a:spcBef>
              <a:spcAft>
                <a:spcPts val="0"/>
              </a:spcAft>
              <a:buSzPct val="100000"/>
              <a:buNone/>
            </a:pPr>
            <a:r>
              <a:rPr lang="he-IL" sz="2400" b="1" dirty="0">
                <a:solidFill>
                  <a:schemeClr val="tx1"/>
                </a:solidFill>
              </a:rPr>
              <a:t>אי אפשר לתת פקודה למחשב שייצר אותו משתנה פעמיים</a:t>
            </a:r>
          </a:p>
          <a:p>
            <a:pPr marL="0" lvl="0" indent="0" algn="ctr" rtl="1">
              <a:lnSpc>
                <a:spcPct val="110000"/>
              </a:lnSpc>
              <a:spcBef>
                <a:spcPts val="900"/>
              </a:spcBef>
              <a:spcAft>
                <a:spcPts val="0"/>
              </a:spcAft>
              <a:buSzPct val="100000"/>
              <a:buNone/>
            </a:pPr>
            <a:r>
              <a:rPr lang="he-IL" sz="2400" b="1" dirty="0">
                <a:solidFill>
                  <a:schemeClr val="tx1"/>
                </a:solidFill>
              </a:rPr>
              <a:t>יש לכם רעיון למה?</a:t>
            </a:r>
          </a:p>
          <a:p>
            <a:endParaRPr lang="en-IL" sz="2400" dirty="0">
              <a:solidFill>
                <a:schemeClr val="tx1"/>
              </a:solidFill>
            </a:endParaRPr>
          </a:p>
        </p:txBody>
      </p:sp>
      <p:sp>
        <p:nvSpPr>
          <p:cNvPr id="4" name="Heart 3">
            <a:extLst>
              <a:ext uri="{FF2B5EF4-FFF2-40B4-BE49-F238E27FC236}">
                <a16:creationId xmlns:a16="http://schemas.microsoft.com/office/drawing/2014/main" id="{EF740476-F000-8C2F-C56D-FA14999F012F}"/>
              </a:ext>
            </a:extLst>
          </p:cNvPr>
          <p:cNvSpPr/>
          <p:nvPr/>
        </p:nvSpPr>
        <p:spPr>
          <a:xfrm>
            <a:off x="7423688" y="514399"/>
            <a:ext cx="557939" cy="433952"/>
          </a:xfrm>
          <a:prstGeom prst="hear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algn="ctr" rtl="1">
              <a:lnSpc>
                <a:spcPct val="100000"/>
              </a:lnSpc>
              <a:spcBef>
                <a:spcPts val="0"/>
              </a:spcBef>
              <a:spcAft>
                <a:spcPts val="0"/>
              </a:spcAft>
              <a:buClr>
                <a:srgbClr val="000000"/>
              </a:buClr>
              <a:buFont typeface="Arial"/>
            </a:pPr>
            <a:endParaRPr lang="en-IL" b="1" dirty="0">
              <a:ln w="22225">
                <a:solidFill>
                  <a:schemeClr val="accent2"/>
                </a:solidFill>
                <a:prstDash val="solid"/>
              </a:ln>
              <a:solidFill>
                <a:schemeClr val="accent2">
                  <a:lumMod val="40000"/>
                  <a:lumOff val="60000"/>
                </a:schemeClr>
              </a:solidFill>
            </a:endParaRPr>
          </a:p>
        </p:txBody>
      </p:sp>
      <p:sp>
        <p:nvSpPr>
          <p:cNvPr id="5" name="TextBox 4">
            <a:extLst>
              <a:ext uri="{FF2B5EF4-FFF2-40B4-BE49-F238E27FC236}">
                <a16:creationId xmlns:a16="http://schemas.microsoft.com/office/drawing/2014/main" id="{0CC444BF-D76E-3688-C209-723A9D0B8A5C}"/>
              </a:ext>
            </a:extLst>
          </p:cNvPr>
          <p:cNvSpPr txBox="1"/>
          <p:nvPr/>
        </p:nvSpPr>
        <p:spPr>
          <a:xfrm>
            <a:off x="-4572000" y="-3471620"/>
            <a:ext cx="184731" cy="307777"/>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pPr marR="0" algn="r" rtl="1">
              <a:lnSpc>
                <a:spcPct val="100000"/>
              </a:lnSpc>
              <a:spcBef>
                <a:spcPts val="0"/>
              </a:spcBef>
              <a:spcAft>
                <a:spcPts val="0"/>
              </a:spcAft>
              <a:buClr>
                <a:srgbClr val="000000"/>
              </a:buClr>
              <a:buFont typeface="Arial"/>
            </a:pPr>
            <a:endParaRPr lang="en-IL" dirty="0"/>
          </a:p>
        </p:txBody>
      </p:sp>
    </p:spTree>
    <p:extLst>
      <p:ext uri="{BB962C8B-B14F-4D97-AF65-F5344CB8AC3E}">
        <p14:creationId xmlns:p14="http://schemas.microsoft.com/office/powerpoint/2010/main" val="275078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74A3E5-F3C9-4E5B-7C3C-1D8DE204D569}"/>
              </a:ext>
            </a:extLst>
          </p:cNvPr>
          <p:cNvSpPr>
            <a:spLocks noGrp="1"/>
          </p:cNvSpPr>
          <p:nvPr>
            <p:ph type="body" idx="1"/>
          </p:nvPr>
        </p:nvSpPr>
        <p:spPr/>
        <p:txBody>
          <a:bodyPr/>
          <a:lstStyle/>
          <a:p>
            <a:pPr marL="0" lvl="0" indent="0" rtl="1">
              <a:lnSpc>
                <a:spcPct val="110000"/>
              </a:lnSpc>
              <a:spcBef>
                <a:spcPts val="0"/>
              </a:spcBef>
              <a:spcAft>
                <a:spcPts val="0"/>
              </a:spcAft>
              <a:buSzPts val="3600"/>
              <a:buNone/>
            </a:pPr>
            <a:r>
              <a:rPr lang="he-IL" sz="2800" b="1" dirty="0">
                <a:solidFill>
                  <a:schemeClr val="tx1"/>
                </a:solidFill>
              </a:rPr>
              <a:t>מה ההבדל?</a:t>
            </a:r>
            <a:endParaRPr lang="he-IL" b="1" dirty="0">
              <a:solidFill>
                <a:schemeClr val="tx1"/>
              </a:solidFill>
            </a:endParaRPr>
          </a:p>
          <a:p>
            <a:pPr marL="0" lvl="0" indent="0" algn="ctr" rtl="1">
              <a:lnSpc>
                <a:spcPct val="110000"/>
              </a:lnSpc>
              <a:spcBef>
                <a:spcPts val="0"/>
              </a:spcBef>
              <a:spcAft>
                <a:spcPts val="0"/>
              </a:spcAft>
              <a:buSzPts val="3600"/>
              <a:buNone/>
            </a:pPr>
            <a:r>
              <a:rPr lang="en-US" sz="3200" b="1" dirty="0">
                <a:solidFill>
                  <a:schemeClr val="tx1"/>
                </a:solidFill>
              </a:rPr>
              <a:t>let number = 3</a:t>
            </a:r>
            <a:endParaRPr lang="en-US" b="1" dirty="0">
              <a:solidFill>
                <a:schemeClr val="tx1"/>
              </a:solidFill>
            </a:endParaRPr>
          </a:p>
          <a:p>
            <a:pPr marL="0" lvl="0" indent="0" algn="ctr" rtl="1">
              <a:lnSpc>
                <a:spcPct val="110000"/>
              </a:lnSpc>
              <a:spcBef>
                <a:spcPts val="900"/>
              </a:spcBef>
              <a:spcAft>
                <a:spcPts val="0"/>
              </a:spcAft>
              <a:buSzPts val="3600"/>
              <a:buNone/>
            </a:pPr>
            <a:r>
              <a:rPr lang="en-US" sz="3200" b="1" dirty="0">
                <a:solidFill>
                  <a:schemeClr val="tx1"/>
                </a:solidFill>
              </a:rPr>
              <a:t>const number = 3</a:t>
            </a:r>
            <a:endParaRPr lang="en-US" b="1" dirty="0">
              <a:solidFill>
                <a:schemeClr val="tx1"/>
              </a:solidFill>
            </a:endParaRPr>
          </a:p>
          <a:p>
            <a:pPr marL="0" lvl="0" indent="0" algn="ctr" rtl="1">
              <a:lnSpc>
                <a:spcPct val="110000"/>
              </a:lnSpc>
              <a:spcBef>
                <a:spcPts val="900"/>
              </a:spcBef>
              <a:spcAft>
                <a:spcPts val="0"/>
              </a:spcAft>
              <a:buSzPts val="3600"/>
              <a:buNone/>
            </a:pPr>
            <a:endParaRPr lang="en-US" sz="3200" dirty="0"/>
          </a:p>
          <a:p>
            <a:endParaRPr lang="en-IL" dirty="0"/>
          </a:p>
        </p:txBody>
      </p:sp>
      <p:sp>
        <p:nvSpPr>
          <p:cNvPr id="4" name="Title 1">
            <a:extLst>
              <a:ext uri="{FF2B5EF4-FFF2-40B4-BE49-F238E27FC236}">
                <a16:creationId xmlns:a16="http://schemas.microsoft.com/office/drawing/2014/main" id="{8124025F-95BE-71A5-64E3-BDE6552990C7}"/>
              </a:ext>
            </a:extLst>
          </p:cNvPr>
          <p:cNvSpPr txBox="1">
            <a:spLocks/>
          </p:cNvSpPr>
          <p:nvPr/>
        </p:nvSpPr>
        <p:spPr>
          <a:xfrm>
            <a:off x="311700" y="47771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r" rtl="1">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he-IL" dirty="0"/>
              <a:t>שימו </a:t>
            </a:r>
            <a:endParaRPr lang="en-IL" dirty="0"/>
          </a:p>
        </p:txBody>
      </p:sp>
      <p:sp>
        <p:nvSpPr>
          <p:cNvPr id="5" name="Heart 4">
            <a:extLst>
              <a:ext uri="{FF2B5EF4-FFF2-40B4-BE49-F238E27FC236}">
                <a16:creationId xmlns:a16="http://schemas.microsoft.com/office/drawing/2014/main" id="{5A711FF2-E31A-B355-1CF6-C6A676FA723A}"/>
              </a:ext>
            </a:extLst>
          </p:cNvPr>
          <p:cNvSpPr/>
          <p:nvPr/>
        </p:nvSpPr>
        <p:spPr>
          <a:xfrm>
            <a:off x="7423688" y="514399"/>
            <a:ext cx="557939" cy="433952"/>
          </a:xfrm>
          <a:prstGeom prst="hear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algn="ctr" rtl="1">
              <a:lnSpc>
                <a:spcPct val="100000"/>
              </a:lnSpc>
              <a:spcBef>
                <a:spcPts val="0"/>
              </a:spcBef>
              <a:spcAft>
                <a:spcPts val="0"/>
              </a:spcAft>
              <a:buClr>
                <a:srgbClr val="000000"/>
              </a:buClr>
              <a:buFont typeface="Arial"/>
            </a:pPr>
            <a:endParaRPr lang="en-IL"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07737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03C6-8E62-6893-EE20-62624AD7A7A5}"/>
              </a:ext>
            </a:extLst>
          </p:cNvPr>
          <p:cNvSpPr>
            <a:spLocks noGrp="1"/>
          </p:cNvSpPr>
          <p:nvPr>
            <p:ph type="title"/>
          </p:nvPr>
        </p:nvSpPr>
        <p:spPr/>
        <p:txBody>
          <a:bodyPr>
            <a:normAutofit fontScale="90000"/>
          </a:bodyPr>
          <a:lstStyle/>
          <a:p>
            <a:r>
              <a:rPr lang="he-IL" dirty="0"/>
              <a:t>שימו </a:t>
            </a:r>
            <a:endParaRPr lang="en-IL" dirty="0"/>
          </a:p>
        </p:txBody>
      </p:sp>
      <p:sp>
        <p:nvSpPr>
          <p:cNvPr id="3" name="Text Placeholder 2">
            <a:extLst>
              <a:ext uri="{FF2B5EF4-FFF2-40B4-BE49-F238E27FC236}">
                <a16:creationId xmlns:a16="http://schemas.microsoft.com/office/drawing/2014/main" id="{4B7DE20D-1BF2-CBDB-71FD-691BE0829EAD}"/>
              </a:ext>
            </a:extLst>
          </p:cNvPr>
          <p:cNvSpPr>
            <a:spLocks noGrp="1"/>
          </p:cNvSpPr>
          <p:nvPr>
            <p:ph type="body" idx="1"/>
          </p:nvPr>
        </p:nvSpPr>
        <p:spPr/>
        <p:txBody>
          <a:bodyPr>
            <a:normAutofit/>
          </a:bodyPr>
          <a:lstStyle/>
          <a:p>
            <a:pPr marL="0" marR="0" lvl="0" indent="0" algn="ctr" rtl="1">
              <a:lnSpc>
                <a:spcPct val="100000"/>
              </a:lnSpc>
              <a:spcBef>
                <a:spcPts val="0"/>
              </a:spcBef>
              <a:spcAft>
                <a:spcPts val="0"/>
              </a:spcAft>
              <a:buClr>
                <a:srgbClr val="000000"/>
              </a:buClr>
              <a:buSzPts val="3600"/>
              <a:buFont typeface="Garamond"/>
              <a:buNone/>
            </a:pPr>
            <a:r>
              <a:rPr lang="he-IL" sz="2800" b="1" i="0" u="none" strike="noStrike" cap="none" dirty="0">
                <a:solidFill>
                  <a:srgbClr val="000000"/>
                </a:solidFill>
                <a:latin typeface="Arial"/>
                <a:ea typeface="Arial"/>
                <a:cs typeface="Arial"/>
                <a:sym typeface="Arial"/>
              </a:rPr>
              <a:t>בשלב הראשון למדנו שתי שיטות פלט</a:t>
            </a:r>
            <a:endParaRPr lang="he-IL" sz="2800" b="1" dirty="0"/>
          </a:p>
          <a:p>
            <a:pPr marL="0" marR="0" lvl="0" indent="0" algn="ctr" rtl="1">
              <a:lnSpc>
                <a:spcPct val="100000"/>
              </a:lnSpc>
              <a:spcBef>
                <a:spcPts val="0"/>
              </a:spcBef>
              <a:spcAft>
                <a:spcPts val="0"/>
              </a:spcAft>
              <a:buClr>
                <a:srgbClr val="000000"/>
              </a:buClr>
              <a:buSzPts val="3600"/>
              <a:buFont typeface="Garamond"/>
              <a:buNone/>
            </a:pPr>
            <a:r>
              <a:rPr lang="en-US" sz="2800" b="1" i="0" u="none" strike="noStrike" cap="none" dirty="0">
                <a:solidFill>
                  <a:srgbClr val="000000"/>
                </a:solidFill>
                <a:latin typeface="Arial"/>
                <a:ea typeface="Arial"/>
                <a:cs typeface="Arial"/>
                <a:sym typeface="Arial"/>
              </a:rPr>
              <a:t>alert()</a:t>
            </a:r>
            <a:endParaRPr lang="en-US" sz="2800" b="1" i="0" u="none" strike="noStrike" cap="none" dirty="0">
              <a:solidFill>
                <a:srgbClr val="000000"/>
              </a:solidFill>
              <a:latin typeface="Arimo"/>
              <a:ea typeface="Arimo"/>
              <a:cs typeface="Arimo"/>
              <a:sym typeface="Arimo"/>
            </a:endParaRPr>
          </a:p>
          <a:p>
            <a:pPr marL="0" marR="0" lvl="0" indent="0" algn="ctr" rtl="1">
              <a:lnSpc>
                <a:spcPct val="100000"/>
              </a:lnSpc>
              <a:spcBef>
                <a:spcPts val="0"/>
              </a:spcBef>
              <a:spcAft>
                <a:spcPts val="0"/>
              </a:spcAft>
              <a:buClr>
                <a:srgbClr val="000000"/>
              </a:buClr>
              <a:buSzPts val="3600"/>
              <a:buFont typeface="Garamond"/>
              <a:buNone/>
            </a:pPr>
            <a:r>
              <a:rPr lang="en-US" sz="2800" b="1" i="0" u="none" strike="noStrike" cap="none" dirty="0">
                <a:solidFill>
                  <a:srgbClr val="000000"/>
                </a:solidFill>
                <a:latin typeface="Arial"/>
                <a:ea typeface="Arial"/>
                <a:cs typeface="Arial"/>
                <a:sym typeface="Arial"/>
              </a:rPr>
              <a:t> </a:t>
            </a:r>
            <a:r>
              <a:rPr lang="he-IL" sz="2800" b="1" i="0" u="none" strike="noStrike" cap="none" dirty="0">
                <a:solidFill>
                  <a:srgbClr val="000000"/>
                </a:solidFill>
                <a:latin typeface="Arial"/>
                <a:ea typeface="Arial"/>
                <a:cs typeface="Arial"/>
                <a:sym typeface="Arial"/>
              </a:rPr>
              <a:t>ו- ()</a:t>
            </a:r>
            <a:r>
              <a:rPr lang="en-US" sz="2800" b="1" i="0" u="none" strike="noStrike" cap="none" dirty="0" err="1">
                <a:solidFill>
                  <a:srgbClr val="000000"/>
                </a:solidFill>
                <a:latin typeface="Arimo"/>
                <a:ea typeface="Arimo"/>
                <a:cs typeface="Arimo"/>
                <a:sym typeface="Arimo"/>
              </a:rPr>
              <a:t>console.log</a:t>
            </a:r>
            <a:endParaRPr lang="en-US" sz="2800" b="1" dirty="0"/>
          </a:p>
          <a:p>
            <a:pPr marL="0" marR="0" lvl="0" indent="0" algn="ctr" rtl="1">
              <a:lnSpc>
                <a:spcPct val="100000"/>
              </a:lnSpc>
              <a:spcBef>
                <a:spcPts val="0"/>
              </a:spcBef>
              <a:spcAft>
                <a:spcPts val="0"/>
              </a:spcAft>
              <a:buClr>
                <a:schemeClr val="dk1"/>
              </a:buClr>
              <a:buSzPts val="3600"/>
              <a:buFont typeface="Garamond"/>
              <a:buNone/>
            </a:pPr>
            <a:endParaRPr lang="en-US" sz="2800" b="1" i="0" u="none" strike="noStrike" cap="none" dirty="0">
              <a:solidFill>
                <a:srgbClr val="000000"/>
              </a:solidFill>
              <a:latin typeface="Arimo"/>
              <a:ea typeface="Arimo"/>
              <a:cs typeface="Arimo"/>
              <a:sym typeface="Arimo"/>
            </a:endParaRPr>
          </a:p>
          <a:p>
            <a:pPr marL="0" marR="0" lvl="0" indent="0" algn="ctr" rtl="1">
              <a:lnSpc>
                <a:spcPct val="100000"/>
              </a:lnSpc>
              <a:spcBef>
                <a:spcPts val="0"/>
              </a:spcBef>
              <a:spcAft>
                <a:spcPts val="0"/>
              </a:spcAft>
              <a:buClr>
                <a:srgbClr val="000000"/>
              </a:buClr>
              <a:buSzPts val="3600"/>
              <a:buFont typeface="Garamond"/>
              <a:buNone/>
            </a:pPr>
            <a:r>
              <a:rPr lang="he-IL" sz="2800" b="1" i="0" u="none" strike="noStrike" cap="none" dirty="0">
                <a:solidFill>
                  <a:srgbClr val="000000"/>
                </a:solidFill>
                <a:latin typeface="Arimo"/>
                <a:ea typeface="Arimo"/>
                <a:cs typeface="Arimo"/>
                <a:sym typeface="Arimo"/>
              </a:rPr>
              <a:t>מה ההבדל ביניהם?</a:t>
            </a:r>
            <a:endParaRPr lang="he-IL" sz="2800" b="1" i="0" u="none" strike="noStrike" cap="none" dirty="0">
              <a:solidFill>
                <a:schemeClr val="dk1"/>
              </a:solidFill>
              <a:latin typeface="Arial"/>
              <a:ea typeface="Arial"/>
              <a:cs typeface="Arial"/>
              <a:sym typeface="Arial"/>
            </a:endParaRPr>
          </a:p>
        </p:txBody>
      </p:sp>
      <p:sp>
        <p:nvSpPr>
          <p:cNvPr id="4" name="Heart 3">
            <a:extLst>
              <a:ext uri="{FF2B5EF4-FFF2-40B4-BE49-F238E27FC236}">
                <a16:creationId xmlns:a16="http://schemas.microsoft.com/office/drawing/2014/main" id="{EF740476-F000-8C2F-C56D-FA14999F012F}"/>
              </a:ext>
            </a:extLst>
          </p:cNvPr>
          <p:cNvSpPr/>
          <p:nvPr/>
        </p:nvSpPr>
        <p:spPr>
          <a:xfrm>
            <a:off x="7423688" y="514399"/>
            <a:ext cx="557939" cy="433952"/>
          </a:xfrm>
          <a:prstGeom prst="hear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algn="ctr" rtl="1">
              <a:lnSpc>
                <a:spcPct val="100000"/>
              </a:lnSpc>
              <a:spcBef>
                <a:spcPts val="0"/>
              </a:spcBef>
              <a:spcAft>
                <a:spcPts val="0"/>
              </a:spcAft>
              <a:buClr>
                <a:srgbClr val="000000"/>
              </a:buClr>
              <a:buFont typeface="Arial"/>
            </a:pPr>
            <a:endParaRPr lang="en-IL" b="1">
              <a:ln w="22225">
                <a:solidFill>
                  <a:schemeClr val="accent2"/>
                </a:solidFill>
                <a:prstDash val="solid"/>
              </a:ln>
              <a:solidFill>
                <a:schemeClr val="accent2">
                  <a:lumMod val="40000"/>
                  <a:lumOff val="60000"/>
                </a:schemeClr>
              </a:solidFill>
            </a:endParaRPr>
          </a:p>
        </p:txBody>
      </p:sp>
      <p:sp>
        <p:nvSpPr>
          <p:cNvPr id="5" name="TextBox 4">
            <a:extLst>
              <a:ext uri="{FF2B5EF4-FFF2-40B4-BE49-F238E27FC236}">
                <a16:creationId xmlns:a16="http://schemas.microsoft.com/office/drawing/2014/main" id="{0CC444BF-D76E-3688-C209-723A9D0B8A5C}"/>
              </a:ext>
            </a:extLst>
          </p:cNvPr>
          <p:cNvSpPr txBox="1"/>
          <p:nvPr/>
        </p:nvSpPr>
        <p:spPr>
          <a:xfrm>
            <a:off x="-4572000" y="-3471620"/>
            <a:ext cx="184731" cy="307777"/>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pPr marR="0" algn="r" rtl="1">
              <a:lnSpc>
                <a:spcPct val="100000"/>
              </a:lnSpc>
              <a:spcBef>
                <a:spcPts val="0"/>
              </a:spcBef>
              <a:spcAft>
                <a:spcPts val="0"/>
              </a:spcAft>
              <a:buClr>
                <a:srgbClr val="000000"/>
              </a:buClr>
              <a:buFont typeface="Arial"/>
            </a:pPr>
            <a:endParaRPr lang="en-IL" dirty="0"/>
          </a:p>
        </p:txBody>
      </p:sp>
    </p:spTree>
    <p:extLst>
      <p:ext uri="{BB962C8B-B14F-4D97-AF65-F5344CB8AC3E}">
        <p14:creationId xmlns:p14="http://schemas.microsoft.com/office/powerpoint/2010/main" val="3217785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03C6-8E62-6893-EE20-62624AD7A7A5}"/>
              </a:ext>
            </a:extLst>
          </p:cNvPr>
          <p:cNvSpPr>
            <a:spLocks noGrp="1"/>
          </p:cNvSpPr>
          <p:nvPr>
            <p:ph type="title"/>
          </p:nvPr>
        </p:nvSpPr>
        <p:spPr/>
        <p:txBody>
          <a:bodyPr>
            <a:normAutofit fontScale="90000"/>
          </a:bodyPr>
          <a:lstStyle/>
          <a:p>
            <a:r>
              <a:rPr lang="he-IL" dirty="0"/>
              <a:t>שימו </a:t>
            </a:r>
            <a:endParaRPr lang="en-IL" dirty="0"/>
          </a:p>
        </p:txBody>
      </p:sp>
      <p:sp>
        <p:nvSpPr>
          <p:cNvPr id="3" name="Text Placeholder 2">
            <a:extLst>
              <a:ext uri="{FF2B5EF4-FFF2-40B4-BE49-F238E27FC236}">
                <a16:creationId xmlns:a16="http://schemas.microsoft.com/office/drawing/2014/main" id="{4B7DE20D-1BF2-CBDB-71FD-691BE0829EAD}"/>
              </a:ext>
            </a:extLst>
          </p:cNvPr>
          <p:cNvSpPr>
            <a:spLocks noGrp="1"/>
          </p:cNvSpPr>
          <p:nvPr>
            <p:ph type="body" idx="1"/>
          </p:nvPr>
        </p:nvSpPr>
        <p:spPr>
          <a:xfrm>
            <a:off x="5146688" y="1255363"/>
            <a:ext cx="3437641" cy="3291502"/>
          </a:xfrm>
        </p:spPr>
        <p:txBody>
          <a:bodyPr>
            <a:normAutofit/>
          </a:bodyPr>
          <a:lstStyle/>
          <a:p>
            <a:pPr marL="114300" indent="0">
              <a:buNone/>
            </a:pPr>
            <a:r>
              <a:rPr lang="he-IL" sz="2000" b="1" i="0" dirty="0">
                <a:solidFill>
                  <a:srgbClr val="000000"/>
                </a:solidFill>
                <a:effectLst/>
                <a:latin typeface="-apple-system"/>
              </a:rPr>
              <a:t>שגיאות - מה הטעות בכל אחד מהקטעים הבאים? נסו לתקן אותה</a:t>
            </a:r>
          </a:p>
          <a:p>
            <a:pPr marL="114300" indent="0" rtl="0">
              <a:buNone/>
            </a:pPr>
            <a:br>
              <a:rPr lang="he-IL" sz="2000" b="0" i="0" dirty="0">
                <a:solidFill>
                  <a:srgbClr val="000000"/>
                </a:solidFill>
                <a:effectLst/>
                <a:highlight>
                  <a:srgbClr val="EEEEEE"/>
                </a:highlight>
                <a:latin typeface="-apple-system"/>
              </a:rPr>
            </a:br>
            <a:endParaRPr lang="he-IL" sz="2000" b="0" i="0" dirty="0">
              <a:solidFill>
                <a:srgbClr val="000000"/>
              </a:solidFill>
              <a:effectLst/>
              <a:highlight>
                <a:srgbClr val="EEEEEE"/>
              </a:highlight>
              <a:latin typeface="-apple-system"/>
            </a:endParaRPr>
          </a:p>
        </p:txBody>
      </p:sp>
      <p:sp>
        <p:nvSpPr>
          <p:cNvPr id="4" name="Heart 3">
            <a:extLst>
              <a:ext uri="{FF2B5EF4-FFF2-40B4-BE49-F238E27FC236}">
                <a16:creationId xmlns:a16="http://schemas.microsoft.com/office/drawing/2014/main" id="{EF740476-F000-8C2F-C56D-FA14999F012F}"/>
              </a:ext>
            </a:extLst>
          </p:cNvPr>
          <p:cNvSpPr/>
          <p:nvPr/>
        </p:nvSpPr>
        <p:spPr>
          <a:xfrm>
            <a:off x="7423688" y="514399"/>
            <a:ext cx="557939" cy="433952"/>
          </a:xfrm>
          <a:prstGeom prst="hear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algn="ctr" rtl="1">
              <a:lnSpc>
                <a:spcPct val="100000"/>
              </a:lnSpc>
              <a:spcBef>
                <a:spcPts val="0"/>
              </a:spcBef>
              <a:spcAft>
                <a:spcPts val="0"/>
              </a:spcAft>
              <a:buClr>
                <a:srgbClr val="000000"/>
              </a:buClr>
              <a:buFont typeface="Arial"/>
            </a:pPr>
            <a:endParaRPr lang="en-IL" b="1">
              <a:ln w="22225">
                <a:solidFill>
                  <a:schemeClr val="accent2"/>
                </a:solidFill>
                <a:prstDash val="solid"/>
              </a:ln>
              <a:solidFill>
                <a:schemeClr val="accent2">
                  <a:lumMod val="40000"/>
                  <a:lumOff val="60000"/>
                </a:schemeClr>
              </a:solidFill>
            </a:endParaRPr>
          </a:p>
        </p:txBody>
      </p:sp>
      <p:sp>
        <p:nvSpPr>
          <p:cNvPr id="5" name="TextBox 4">
            <a:extLst>
              <a:ext uri="{FF2B5EF4-FFF2-40B4-BE49-F238E27FC236}">
                <a16:creationId xmlns:a16="http://schemas.microsoft.com/office/drawing/2014/main" id="{0CC444BF-D76E-3688-C209-723A9D0B8A5C}"/>
              </a:ext>
            </a:extLst>
          </p:cNvPr>
          <p:cNvSpPr txBox="1"/>
          <p:nvPr/>
        </p:nvSpPr>
        <p:spPr>
          <a:xfrm>
            <a:off x="-4572000" y="-3471620"/>
            <a:ext cx="184731" cy="307777"/>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pPr marR="0" algn="r" rtl="1">
              <a:lnSpc>
                <a:spcPct val="100000"/>
              </a:lnSpc>
              <a:spcBef>
                <a:spcPts val="0"/>
              </a:spcBef>
              <a:spcAft>
                <a:spcPts val="0"/>
              </a:spcAft>
              <a:buClr>
                <a:srgbClr val="000000"/>
              </a:buClr>
              <a:buFont typeface="Arial"/>
            </a:pPr>
            <a:endParaRPr lang="en-IL" dirty="0"/>
          </a:p>
        </p:txBody>
      </p:sp>
      <p:pic>
        <p:nvPicPr>
          <p:cNvPr id="8" name="Picture 7" descr="A screenshot of a computer&#10;&#10;Description automatically generated">
            <a:extLst>
              <a:ext uri="{FF2B5EF4-FFF2-40B4-BE49-F238E27FC236}">
                <a16:creationId xmlns:a16="http://schemas.microsoft.com/office/drawing/2014/main" id="{0B4B0B34-B5D7-8AF1-9BA1-DC45F103E88D}"/>
              </a:ext>
            </a:extLst>
          </p:cNvPr>
          <p:cNvPicPr>
            <a:picLocks noChangeAspect="1"/>
          </p:cNvPicPr>
          <p:nvPr/>
        </p:nvPicPr>
        <p:blipFill rotWithShape="1">
          <a:blip r:embed="rId2"/>
          <a:srcRect l="1" r="45904"/>
          <a:stretch/>
        </p:blipFill>
        <p:spPr>
          <a:xfrm>
            <a:off x="738562" y="1115912"/>
            <a:ext cx="3437641" cy="3570404"/>
          </a:xfrm>
          <a:prstGeom prst="rect">
            <a:avLst/>
          </a:prstGeom>
          <a:ln w="98425">
            <a:solidFill>
              <a:schemeClr val="accent2">
                <a:lumMod val="90000"/>
                <a:lumOff val="10000"/>
              </a:schemeClr>
            </a:solidFill>
          </a:ln>
        </p:spPr>
      </p:pic>
    </p:spTree>
    <p:extLst>
      <p:ext uri="{BB962C8B-B14F-4D97-AF65-F5344CB8AC3E}">
        <p14:creationId xmlns:p14="http://schemas.microsoft.com/office/powerpoint/2010/main" val="326498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8A556-08AC-0377-8B54-A5975E443E77}"/>
              </a:ext>
            </a:extLst>
          </p:cNvPr>
          <p:cNvSpPr>
            <a:spLocks noGrp="1"/>
          </p:cNvSpPr>
          <p:nvPr>
            <p:ph type="title"/>
          </p:nvPr>
        </p:nvSpPr>
        <p:spPr/>
        <p:txBody>
          <a:bodyPr>
            <a:normAutofit fontScale="90000"/>
          </a:bodyPr>
          <a:lstStyle/>
          <a:p>
            <a:r>
              <a:rPr lang="he-IL" dirty="0"/>
              <a:t>קלט ואופרטורים</a:t>
            </a:r>
            <a:endParaRPr lang="en-IL" dirty="0"/>
          </a:p>
        </p:txBody>
      </p:sp>
      <p:sp>
        <p:nvSpPr>
          <p:cNvPr id="3" name="Text Placeholder 2">
            <a:extLst>
              <a:ext uri="{FF2B5EF4-FFF2-40B4-BE49-F238E27FC236}">
                <a16:creationId xmlns:a16="http://schemas.microsoft.com/office/drawing/2014/main" id="{571A7B88-AEA7-9040-40EA-B226F1BF2817}"/>
              </a:ext>
            </a:extLst>
          </p:cNvPr>
          <p:cNvSpPr>
            <a:spLocks noGrp="1"/>
          </p:cNvSpPr>
          <p:nvPr>
            <p:ph type="body" idx="1"/>
          </p:nvPr>
        </p:nvSpPr>
        <p:spPr/>
        <p:txBody>
          <a:bodyPr>
            <a:normAutofit lnSpcReduction="10000"/>
          </a:bodyPr>
          <a:lstStyle/>
          <a:p>
            <a:r>
              <a:rPr lang="he-IL" sz="2000" dirty="0">
                <a:solidFill>
                  <a:schemeClr val="tx1"/>
                </a:solidFill>
              </a:rPr>
              <a:t>בשלב הראשון למדנו שתי שיטות פלט (</a:t>
            </a:r>
            <a:r>
              <a:rPr lang="en-US" sz="2000" dirty="0">
                <a:solidFill>
                  <a:schemeClr val="tx1"/>
                </a:solidFill>
              </a:rPr>
              <a:t>alert() </a:t>
            </a:r>
            <a:r>
              <a:rPr lang="he-IL" sz="2000" dirty="0">
                <a:solidFill>
                  <a:schemeClr val="tx1"/>
                </a:solidFill>
              </a:rPr>
              <a:t>ו- </a:t>
            </a:r>
            <a:r>
              <a:rPr lang="en-US" sz="2000" dirty="0" err="1">
                <a:solidFill>
                  <a:schemeClr val="tx1"/>
                </a:solidFill>
              </a:rPr>
              <a:t>console.log</a:t>
            </a:r>
            <a:r>
              <a:rPr lang="en-US" sz="2000" dirty="0">
                <a:solidFill>
                  <a:schemeClr val="tx1"/>
                </a:solidFill>
              </a:rPr>
              <a:t>().</a:t>
            </a:r>
          </a:p>
          <a:p>
            <a:r>
              <a:rPr lang="he-IL" sz="2000" dirty="0">
                <a:solidFill>
                  <a:schemeClr val="tx1"/>
                </a:solidFill>
              </a:rPr>
              <a:t>עכשיו נכיר את השיטה הראשונה לקלט - </a:t>
            </a:r>
            <a:r>
              <a:rPr lang="en-US" sz="2000" dirty="0">
                <a:solidFill>
                  <a:schemeClr val="tx1"/>
                </a:solidFill>
              </a:rPr>
              <a:t>prompt()</a:t>
            </a:r>
            <a:endParaRPr lang="he-IL" sz="2000" dirty="0">
              <a:solidFill>
                <a:schemeClr val="tx1"/>
              </a:solidFill>
            </a:endParaRPr>
          </a:p>
          <a:p>
            <a:endParaRPr lang="he-IL" sz="2000" dirty="0">
              <a:solidFill>
                <a:schemeClr val="tx1"/>
              </a:solidFill>
            </a:endParaRPr>
          </a:p>
          <a:p>
            <a:endParaRPr lang="he-IL" sz="2000" dirty="0">
              <a:solidFill>
                <a:schemeClr val="tx1"/>
              </a:solidFill>
            </a:endParaRPr>
          </a:p>
          <a:p>
            <a:endParaRPr lang="he-IL" sz="2000" dirty="0">
              <a:solidFill>
                <a:schemeClr val="tx1"/>
              </a:solidFill>
            </a:endParaRPr>
          </a:p>
          <a:p>
            <a:endParaRPr lang="he-IL" sz="2000" dirty="0">
              <a:solidFill>
                <a:schemeClr val="tx1"/>
              </a:solidFill>
            </a:endParaRPr>
          </a:p>
          <a:p>
            <a:endParaRPr lang="he-IL" sz="2000" dirty="0">
              <a:solidFill>
                <a:schemeClr val="tx1"/>
              </a:solidFill>
            </a:endParaRPr>
          </a:p>
          <a:p>
            <a:endParaRPr lang="he-IL" sz="2000" dirty="0">
              <a:solidFill>
                <a:schemeClr val="tx1"/>
              </a:solidFill>
            </a:endParaRPr>
          </a:p>
          <a:p>
            <a:r>
              <a:rPr lang="he-IL" sz="2000" b="0" i="0" dirty="0">
                <a:solidFill>
                  <a:srgbClr val="000000"/>
                </a:solidFill>
                <a:effectLst/>
                <a:latin typeface="-apple-system"/>
              </a:rPr>
              <a:t>כמו שרואים בדוגמא, את הקלט מהמשתמש אפשר לשמור במשתנה, ולהשתמש בו בהמשך.</a:t>
            </a:r>
            <a:endParaRPr lang="en-US" sz="2000" dirty="0">
              <a:solidFill>
                <a:schemeClr val="tx1"/>
              </a:solidFill>
            </a:endParaRPr>
          </a:p>
          <a:p>
            <a:endParaRPr lang="en-IL" dirty="0"/>
          </a:p>
        </p:txBody>
      </p:sp>
      <p:pic>
        <p:nvPicPr>
          <p:cNvPr id="5" name="Picture 4" descr="A screenshot of a computer&#10;&#10;Description automatically generated">
            <a:extLst>
              <a:ext uri="{FF2B5EF4-FFF2-40B4-BE49-F238E27FC236}">
                <a16:creationId xmlns:a16="http://schemas.microsoft.com/office/drawing/2014/main" id="{6ADB1269-D404-3E77-CC42-2090FB0BA43D}"/>
              </a:ext>
            </a:extLst>
          </p:cNvPr>
          <p:cNvPicPr>
            <a:picLocks noChangeAspect="1"/>
          </p:cNvPicPr>
          <p:nvPr/>
        </p:nvPicPr>
        <p:blipFill>
          <a:blip r:embed="rId2"/>
          <a:stretch>
            <a:fillRect/>
          </a:stretch>
        </p:blipFill>
        <p:spPr>
          <a:xfrm>
            <a:off x="311700" y="1932339"/>
            <a:ext cx="6083242" cy="1856672"/>
          </a:xfrm>
          <a:prstGeom prst="rect">
            <a:avLst/>
          </a:prstGeom>
        </p:spPr>
      </p:pic>
    </p:spTree>
    <p:extLst>
      <p:ext uri="{BB962C8B-B14F-4D97-AF65-F5344CB8AC3E}">
        <p14:creationId xmlns:p14="http://schemas.microsoft.com/office/powerpoint/2010/main" val="814421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52524-0B97-5C0B-778A-4EF4CEAD524E}"/>
              </a:ext>
            </a:extLst>
          </p:cNvPr>
          <p:cNvSpPr>
            <a:spLocks noGrp="1"/>
          </p:cNvSpPr>
          <p:nvPr>
            <p:ph type="title"/>
          </p:nvPr>
        </p:nvSpPr>
        <p:spPr/>
        <p:txBody>
          <a:bodyPr>
            <a:normAutofit fontScale="90000"/>
          </a:bodyPr>
          <a:lstStyle/>
          <a:p>
            <a:r>
              <a:rPr lang="he-IL" dirty="0"/>
              <a:t>תרגול</a:t>
            </a:r>
            <a:endParaRPr lang="en-IL" dirty="0"/>
          </a:p>
        </p:txBody>
      </p:sp>
      <p:sp>
        <p:nvSpPr>
          <p:cNvPr id="3" name="Text Placeholder 2">
            <a:extLst>
              <a:ext uri="{FF2B5EF4-FFF2-40B4-BE49-F238E27FC236}">
                <a16:creationId xmlns:a16="http://schemas.microsoft.com/office/drawing/2014/main" id="{E653AD3B-D875-332B-AFC4-F41D8970AE7D}"/>
              </a:ext>
            </a:extLst>
          </p:cNvPr>
          <p:cNvSpPr>
            <a:spLocks noGrp="1"/>
          </p:cNvSpPr>
          <p:nvPr>
            <p:ph type="body" idx="1"/>
          </p:nvPr>
        </p:nvSpPr>
        <p:spPr/>
        <p:txBody>
          <a:bodyPr/>
          <a:lstStyle/>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כתבו תוכנית שמקבלת את השם של החבר שיושב מימין לכם</a:t>
            </a:r>
          </a:p>
          <a:p>
            <a:pPr algn="r" rtl="1" fontAlgn="base">
              <a:spcBef>
                <a:spcPts val="0"/>
              </a:spcBef>
              <a:spcAft>
                <a:spcPts val="0"/>
              </a:spcAft>
              <a:buFont typeface="+mj-lt"/>
              <a:buAutoNum type="arabicPeriod"/>
            </a:pPr>
            <a:r>
              <a:rPr lang="he-IL" dirty="0">
                <a:solidFill>
                  <a:srgbClr val="000000"/>
                </a:solidFill>
                <a:latin typeface="Arial" panose="020B0604020202020204" pitchFamily="34" charset="0"/>
              </a:rPr>
              <a:t>כתבו תוכנה שמקבלת </a:t>
            </a:r>
            <a:r>
              <a:rPr lang="he-IL" sz="1800" b="0" i="0" u="none" strike="noStrike" dirty="0">
                <a:solidFill>
                  <a:srgbClr val="000000"/>
                </a:solidFill>
                <a:effectLst/>
                <a:latin typeface="Arial" panose="020B0604020202020204" pitchFamily="34" charset="0"/>
              </a:rPr>
              <a:t> </a:t>
            </a:r>
            <a:r>
              <a:rPr lang="he-IL" dirty="0">
                <a:solidFill>
                  <a:srgbClr val="000000"/>
                </a:solidFill>
                <a:latin typeface="Arial" panose="020B0604020202020204" pitchFamily="34" charset="0"/>
              </a:rPr>
              <a:t>את </a:t>
            </a:r>
            <a:r>
              <a:rPr lang="he-IL" sz="1800" b="0" i="0" u="none" strike="noStrike" dirty="0">
                <a:solidFill>
                  <a:srgbClr val="000000"/>
                </a:solidFill>
                <a:effectLst/>
                <a:latin typeface="Arial" panose="020B0604020202020204" pitchFamily="34" charset="0"/>
              </a:rPr>
              <a:t>השם של החבר שיושב משמאל לכם</a:t>
            </a:r>
          </a:p>
          <a:p>
            <a:pPr algn="r" rtl="1" fontAlgn="base">
              <a:spcBef>
                <a:spcPts val="0"/>
              </a:spcBef>
              <a:spcAft>
                <a:spcPts val="0"/>
              </a:spcAft>
              <a:buFont typeface="+mj-lt"/>
              <a:buAutoNum type="arabicPeriod"/>
            </a:pPr>
            <a:r>
              <a:rPr lang="he-IL" dirty="0">
                <a:solidFill>
                  <a:srgbClr val="000000"/>
                </a:solidFill>
                <a:latin typeface="Arial" panose="020B0604020202020204" pitchFamily="34" charset="0"/>
              </a:rPr>
              <a:t>באמצעות 1 –2 תדפיסו </a:t>
            </a:r>
            <a:r>
              <a:rPr lang="he-IL" sz="1800" b="0" i="0" u="none" strike="noStrike" dirty="0">
                <a:solidFill>
                  <a:srgbClr val="000000"/>
                </a:solidFill>
                <a:effectLst/>
                <a:latin typeface="Arial" panose="020B0604020202020204" pitchFamily="34" charset="0"/>
              </a:rPr>
              <a:t>: מימיני יושב ____ ומשמאלי יושב ____ השתמשו ב- </a:t>
            </a:r>
            <a:r>
              <a:rPr lang="en-US" sz="1800" b="0" i="0" u="none" strike="noStrike" dirty="0" err="1">
                <a:solidFill>
                  <a:srgbClr val="000000"/>
                </a:solidFill>
                <a:effectLst/>
                <a:latin typeface="Arial" panose="020B0604020202020204" pitchFamily="34" charset="0"/>
              </a:rPr>
              <a:t>console.log</a:t>
            </a:r>
            <a:r>
              <a:rPr lang="en-US" sz="1800" b="0" i="0" u="none" strike="noStrike" dirty="0">
                <a:solidFill>
                  <a:srgbClr val="000000"/>
                </a:solidFill>
                <a:effectLst/>
                <a:latin typeface="Arial" panose="020B0604020202020204" pitchFamily="34" charset="0"/>
              </a:rPr>
              <a:t>()</a:t>
            </a:r>
          </a:p>
          <a:p>
            <a:pPr fontAlgn="base">
              <a:buFont typeface="+mj-lt"/>
              <a:buAutoNum type="arabicPeriod"/>
            </a:pPr>
            <a:r>
              <a:rPr lang="he-IL" sz="1800" b="0" i="0" u="none" strike="noStrike" dirty="0">
                <a:solidFill>
                  <a:srgbClr val="000000"/>
                </a:solidFill>
                <a:effectLst/>
                <a:latin typeface="Arial" panose="020B0604020202020204" pitchFamily="34" charset="0"/>
              </a:rPr>
              <a:t>תכתבו קוד שמקבל מהמשתמש את השם הפרטי שלו ואת שם המשפחה שלו בשתי שורות נפרדות, ומחזירה לו </a:t>
            </a:r>
            <a:r>
              <a:rPr lang="he-IL" dirty="0">
                <a:solidFill>
                  <a:srgbClr val="000000"/>
                </a:solidFill>
                <a:latin typeface="Arial" panose="020B0604020202020204" pitchFamily="34" charset="0"/>
              </a:rPr>
              <a:t>באמצעות </a:t>
            </a:r>
            <a:r>
              <a:rPr lang="en-US" dirty="0">
                <a:solidFill>
                  <a:srgbClr val="000000"/>
                </a:solidFill>
                <a:latin typeface="Arial" panose="020B0604020202020204" pitchFamily="34" charset="0"/>
              </a:rPr>
              <a:t>alert()</a:t>
            </a:r>
            <a:r>
              <a:rPr lang="he-IL" dirty="0">
                <a:solidFill>
                  <a:srgbClr val="000000"/>
                </a:solidFill>
                <a:latin typeface="Arial" panose="020B0604020202020204" pitchFamily="34" charset="0"/>
              </a:rPr>
              <a:t> </a:t>
            </a:r>
            <a:r>
              <a:rPr lang="he-IL" sz="1800" b="0" i="0" u="none" strike="noStrike" dirty="0">
                <a:solidFill>
                  <a:srgbClr val="000000"/>
                </a:solidFill>
                <a:effectLst/>
                <a:latin typeface="Arial" panose="020B0604020202020204" pitchFamily="34" charset="0"/>
              </a:rPr>
              <a:t>את השם המלא שלו</a:t>
            </a:r>
            <a:endParaRPr lang="en-IL" dirty="0"/>
          </a:p>
        </p:txBody>
      </p:sp>
    </p:spTree>
    <p:extLst>
      <p:ext uri="{BB962C8B-B14F-4D97-AF65-F5344CB8AC3E}">
        <p14:creationId xmlns:p14="http://schemas.microsoft.com/office/powerpoint/2010/main" val="2580111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CB2D8-BA26-9C6F-49FF-58D2293EEF5C}"/>
              </a:ext>
            </a:extLst>
          </p:cNvPr>
          <p:cNvSpPr>
            <a:spLocks noGrp="1"/>
          </p:cNvSpPr>
          <p:nvPr>
            <p:ph type="title"/>
          </p:nvPr>
        </p:nvSpPr>
        <p:spPr/>
        <p:txBody>
          <a:bodyPr>
            <a:normAutofit fontScale="90000"/>
          </a:bodyPr>
          <a:lstStyle/>
          <a:p>
            <a:r>
              <a:rPr lang="he-IL" b="1" i="0" dirty="0">
                <a:solidFill>
                  <a:srgbClr val="000000"/>
                </a:solidFill>
                <a:effectLst/>
                <a:latin typeface="-apple-system"/>
              </a:rPr>
              <a:t>אופרטורים (פעולות)</a:t>
            </a:r>
            <a:endParaRPr lang="en-IL" dirty="0"/>
          </a:p>
        </p:txBody>
      </p:sp>
      <p:sp>
        <p:nvSpPr>
          <p:cNvPr id="3" name="Text Placeholder 2">
            <a:extLst>
              <a:ext uri="{FF2B5EF4-FFF2-40B4-BE49-F238E27FC236}">
                <a16:creationId xmlns:a16="http://schemas.microsoft.com/office/drawing/2014/main" id="{2101D662-4880-94C6-4E36-F28D89EBC232}"/>
              </a:ext>
            </a:extLst>
          </p:cNvPr>
          <p:cNvSpPr>
            <a:spLocks noGrp="1"/>
          </p:cNvSpPr>
          <p:nvPr>
            <p:ph type="body" idx="1"/>
          </p:nvPr>
        </p:nvSpPr>
        <p:spPr>
          <a:xfrm>
            <a:off x="4726982" y="1152474"/>
            <a:ext cx="4105317" cy="3419525"/>
          </a:xfrm>
        </p:spPr>
        <p:txBody>
          <a:bodyPr/>
          <a:lstStyle/>
          <a:p>
            <a:pPr marL="114300" indent="0">
              <a:buNone/>
            </a:pPr>
            <a:r>
              <a:rPr lang="he-IL" b="0" i="0" dirty="0">
                <a:solidFill>
                  <a:srgbClr val="000000"/>
                </a:solidFill>
                <a:effectLst/>
                <a:latin typeface="-apple-system"/>
              </a:rPr>
              <a:t>ברגע ששמרנו נתונים במשתנים, אנחנו יכולים לבצע עליהם פעולות.</a:t>
            </a:r>
          </a:p>
          <a:p>
            <a:pPr marL="114300" indent="0">
              <a:buNone/>
            </a:pPr>
            <a:r>
              <a:rPr lang="he-IL" b="1" i="0" dirty="0">
                <a:solidFill>
                  <a:srgbClr val="000000"/>
                </a:solidFill>
                <a:effectLst/>
                <a:latin typeface="-apple-system"/>
              </a:rPr>
              <a:t>פעולות על מספרים - ארבע פעולות החשבון:</a:t>
            </a:r>
          </a:p>
          <a:p>
            <a:endParaRPr lang="en-IL" dirty="0"/>
          </a:p>
        </p:txBody>
      </p:sp>
      <p:pic>
        <p:nvPicPr>
          <p:cNvPr id="5" name="Picture 4" descr="A screenshot of a computer&#10;&#10;Description automatically generated">
            <a:extLst>
              <a:ext uri="{FF2B5EF4-FFF2-40B4-BE49-F238E27FC236}">
                <a16:creationId xmlns:a16="http://schemas.microsoft.com/office/drawing/2014/main" id="{F06F275D-0225-C6A6-4202-C36F1B94820F}"/>
              </a:ext>
            </a:extLst>
          </p:cNvPr>
          <p:cNvPicPr>
            <a:picLocks noChangeAspect="1"/>
          </p:cNvPicPr>
          <p:nvPr/>
        </p:nvPicPr>
        <p:blipFill>
          <a:blip r:embed="rId2"/>
          <a:stretch>
            <a:fillRect/>
          </a:stretch>
        </p:blipFill>
        <p:spPr>
          <a:xfrm>
            <a:off x="141218" y="282434"/>
            <a:ext cx="4694253" cy="4578631"/>
          </a:xfrm>
          <a:prstGeom prst="rect">
            <a:avLst/>
          </a:prstGeom>
        </p:spPr>
      </p:pic>
    </p:spTree>
    <p:extLst>
      <p:ext uri="{BB962C8B-B14F-4D97-AF65-F5344CB8AC3E}">
        <p14:creationId xmlns:p14="http://schemas.microsoft.com/office/powerpoint/2010/main" val="2750044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BE3DB-C85D-9D68-00E8-72FCE3082625}"/>
              </a:ext>
            </a:extLst>
          </p:cNvPr>
          <p:cNvSpPr>
            <a:spLocks noGrp="1"/>
          </p:cNvSpPr>
          <p:nvPr>
            <p:ph type="title"/>
          </p:nvPr>
        </p:nvSpPr>
        <p:spPr/>
        <p:txBody>
          <a:bodyPr>
            <a:normAutofit fontScale="90000"/>
          </a:bodyPr>
          <a:lstStyle/>
          <a:p>
            <a:r>
              <a:rPr lang="he-IL" b="1" i="0" dirty="0">
                <a:solidFill>
                  <a:srgbClr val="000000"/>
                </a:solidFill>
                <a:effectLst/>
                <a:latin typeface="-apple-system"/>
              </a:rPr>
              <a:t>שימו לב - אפשר לבצע פעולה על משתנה ולשמור את התוצאה בחזרה במשתנה:</a:t>
            </a:r>
            <a:br>
              <a:rPr lang="he-IL" b="1" i="0" dirty="0">
                <a:solidFill>
                  <a:srgbClr val="000000"/>
                </a:solidFill>
                <a:effectLst/>
                <a:latin typeface="-apple-system"/>
              </a:rPr>
            </a:br>
            <a:endParaRPr lang="en-IL" dirty="0"/>
          </a:p>
        </p:txBody>
      </p:sp>
      <p:pic>
        <p:nvPicPr>
          <p:cNvPr id="5" name="Picture 4" descr="A screenshot of a computer&#10;&#10;Description automatically generated">
            <a:extLst>
              <a:ext uri="{FF2B5EF4-FFF2-40B4-BE49-F238E27FC236}">
                <a16:creationId xmlns:a16="http://schemas.microsoft.com/office/drawing/2014/main" id="{9D08ABD2-019A-0BC5-DE74-0A3DFF1814FB}"/>
              </a:ext>
            </a:extLst>
          </p:cNvPr>
          <p:cNvPicPr>
            <a:picLocks noChangeAspect="1"/>
          </p:cNvPicPr>
          <p:nvPr/>
        </p:nvPicPr>
        <p:blipFill>
          <a:blip r:embed="rId2"/>
          <a:stretch>
            <a:fillRect/>
          </a:stretch>
        </p:blipFill>
        <p:spPr>
          <a:xfrm>
            <a:off x="311700" y="2123268"/>
            <a:ext cx="7393584" cy="2391582"/>
          </a:xfrm>
          <a:prstGeom prst="rect">
            <a:avLst/>
          </a:prstGeom>
        </p:spPr>
      </p:pic>
    </p:spTree>
    <p:extLst>
      <p:ext uri="{BB962C8B-B14F-4D97-AF65-F5344CB8AC3E}">
        <p14:creationId xmlns:p14="http://schemas.microsoft.com/office/powerpoint/2010/main" val="357036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33508-4082-9A91-D346-81D53BA79988}"/>
              </a:ext>
            </a:extLst>
          </p:cNvPr>
          <p:cNvSpPr>
            <a:spLocks noGrp="1"/>
          </p:cNvSpPr>
          <p:nvPr>
            <p:ph type="title"/>
          </p:nvPr>
        </p:nvSpPr>
        <p:spPr/>
        <p:txBody>
          <a:bodyPr>
            <a:normAutofit fontScale="90000"/>
          </a:bodyPr>
          <a:lstStyle/>
          <a:p>
            <a:r>
              <a:rPr lang="he-IL" b="1" i="0" dirty="0">
                <a:solidFill>
                  <a:srgbClr val="000000"/>
                </a:solidFill>
                <a:effectLst/>
                <a:latin typeface="-apple-system"/>
              </a:rPr>
              <a:t>אפשר לשלב בין פעולות, ולהשתמש בסוגריים כדי להשפיע על סדר הפעולות:</a:t>
            </a:r>
            <a:br>
              <a:rPr lang="he-IL" b="1" i="0" dirty="0">
                <a:solidFill>
                  <a:srgbClr val="000000"/>
                </a:solidFill>
                <a:effectLst/>
                <a:latin typeface="-apple-system"/>
              </a:rPr>
            </a:br>
            <a:endParaRPr lang="en-IL" dirty="0"/>
          </a:p>
        </p:txBody>
      </p:sp>
      <p:sp>
        <p:nvSpPr>
          <p:cNvPr id="3" name="Text Placeholder 2">
            <a:extLst>
              <a:ext uri="{FF2B5EF4-FFF2-40B4-BE49-F238E27FC236}">
                <a16:creationId xmlns:a16="http://schemas.microsoft.com/office/drawing/2014/main" id="{6C05DFFB-7EBE-2DDA-8D5F-4B2E082160F7}"/>
              </a:ext>
            </a:extLst>
          </p:cNvPr>
          <p:cNvSpPr>
            <a:spLocks noGrp="1"/>
          </p:cNvSpPr>
          <p:nvPr>
            <p:ph type="body" idx="1"/>
          </p:nvPr>
        </p:nvSpPr>
        <p:spPr/>
        <p:txBody>
          <a:bodyPr/>
          <a:lstStyle/>
          <a:p>
            <a:endParaRPr lang="en-IL"/>
          </a:p>
        </p:txBody>
      </p:sp>
      <p:pic>
        <p:nvPicPr>
          <p:cNvPr id="5" name="Picture 4" descr="A screenshot of a computer&#10;&#10;Description automatically generated">
            <a:extLst>
              <a:ext uri="{FF2B5EF4-FFF2-40B4-BE49-F238E27FC236}">
                <a16:creationId xmlns:a16="http://schemas.microsoft.com/office/drawing/2014/main" id="{B28A5F10-E3DE-135F-C20B-7B5D5F96BFFD}"/>
              </a:ext>
            </a:extLst>
          </p:cNvPr>
          <p:cNvPicPr>
            <a:picLocks noChangeAspect="1"/>
          </p:cNvPicPr>
          <p:nvPr/>
        </p:nvPicPr>
        <p:blipFill>
          <a:blip r:embed="rId2"/>
          <a:stretch>
            <a:fillRect/>
          </a:stretch>
        </p:blipFill>
        <p:spPr>
          <a:xfrm>
            <a:off x="311700" y="2386739"/>
            <a:ext cx="7078476" cy="2289655"/>
          </a:xfrm>
          <a:prstGeom prst="rect">
            <a:avLst/>
          </a:prstGeom>
        </p:spPr>
      </p:pic>
    </p:spTree>
    <p:extLst>
      <p:ext uri="{BB962C8B-B14F-4D97-AF65-F5344CB8AC3E}">
        <p14:creationId xmlns:p14="http://schemas.microsoft.com/office/powerpoint/2010/main" val="1687790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D5D61-83F1-0934-F4E3-A62B7A6B2CD6}"/>
              </a:ext>
            </a:extLst>
          </p:cNvPr>
          <p:cNvSpPr>
            <a:spLocks noGrp="1"/>
          </p:cNvSpPr>
          <p:nvPr>
            <p:ph type="title"/>
          </p:nvPr>
        </p:nvSpPr>
        <p:spPr/>
        <p:txBody>
          <a:bodyPr>
            <a:normAutofit fontScale="90000"/>
          </a:bodyPr>
          <a:lstStyle/>
          <a:p>
            <a:r>
              <a:rPr lang="he-IL" dirty="0"/>
              <a:t>תרגול</a:t>
            </a:r>
            <a:endParaRPr lang="en-IL" dirty="0"/>
          </a:p>
        </p:txBody>
      </p:sp>
      <p:sp>
        <p:nvSpPr>
          <p:cNvPr id="3" name="Text Placeholder 2">
            <a:extLst>
              <a:ext uri="{FF2B5EF4-FFF2-40B4-BE49-F238E27FC236}">
                <a16:creationId xmlns:a16="http://schemas.microsoft.com/office/drawing/2014/main" id="{2F63253F-8EBD-D736-727E-059281098101}"/>
              </a:ext>
            </a:extLst>
          </p:cNvPr>
          <p:cNvSpPr>
            <a:spLocks noGrp="1"/>
          </p:cNvSpPr>
          <p:nvPr>
            <p:ph type="body" idx="1"/>
          </p:nvPr>
        </p:nvSpPr>
        <p:spPr/>
        <p:txBody>
          <a:bodyPr/>
          <a:lstStyle/>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שהערך שלו הוא הגיל שלכם, </a:t>
            </a: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למשתמש מה יהי הגיל שלכם עוד 10 שנים באמצעות הפונקציה </a:t>
            </a:r>
            <a:r>
              <a:rPr lang="en-US" sz="1800" b="0" i="0" u="none" strike="noStrike" dirty="0">
                <a:solidFill>
                  <a:srgbClr val="000000"/>
                </a:solidFill>
                <a:effectLst/>
                <a:latin typeface="Arial" panose="020B0604020202020204" pitchFamily="34" charset="0"/>
              </a:rPr>
              <a:t>alert() </a:t>
            </a:r>
          </a:p>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שהערך שלו הוא 7, הוסיפו למשתנה את המספר 3, </a:t>
            </a: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את הערך של המשתנה למשתמש באמצעות הפונקציה </a:t>
            </a:r>
            <a:r>
              <a:rPr lang="en-US" sz="1800" b="0" i="0" u="none" strike="noStrike" dirty="0">
                <a:solidFill>
                  <a:srgbClr val="000000"/>
                </a:solidFill>
                <a:effectLst/>
                <a:latin typeface="Arial" panose="020B0604020202020204" pitchFamily="34" charset="0"/>
              </a:rPr>
              <a:t>alert() </a:t>
            </a:r>
            <a:r>
              <a:rPr lang="he-IL" sz="1800" b="0" i="0" u="none" strike="noStrike" dirty="0">
                <a:solidFill>
                  <a:srgbClr val="000000"/>
                </a:solidFill>
                <a:effectLst/>
                <a:latin typeface="Arial" panose="020B0604020202020204" pitchFamily="34" charset="0"/>
              </a:rPr>
              <a:t> בדקו שהערך שהמשתמש רואה הוא 10</a:t>
            </a:r>
          </a:p>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שהערך שלו הוא 5, הוסיפו למשתנה את המספר 5, </a:t>
            </a: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את הערך של המשתנה למשתמש באמצעות הפונקציה </a:t>
            </a:r>
            <a:r>
              <a:rPr lang="en-US" sz="1800" b="0" i="0" u="none" strike="noStrike" dirty="0">
                <a:solidFill>
                  <a:srgbClr val="000000"/>
                </a:solidFill>
                <a:effectLst/>
                <a:latin typeface="Arial" panose="020B0604020202020204" pitchFamily="34" charset="0"/>
              </a:rPr>
              <a:t>alert() </a:t>
            </a:r>
            <a:r>
              <a:rPr lang="he-IL" sz="1800" b="0" i="0" u="none" strike="noStrike" dirty="0">
                <a:solidFill>
                  <a:srgbClr val="000000"/>
                </a:solidFill>
                <a:effectLst/>
                <a:latin typeface="Arial" panose="020B0604020202020204" pitchFamily="34" charset="0"/>
              </a:rPr>
              <a:t> בדקו שהערך שהמשתמש רואה הוא 10</a:t>
            </a:r>
          </a:p>
          <a:p>
            <a:pPr marL="114300" indent="0">
              <a:buNone/>
            </a:pPr>
            <a:endParaRPr lang="en-IL" dirty="0"/>
          </a:p>
        </p:txBody>
      </p:sp>
    </p:spTree>
    <p:extLst>
      <p:ext uri="{BB962C8B-B14F-4D97-AF65-F5344CB8AC3E}">
        <p14:creationId xmlns:p14="http://schemas.microsoft.com/office/powerpoint/2010/main" val="2298722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B64ED-34E0-2517-916D-03C9E4CD9AB3}"/>
              </a:ext>
            </a:extLst>
          </p:cNvPr>
          <p:cNvSpPr>
            <a:spLocks noGrp="1"/>
          </p:cNvSpPr>
          <p:nvPr>
            <p:ph type="title"/>
          </p:nvPr>
        </p:nvSpPr>
        <p:spPr/>
        <p:txBody>
          <a:bodyPr>
            <a:normAutofit fontScale="90000"/>
          </a:bodyPr>
          <a:lstStyle/>
          <a:p>
            <a:r>
              <a:rPr lang="he-IL" dirty="0"/>
              <a:t>תרגול</a:t>
            </a:r>
            <a:endParaRPr lang="en-IL" dirty="0"/>
          </a:p>
        </p:txBody>
      </p:sp>
      <p:sp>
        <p:nvSpPr>
          <p:cNvPr id="3" name="Text Placeholder 2">
            <a:extLst>
              <a:ext uri="{FF2B5EF4-FFF2-40B4-BE49-F238E27FC236}">
                <a16:creationId xmlns:a16="http://schemas.microsoft.com/office/drawing/2014/main" id="{C247AB6B-2694-41DA-FD64-07E404C8A675}"/>
              </a:ext>
            </a:extLst>
          </p:cNvPr>
          <p:cNvSpPr>
            <a:spLocks noGrp="1"/>
          </p:cNvSpPr>
          <p:nvPr>
            <p:ph type="body" idx="1"/>
          </p:nvPr>
        </p:nvSpPr>
        <p:spPr/>
        <p:txBody>
          <a:bodyPr/>
          <a:lstStyle/>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שהערך שלו הוא 50, הגדירו משתנה נוסף, שיש לו את הערך 3, </a:t>
            </a: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את מכפלת המשתנים באמצעות הפונקציה </a:t>
            </a:r>
            <a:r>
              <a:rPr lang="en-US" sz="1800" b="0" i="0" u="none" strike="noStrike" dirty="0" err="1">
                <a:solidFill>
                  <a:srgbClr val="000000"/>
                </a:solidFill>
                <a:effectLst/>
                <a:latin typeface="Arial" panose="020B0604020202020204" pitchFamily="34" charset="0"/>
              </a:rPr>
              <a:t>console.log</a:t>
            </a:r>
            <a:r>
              <a:rPr lang="en-US" sz="1800" b="0" i="0" u="none" strike="noStrike" dirty="0">
                <a:solidFill>
                  <a:srgbClr val="000000"/>
                </a:solidFill>
                <a:effectLst/>
                <a:latin typeface="Arial" panose="020B0604020202020204" pitchFamily="34" charset="0"/>
              </a:rPr>
              <a:t>()</a:t>
            </a:r>
          </a:p>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שהערך שלו הוא 50, הגדירו משתנה נוסף, שיש לו את הערך 4, </a:t>
            </a: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את מנת המשתנים באמצעות הפונקציה </a:t>
            </a:r>
            <a:r>
              <a:rPr lang="en-US" sz="1800" b="0" i="0" u="none" strike="noStrike" dirty="0" err="1">
                <a:solidFill>
                  <a:srgbClr val="000000"/>
                </a:solidFill>
                <a:effectLst/>
                <a:latin typeface="Arial" panose="020B0604020202020204" pitchFamily="34" charset="0"/>
              </a:rPr>
              <a:t>console.log</a:t>
            </a:r>
            <a:r>
              <a:rPr lang="en-US" sz="1800" b="0" i="0" u="none" strike="noStrike" dirty="0">
                <a:solidFill>
                  <a:srgbClr val="000000"/>
                </a:solidFill>
                <a:effectLst/>
                <a:latin typeface="Arial" panose="020B0604020202020204" pitchFamily="34" charset="0"/>
              </a:rPr>
              <a:t>()</a:t>
            </a:r>
          </a:p>
          <a:p>
            <a:pPr marL="114300" indent="0">
              <a:buNone/>
            </a:pPr>
            <a:endParaRPr lang="en-IL" dirty="0"/>
          </a:p>
        </p:txBody>
      </p:sp>
    </p:spTree>
    <p:extLst>
      <p:ext uri="{BB962C8B-B14F-4D97-AF65-F5344CB8AC3E}">
        <p14:creationId xmlns:p14="http://schemas.microsoft.com/office/powerpoint/2010/main" val="1238017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1A04B-6FBE-C956-6F6E-F3DC07F21C89}"/>
              </a:ext>
            </a:extLst>
          </p:cNvPr>
          <p:cNvSpPr>
            <a:spLocks noGrp="1"/>
          </p:cNvSpPr>
          <p:nvPr>
            <p:ph type="title"/>
          </p:nvPr>
        </p:nvSpPr>
        <p:spPr/>
        <p:txBody>
          <a:bodyPr>
            <a:normAutofit fontScale="90000"/>
          </a:bodyPr>
          <a:lstStyle/>
          <a:p>
            <a:pPr algn="ctr"/>
            <a:r>
              <a:rPr lang="he-IL" b="1" i="0" dirty="0">
                <a:solidFill>
                  <a:srgbClr val="000000"/>
                </a:solidFill>
                <a:effectLst/>
                <a:latin typeface="-apple-system"/>
              </a:rPr>
              <a:t>חיבור שני טקסטים - אנחנו יכולים לחבר ביחד טקסטים בעזרת האופרטור '+'</a:t>
            </a:r>
            <a:br>
              <a:rPr lang="he-IL" b="1" i="0" dirty="0">
                <a:solidFill>
                  <a:srgbClr val="000000"/>
                </a:solidFill>
                <a:effectLst/>
                <a:latin typeface="-apple-system"/>
              </a:rPr>
            </a:br>
            <a:endParaRPr lang="en-IL" dirty="0"/>
          </a:p>
        </p:txBody>
      </p:sp>
      <p:sp>
        <p:nvSpPr>
          <p:cNvPr id="3" name="Text Placeholder 2">
            <a:extLst>
              <a:ext uri="{FF2B5EF4-FFF2-40B4-BE49-F238E27FC236}">
                <a16:creationId xmlns:a16="http://schemas.microsoft.com/office/drawing/2014/main" id="{D66200AA-2EE1-8A08-2892-FECF9180366B}"/>
              </a:ext>
            </a:extLst>
          </p:cNvPr>
          <p:cNvSpPr>
            <a:spLocks noGrp="1"/>
          </p:cNvSpPr>
          <p:nvPr>
            <p:ph type="body" idx="1"/>
          </p:nvPr>
        </p:nvSpPr>
        <p:spPr/>
        <p:txBody>
          <a:bodyPr/>
          <a:lstStyle/>
          <a:p>
            <a:r>
              <a:rPr lang="he-IL" dirty="0"/>
              <a:t>מה ידפיס הקטע קוד הבא?</a:t>
            </a:r>
          </a:p>
          <a:p>
            <a:endParaRPr lang="he-IL" dirty="0"/>
          </a:p>
          <a:p>
            <a:r>
              <a:rPr lang="he-IL" dirty="0"/>
              <a:t>מה הבעיה? איך נוכל לתקן אותה?</a:t>
            </a:r>
            <a:endParaRPr lang="en-IL" dirty="0"/>
          </a:p>
        </p:txBody>
      </p:sp>
      <p:pic>
        <p:nvPicPr>
          <p:cNvPr id="5" name="Picture 4" descr="A screenshot of a computer&#10;&#10;Description automatically generated">
            <a:extLst>
              <a:ext uri="{FF2B5EF4-FFF2-40B4-BE49-F238E27FC236}">
                <a16:creationId xmlns:a16="http://schemas.microsoft.com/office/drawing/2014/main" id="{F99AAE18-2D4B-557B-EA46-C594D890E85B}"/>
              </a:ext>
            </a:extLst>
          </p:cNvPr>
          <p:cNvPicPr>
            <a:picLocks noChangeAspect="1"/>
          </p:cNvPicPr>
          <p:nvPr/>
        </p:nvPicPr>
        <p:blipFill>
          <a:blip r:embed="rId2"/>
          <a:stretch>
            <a:fillRect/>
          </a:stretch>
        </p:blipFill>
        <p:spPr>
          <a:xfrm>
            <a:off x="311700" y="2625775"/>
            <a:ext cx="6007100" cy="1943100"/>
          </a:xfrm>
          <a:prstGeom prst="rect">
            <a:avLst/>
          </a:prstGeom>
        </p:spPr>
      </p:pic>
    </p:spTree>
    <p:extLst>
      <p:ext uri="{BB962C8B-B14F-4D97-AF65-F5344CB8AC3E}">
        <p14:creationId xmlns:p14="http://schemas.microsoft.com/office/powerpoint/2010/main" val="2515719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78C9-8F8A-C2A0-EDAE-EB8A757D7E51}"/>
              </a:ext>
            </a:extLst>
          </p:cNvPr>
          <p:cNvSpPr>
            <a:spLocks noGrp="1"/>
          </p:cNvSpPr>
          <p:nvPr>
            <p:ph type="title"/>
          </p:nvPr>
        </p:nvSpPr>
        <p:spPr/>
        <p:txBody>
          <a:bodyPr>
            <a:normAutofit fontScale="90000"/>
          </a:bodyPr>
          <a:lstStyle/>
          <a:p>
            <a:r>
              <a:rPr lang="he-IL" dirty="0"/>
              <a:t>תרגול</a:t>
            </a:r>
            <a:endParaRPr lang="en-IL" dirty="0"/>
          </a:p>
        </p:txBody>
      </p:sp>
      <p:sp>
        <p:nvSpPr>
          <p:cNvPr id="3" name="Text Placeholder 2">
            <a:extLst>
              <a:ext uri="{FF2B5EF4-FFF2-40B4-BE49-F238E27FC236}">
                <a16:creationId xmlns:a16="http://schemas.microsoft.com/office/drawing/2014/main" id="{D21A8F1A-8ABB-1C8C-618E-F80B7EF0771D}"/>
              </a:ext>
            </a:extLst>
          </p:cNvPr>
          <p:cNvSpPr>
            <a:spLocks noGrp="1"/>
          </p:cNvSpPr>
          <p:nvPr>
            <p:ph type="body" idx="1"/>
          </p:nvPr>
        </p:nvSpPr>
        <p:spPr/>
        <p:txBody>
          <a:bodyPr/>
          <a:lstStyle/>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שהערך שלו הוא ׳שלום׳</a:t>
            </a:r>
          </a:p>
          <a:p>
            <a:pPr algn="r" rtl="1" fontAlgn="base">
              <a:spcBef>
                <a:spcPts val="0"/>
              </a:spcBef>
              <a:spcAft>
                <a:spcPts val="0"/>
              </a:spcAft>
              <a:buFont typeface="+mj-lt"/>
              <a:buAutoNum type="arabicPeriod"/>
            </a:pPr>
            <a:r>
              <a:rPr lang="he-IL" dirty="0">
                <a:solidFill>
                  <a:srgbClr val="000000"/>
                </a:solidFill>
                <a:latin typeface="Arial" panose="020B0604020202020204" pitchFamily="34" charset="0"/>
              </a:rPr>
              <a:t>הגדירו משתנה נוסף, </a:t>
            </a:r>
            <a:r>
              <a:rPr lang="he-IL" sz="1800" b="0" i="0" u="none" strike="noStrike" dirty="0">
                <a:solidFill>
                  <a:srgbClr val="000000"/>
                </a:solidFill>
                <a:effectLst/>
                <a:latin typeface="Arial" panose="020B0604020202020204" pitchFamily="34" charset="0"/>
              </a:rPr>
              <a:t>שיש לו את הערך ׳משתמש׳</a:t>
            </a:r>
          </a:p>
          <a:p>
            <a:pPr algn="r" rtl="1" fontAlgn="base">
              <a:spcBef>
                <a:spcPts val="0"/>
              </a:spcBef>
              <a:spcAft>
                <a:spcPts val="0"/>
              </a:spcAft>
              <a:buFont typeface="+mj-lt"/>
              <a:buAutoNum type="arabicPeriod"/>
            </a:pP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את חיבור המשתנים למשתמש באמצעות הפונקציה </a:t>
            </a:r>
            <a:r>
              <a:rPr lang="en-US" sz="1800" b="0" i="0" u="none" strike="noStrike" dirty="0">
                <a:solidFill>
                  <a:srgbClr val="000000"/>
                </a:solidFill>
                <a:effectLst/>
                <a:latin typeface="Arial" panose="020B0604020202020204" pitchFamily="34" charset="0"/>
              </a:rPr>
              <a:t>alert() </a:t>
            </a:r>
            <a:r>
              <a:rPr lang="he-IL" sz="1800" b="0" i="0" u="none" strike="noStrike" dirty="0">
                <a:solidFill>
                  <a:srgbClr val="000000"/>
                </a:solidFill>
                <a:effectLst/>
                <a:latin typeface="Arial" panose="020B0604020202020204" pitchFamily="34" charset="0"/>
              </a:rPr>
              <a:t> בדקו שהערך שהמשתמש רואה הוא  שלום משתמש </a:t>
            </a:r>
          </a:p>
          <a:p>
            <a:pPr algn="r" rtl="1" fontAlgn="base">
              <a:spcBef>
                <a:spcPts val="0"/>
              </a:spcBef>
              <a:spcAft>
                <a:spcPts val="0"/>
              </a:spcAft>
              <a:buFont typeface="+mj-lt"/>
              <a:buAutoNum type="arabicPeriod"/>
            </a:pPr>
            <a:endParaRPr lang="he-IL" dirty="0">
              <a:solidFill>
                <a:srgbClr val="000000"/>
              </a:solidFill>
              <a:latin typeface="Arial" panose="020B0604020202020204" pitchFamily="34" charset="0"/>
            </a:endParaRPr>
          </a:p>
          <a:p>
            <a:pPr marL="114300" indent="0" algn="r" rtl="1" fontAlgn="base">
              <a:spcBef>
                <a:spcPts val="0"/>
              </a:spcBef>
              <a:spcAft>
                <a:spcPts val="0"/>
              </a:spcAft>
              <a:buNone/>
            </a:pPr>
            <a:r>
              <a:rPr lang="he-IL" sz="1800" b="0" i="0" u="none" strike="noStrike" dirty="0">
                <a:solidFill>
                  <a:srgbClr val="000000"/>
                </a:solidFill>
                <a:effectLst/>
                <a:latin typeface="Arial" panose="020B0604020202020204" pitchFamily="34" charset="0"/>
              </a:rPr>
              <a:t>אתגר – תתקנו כך שהמשתמש יראה את המשפט שלום משתמש</a:t>
            </a:r>
            <a:endParaRPr lang="he-IL" b="0" dirty="0">
              <a:effectLst/>
            </a:endParaRPr>
          </a:p>
        </p:txBody>
      </p:sp>
    </p:spTree>
    <p:extLst>
      <p:ext uri="{BB962C8B-B14F-4D97-AF65-F5344CB8AC3E}">
        <p14:creationId xmlns:p14="http://schemas.microsoft.com/office/powerpoint/2010/main" val="4147240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7851-75E0-50EC-4ABA-49E0B9BBF19D}"/>
              </a:ext>
            </a:extLst>
          </p:cNvPr>
          <p:cNvSpPr>
            <a:spLocks noGrp="1"/>
          </p:cNvSpPr>
          <p:nvPr>
            <p:ph type="title"/>
          </p:nvPr>
        </p:nvSpPr>
        <p:spPr/>
        <p:txBody>
          <a:bodyPr>
            <a:normAutofit fontScale="90000"/>
          </a:bodyPr>
          <a:lstStyle/>
          <a:p>
            <a:r>
              <a:rPr lang="he-IL" dirty="0"/>
              <a:t>תרגול</a:t>
            </a:r>
            <a:endParaRPr lang="en-IL" dirty="0"/>
          </a:p>
        </p:txBody>
      </p:sp>
      <p:sp>
        <p:nvSpPr>
          <p:cNvPr id="3" name="Text Placeholder 2">
            <a:extLst>
              <a:ext uri="{FF2B5EF4-FFF2-40B4-BE49-F238E27FC236}">
                <a16:creationId xmlns:a16="http://schemas.microsoft.com/office/drawing/2014/main" id="{1BC18017-1721-DBA2-9E3B-82A2DBC809DB}"/>
              </a:ext>
            </a:extLst>
          </p:cNvPr>
          <p:cNvSpPr>
            <a:spLocks noGrp="1"/>
          </p:cNvSpPr>
          <p:nvPr>
            <p:ph type="body" idx="1"/>
          </p:nvPr>
        </p:nvSpPr>
        <p:spPr/>
        <p:txBody>
          <a:bodyPr/>
          <a:lstStyle/>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הגדירו משתנה שהערך שלו הוא ׳</a:t>
            </a:r>
            <a:r>
              <a:rPr lang="he-IL" sz="1800" b="0" i="0" u="none" strike="noStrike" dirty="0" err="1">
                <a:solidFill>
                  <a:srgbClr val="000000"/>
                </a:solidFill>
                <a:effectLst/>
                <a:latin typeface="Arial" panose="020B0604020202020204" pitchFamily="34" charset="0"/>
              </a:rPr>
              <a:t>סטרטאפיסטים</a:t>
            </a:r>
            <a:r>
              <a:rPr lang="he-IL" dirty="0">
                <a:solidFill>
                  <a:srgbClr val="000000"/>
                </a:solidFill>
                <a:latin typeface="Arial" panose="020B0604020202020204" pitchFamily="34" charset="0"/>
              </a:rPr>
              <a:t>׳</a:t>
            </a:r>
            <a:endParaRPr lang="he-IL" sz="1800" b="0" i="0" u="none" strike="noStrike" dirty="0">
              <a:solidFill>
                <a:srgbClr val="000000"/>
              </a:solidFill>
              <a:effectLst/>
              <a:latin typeface="Arial" panose="020B0604020202020204" pitchFamily="34" charset="0"/>
            </a:endParaRPr>
          </a:p>
          <a:p>
            <a:pPr algn="r" rtl="1" fontAlgn="base">
              <a:spcBef>
                <a:spcPts val="0"/>
              </a:spcBef>
              <a:spcAft>
                <a:spcPts val="0"/>
              </a:spcAft>
              <a:buFont typeface="+mj-lt"/>
              <a:buAutoNum type="arabicPeriod"/>
            </a:pPr>
            <a:r>
              <a:rPr lang="he-IL" dirty="0">
                <a:solidFill>
                  <a:srgbClr val="000000"/>
                </a:solidFill>
                <a:latin typeface="Arial" panose="020B0604020202020204" pitchFamily="34" charset="0"/>
              </a:rPr>
              <a:t>הגדירו משתנה נוסף, </a:t>
            </a:r>
            <a:r>
              <a:rPr lang="he-IL" sz="1800" b="0" i="0" u="none" strike="noStrike" dirty="0">
                <a:solidFill>
                  <a:srgbClr val="000000"/>
                </a:solidFill>
                <a:effectLst/>
                <a:latin typeface="Arial" panose="020B0604020202020204" pitchFamily="34" charset="0"/>
              </a:rPr>
              <a:t>שיש לו את הערך ״שנה א׳״</a:t>
            </a:r>
          </a:p>
          <a:p>
            <a:pPr algn="r" rtl="1" fontAlgn="base">
              <a:spcBef>
                <a:spcPts val="0"/>
              </a:spcBef>
              <a:spcAft>
                <a:spcPts val="0"/>
              </a:spcAft>
              <a:buFont typeface="+mj-lt"/>
              <a:buAutoNum type="arabicPeriod"/>
            </a:pPr>
            <a:r>
              <a:rPr lang="he-IL" sz="1800" b="0" i="0" u="none" strike="noStrike" dirty="0" err="1">
                <a:solidFill>
                  <a:srgbClr val="000000"/>
                </a:solidFill>
                <a:effectLst/>
                <a:latin typeface="Arial" panose="020B0604020202020204" pitchFamily="34" charset="0"/>
              </a:rPr>
              <a:t>התריאו</a:t>
            </a:r>
            <a:r>
              <a:rPr lang="he-IL" sz="1800" b="0" i="0" u="none" strike="noStrike" dirty="0">
                <a:solidFill>
                  <a:srgbClr val="000000"/>
                </a:solidFill>
                <a:effectLst/>
                <a:latin typeface="Arial" panose="020B0604020202020204" pitchFamily="34" charset="0"/>
              </a:rPr>
              <a:t> את חיבור המשתנים למשתמש באמצעות הפונקציה </a:t>
            </a:r>
            <a:r>
              <a:rPr lang="en-US" sz="1800" b="0" i="0" u="none" strike="noStrike" dirty="0">
                <a:solidFill>
                  <a:srgbClr val="000000"/>
                </a:solidFill>
                <a:effectLst/>
                <a:latin typeface="Arial" panose="020B0604020202020204" pitchFamily="34" charset="0"/>
              </a:rPr>
              <a:t>alert() </a:t>
            </a:r>
            <a:r>
              <a:rPr lang="he-IL" sz="1800" b="0" i="0" u="none" strike="noStrike" dirty="0">
                <a:solidFill>
                  <a:srgbClr val="000000"/>
                </a:solidFill>
                <a:effectLst/>
                <a:latin typeface="Arial" panose="020B0604020202020204" pitchFamily="34" charset="0"/>
              </a:rPr>
              <a:t> כך שהמשתמש יראה:</a:t>
            </a:r>
            <a:br>
              <a:rPr lang="en-US" sz="1800" b="0" i="0" u="none" strike="noStrike" dirty="0">
                <a:solidFill>
                  <a:srgbClr val="000000"/>
                </a:solidFill>
                <a:effectLst/>
                <a:latin typeface="Arial" panose="020B0604020202020204" pitchFamily="34" charset="0"/>
              </a:rPr>
            </a:br>
            <a:r>
              <a:rPr lang="he-IL" sz="1800" b="0" i="0" u="none" strike="noStrike" dirty="0">
                <a:solidFill>
                  <a:srgbClr val="000000"/>
                </a:solidFill>
                <a:effectLst/>
                <a:latin typeface="Arial" panose="020B0604020202020204" pitchFamily="34" charset="0"/>
              </a:rPr>
              <a:t>״</a:t>
            </a:r>
            <a:r>
              <a:rPr lang="he-IL" dirty="0" err="1">
                <a:solidFill>
                  <a:srgbClr val="000000"/>
                </a:solidFill>
                <a:latin typeface="Arial" panose="020B0604020202020204" pitchFamily="34" charset="0"/>
              </a:rPr>
              <a:t>סטרטאפיסטים</a:t>
            </a:r>
            <a:r>
              <a:rPr lang="he-IL" dirty="0">
                <a:solidFill>
                  <a:srgbClr val="000000"/>
                </a:solidFill>
                <a:latin typeface="Arial" panose="020B0604020202020204" pitchFamily="34" charset="0"/>
              </a:rPr>
              <a:t> שנה א׳״</a:t>
            </a:r>
          </a:p>
          <a:p>
            <a:pPr marL="114300" indent="0">
              <a:buNone/>
            </a:pPr>
            <a:endParaRPr lang="en-IL" dirty="0"/>
          </a:p>
        </p:txBody>
      </p:sp>
    </p:spTree>
    <p:extLst>
      <p:ext uri="{BB962C8B-B14F-4D97-AF65-F5344CB8AC3E}">
        <p14:creationId xmlns:p14="http://schemas.microsoft.com/office/powerpoint/2010/main" val="779269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F6BF-5321-A163-7A89-5DCCCE9DEA91}"/>
              </a:ext>
            </a:extLst>
          </p:cNvPr>
          <p:cNvSpPr>
            <a:spLocks noGrp="1"/>
          </p:cNvSpPr>
          <p:nvPr>
            <p:ph type="title"/>
          </p:nvPr>
        </p:nvSpPr>
        <p:spPr/>
        <p:txBody>
          <a:bodyPr>
            <a:normAutofit fontScale="90000"/>
          </a:bodyPr>
          <a:lstStyle/>
          <a:p>
            <a:r>
              <a:rPr lang="he-IL" b="1" i="0" dirty="0">
                <a:solidFill>
                  <a:srgbClr val="000000"/>
                </a:solidFill>
                <a:effectLst/>
                <a:latin typeface="-apple-system"/>
              </a:rPr>
              <a:t>בואו נכתוב תוכנית שקולטת מהמשתמש שני מספרים ומדפיסה את הסכום שלהם:</a:t>
            </a:r>
            <a:br>
              <a:rPr lang="he-IL" b="1" i="0" dirty="0">
                <a:solidFill>
                  <a:srgbClr val="000000"/>
                </a:solidFill>
                <a:effectLst/>
                <a:latin typeface="-apple-system"/>
              </a:rPr>
            </a:br>
            <a:r>
              <a:rPr lang="he-IL" b="1" i="0" dirty="0">
                <a:solidFill>
                  <a:srgbClr val="000000"/>
                </a:solidFill>
                <a:effectLst/>
                <a:latin typeface="-apple-system"/>
              </a:rPr>
              <a:t>מה הבעיה בתוכנית?</a:t>
            </a:r>
            <a:br>
              <a:rPr lang="he-IL" b="1" i="0" dirty="0">
                <a:solidFill>
                  <a:srgbClr val="000000"/>
                </a:solidFill>
                <a:effectLst/>
                <a:latin typeface="-apple-system"/>
              </a:rPr>
            </a:br>
            <a:endParaRPr lang="en-IL" dirty="0"/>
          </a:p>
        </p:txBody>
      </p:sp>
      <p:pic>
        <p:nvPicPr>
          <p:cNvPr id="5" name="Picture 4" descr="A screenshot of a computer&#10;&#10;Description automatically generated">
            <a:extLst>
              <a:ext uri="{FF2B5EF4-FFF2-40B4-BE49-F238E27FC236}">
                <a16:creationId xmlns:a16="http://schemas.microsoft.com/office/drawing/2014/main" id="{DE009761-4E28-F00C-AAF5-B18D484C76AC}"/>
              </a:ext>
            </a:extLst>
          </p:cNvPr>
          <p:cNvPicPr>
            <a:picLocks noChangeAspect="1"/>
          </p:cNvPicPr>
          <p:nvPr/>
        </p:nvPicPr>
        <p:blipFill>
          <a:blip r:embed="rId3"/>
          <a:stretch>
            <a:fillRect/>
          </a:stretch>
        </p:blipFill>
        <p:spPr>
          <a:xfrm>
            <a:off x="311699" y="2092271"/>
            <a:ext cx="7489411" cy="2422579"/>
          </a:xfrm>
          <a:prstGeom prst="rect">
            <a:avLst/>
          </a:prstGeom>
        </p:spPr>
      </p:pic>
    </p:spTree>
    <p:extLst>
      <p:ext uri="{BB962C8B-B14F-4D97-AF65-F5344CB8AC3E}">
        <p14:creationId xmlns:p14="http://schemas.microsoft.com/office/powerpoint/2010/main" val="9749858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CC3A-636D-C383-98DC-6F394F040A61}"/>
              </a:ext>
            </a:extLst>
          </p:cNvPr>
          <p:cNvSpPr>
            <a:spLocks noGrp="1"/>
          </p:cNvSpPr>
          <p:nvPr>
            <p:ph type="title"/>
          </p:nvPr>
        </p:nvSpPr>
        <p:spPr/>
        <p:txBody>
          <a:bodyPr>
            <a:normAutofit fontScale="90000"/>
          </a:bodyPr>
          <a:lstStyle/>
          <a:p>
            <a:r>
              <a:rPr lang="he-IL" b="1" i="0" dirty="0">
                <a:solidFill>
                  <a:srgbClr val="000000"/>
                </a:solidFill>
                <a:effectLst/>
                <a:latin typeface="-apple-system"/>
              </a:rPr>
              <a:t>הבעיה היא בהבדל בין איך + מתנהג עם מספרים ועם טקסטים. קלט שאנחנו מקבלים עם </a:t>
            </a:r>
            <a:r>
              <a:rPr lang="en-US" b="1" i="0" dirty="0">
                <a:solidFill>
                  <a:srgbClr val="000000"/>
                </a:solidFill>
                <a:effectLst/>
                <a:latin typeface="-apple-system"/>
              </a:rPr>
              <a:t>prompt() </a:t>
            </a:r>
            <a:r>
              <a:rPr lang="he-IL" b="1" i="0" dirty="0">
                <a:solidFill>
                  <a:srgbClr val="000000"/>
                </a:solidFill>
                <a:effectLst/>
                <a:latin typeface="-apple-system"/>
              </a:rPr>
              <a:t> הוא מסוג טקסט, גם אם הקלדנו מספר.</a:t>
            </a:r>
            <a:br>
              <a:rPr lang="he-IL" b="1" i="0" dirty="0">
                <a:solidFill>
                  <a:srgbClr val="000000"/>
                </a:solidFill>
                <a:effectLst/>
                <a:latin typeface="-apple-system"/>
              </a:rPr>
            </a:br>
            <a:endParaRPr lang="en-IL" dirty="0"/>
          </a:p>
        </p:txBody>
      </p:sp>
      <p:pic>
        <p:nvPicPr>
          <p:cNvPr id="5" name="Picture 4" descr="A screenshot of a computer&#10;&#10;Description automatically generated">
            <a:extLst>
              <a:ext uri="{FF2B5EF4-FFF2-40B4-BE49-F238E27FC236}">
                <a16:creationId xmlns:a16="http://schemas.microsoft.com/office/drawing/2014/main" id="{756FAA34-5116-9A20-FEF4-9B3ACE8DA9DE}"/>
              </a:ext>
            </a:extLst>
          </p:cNvPr>
          <p:cNvPicPr>
            <a:picLocks noChangeAspect="1"/>
          </p:cNvPicPr>
          <p:nvPr/>
        </p:nvPicPr>
        <p:blipFill>
          <a:blip r:embed="rId2"/>
          <a:stretch>
            <a:fillRect/>
          </a:stretch>
        </p:blipFill>
        <p:spPr>
          <a:xfrm>
            <a:off x="530063" y="2571750"/>
            <a:ext cx="6007100" cy="1943100"/>
          </a:xfrm>
          <a:prstGeom prst="rect">
            <a:avLst/>
          </a:prstGeom>
        </p:spPr>
      </p:pic>
    </p:spTree>
    <p:extLst>
      <p:ext uri="{BB962C8B-B14F-4D97-AF65-F5344CB8AC3E}">
        <p14:creationId xmlns:p14="http://schemas.microsoft.com/office/powerpoint/2010/main" val="3289612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CC3A-636D-C383-98DC-6F394F040A61}"/>
              </a:ext>
            </a:extLst>
          </p:cNvPr>
          <p:cNvSpPr>
            <a:spLocks noGrp="1"/>
          </p:cNvSpPr>
          <p:nvPr>
            <p:ph type="title"/>
          </p:nvPr>
        </p:nvSpPr>
        <p:spPr/>
        <p:txBody>
          <a:bodyPr>
            <a:normAutofit fontScale="90000"/>
          </a:bodyPr>
          <a:lstStyle/>
          <a:p>
            <a:r>
              <a:rPr lang="he-IL" b="1" i="0" dirty="0">
                <a:solidFill>
                  <a:srgbClr val="000000"/>
                </a:solidFill>
                <a:effectLst/>
                <a:latin typeface="-apple-system"/>
              </a:rPr>
              <a:t>מה יקרה אם נחבר בין טקסט למספר? כמו 3 + '4'? האם אפשר להשתמש בזה כדי לפתוח את הבעיה בתוכנית שמחברת בין מספרים?</a:t>
            </a:r>
            <a:br>
              <a:rPr lang="he-IL" b="1" i="0" dirty="0">
                <a:solidFill>
                  <a:srgbClr val="000000"/>
                </a:solidFill>
                <a:effectLst/>
                <a:latin typeface="-apple-system"/>
              </a:rPr>
            </a:br>
            <a:br>
              <a:rPr lang="he-IL" dirty="0"/>
            </a:br>
            <a:endParaRPr lang="en-IL" dirty="0"/>
          </a:p>
        </p:txBody>
      </p:sp>
      <p:pic>
        <p:nvPicPr>
          <p:cNvPr id="5" name="Picture 4" descr="A screenshot of a computer&#10;&#10;Description automatically generated">
            <a:extLst>
              <a:ext uri="{FF2B5EF4-FFF2-40B4-BE49-F238E27FC236}">
                <a16:creationId xmlns:a16="http://schemas.microsoft.com/office/drawing/2014/main" id="{756FAA34-5116-9A20-FEF4-9B3ACE8DA9DE}"/>
              </a:ext>
            </a:extLst>
          </p:cNvPr>
          <p:cNvPicPr>
            <a:picLocks noChangeAspect="1"/>
          </p:cNvPicPr>
          <p:nvPr/>
        </p:nvPicPr>
        <p:blipFill>
          <a:blip r:embed="rId2"/>
          <a:stretch>
            <a:fillRect/>
          </a:stretch>
        </p:blipFill>
        <p:spPr>
          <a:xfrm>
            <a:off x="530063" y="2571750"/>
            <a:ext cx="6007100" cy="1943100"/>
          </a:xfrm>
          <a:prstGeom prst="rect">
            <a:avLst/>
          </a:prstGeom>
        </p:spPr>
      </p:pic>
    </p:spTree>
    <p:extLst>
      <p:ext uri="{BB962C8B-B14F-4D97-AF65-F5344CB8AC3E}">
        <p14:creationId xmlns:p14="http://schemas.microsoft.com/office/powerpoint/2010/main" val="1861559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CC3A-636D-C383-98DC-6F394F040A61}"/>
              </a:ext>
            </a:extLst>
          </p:cNvPr>
          <p:cNvSpPr>
            <a:spLocks noGrp="1"/>
          </p:cNvSpPr>
          <p:nvPr>
            <p:ph type="title"/>
          </p:nvPr>
        </p:nvSpPr>
        <p:spPr/>
        <p:txBody>
          <a:bodyPr>
            <a:normAutofit fontScale="90000"/>
          </a:bodyPr>
          <a:lstStyle/>
          <a:p>
            <a:r>
              <a:rPr lang="he-IL" b="1" i="0" dirty="0">
                <a:solidFill>
                  <a:srgbClr val="000000"/>
                </a:solidFill>
                <a:effectLst/>
                <a:latin typeface="-apple-system"/>
              </a:rPr>
              <a:t>פתרון – השתמשו ב-</a:t>
            </a:r>
            <a:r>
              <a:rPr lang="he-IL" b="1" i="0" dirty="0" err="1">
                <a:solidFill>
                  <a:srgbClr val="000000"/>
                </a:solidFill>
                <a:effectLst/>
                <a:latin typeface="-apple-system"/>
              </a:rPr>
              <a:t>prompt</a:t>
            </a:r>
            <a:r>
              <a:rPr lang="en-US" b="1" i="0" dirty="0">
                <a:solidFill>
                  <a:srgbClr val="000000"/>
                </a:solidFill>
                <a:effectLst/>
                <a:latin typeface="-apple-system"/>
              </a:rPr>
              <a:t>()</a:t>
            </a:r>
            <a:r>
              <a:rPr lang="he-IL" b="1" dirty="0">
                <a:solidFill>
                  <a:srgbClr val="000000"/>
                </a:solidFill>
                <a:latin typeface="-apple-system"/>
              </a:rPr>
              <a:t>+</a:t>
            </a:r>
            <a:endParaRPr lang="en-IL" dirty="0"/>
          </a:p>
        </p:txBody>
      </p:sp>
      <p:pic>
        <p:nvPicPr>
          <p:cNvPr id="4" name="Picture 3" descr="A white background with red text&#10;&#10;Description automatically generated">
            <a:extLst>
              <a:ext uri="{FF2B5EF4-FFF2-40B4-BE49-F238E27FC236}">
                <a16:creationId xmlns:a16="http://schemas.microsoft.com/office/drawing/2014/main" id="{4CCF2EE4-F135-84B6-8FAF-72518DCC4F67}"/>
              </a:ext>
            </a:extLst>
          </p:cNvPr>
          <p:cNvPicPr>
            <a:picLocks noChangeAspect="1"/>
          </p:cNvPicPr>
          <p:nvPr/>
        </p:nvPicPr>
        <p:blipFill>
          <a:blip r:embed="rId2"/>
          <a:stretch>
            <a:fillRect/>
          </a:stretch>
        </p:blipFill>
        <p:spPr>
          <a:xfrm>
            <a:off x="458923" y="2571750"/>
            <a:ext cx="7121634" cy="1750232"/>
          </a:xfrm>
          <a:prstGeom prst="rect">
            <a:avLst/>
          </a:prstGeom>
        </p:spPr>
      </p:pic>
    </p:spTree>
    <p:extLst>
      <p:ext uri="{BB962C8B-B14F-4D97-AF65-F5344CB8AC3E}">
        <p14:creationId xmlns:p14="http://schemas.microsoft.com/office/powerpoint/2010/main" val="220083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89702-8C5A-C85B-C689-5D58BEB22182}"/>
              </a:ext>
            </a:extLst>
          </p:cNvPr>
          <p:cNvSpPr>
            <a:spLocks noGrp="1"/>
          </p:cNvSpPr>
          <p:nvPr>
            <p:ph type="title"/>
          </p:nvPr>
        </p:nvSpPr>
        <p:spPr/>
        <p:txBody>
          <a:bodyPr>
            <a:normAutofit fontScale="90000"/>
          </a:bodyPr>
          <a:lstStyle/>
          <a:p>
            <a:pPr marR="0" algn="r" rtl="0">
              <a:lnSpc>
                <a:spcPct val="100000"/>
              </a:lnSpc>
              <a:spcBef>
                <a:spcPts val="0"/>
              </a:spcBef>
              <a:spcAft>
                <a:spcPts val="0"/>
              </a:spcAft>
              <a:buClr>
                <a:schemeClr val="dk1"/>
              </a:buClr>
              <a:buSzPts val="2800"/>
              <a:buFont typeface="Arial"/>
              <a:buNone/>
            </a:pPr>
            <a:r>
              <a:rPr lang="he-IL" dirty="0"/>
              <a:t>תרגול</a:t>
            </a:r>
            <a:endParaRPr lang="en-IL" dirty="0"/>
          </a:p>
        </p:txBody>
      </p:sp>
      <p:sp>
        <p:nvSpPr>
          <p:cNvPr id="3" name="Text Placeholder 2">
            <a:extLst>
              <a:ext uri="{FF2B5EF4-FFF2-40B4-BE49-F238E27FC236}">
                <a16:creationId xmlns:a16="http://schemas.microsoft.com/office/drawing/2014/main" id="{6A1232D5-38B6-225A-B532-17CB5474FACE}"/>
              </a:ext>
            </a:extLst>
          </p:cNvPr>
          <p:cNvSpPr>
            <a:spLocks noGrp="1"/>
          </p:cNvSpPr>
          <p:nvPr>
            <p:ph type="body" idx="1"/>
          </p:nvPr>
        </p:nvSpPr>
        <p:spPr>
          <a:xfrm>
            <a:off x="311700" y="1152475"/>
            <a:ext cx="8520600" cy="3853478"/>
          </a:xfrm>
        </p:spPr>
        <p:txBody>
          <a:bodyPr>
            <a:normAutofit/>
          </a:bodyPr>
          <a:lstStyle/>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תכתבו קוד שמקבל מהמשתמש שלושה מספרים ומחזיר שתי תוצאות שונות, תשתמשו בסוגריים. השתמשו ב- </a:t>
            </a:r>
            <a:r>
              <a:rPr lang="en-US" sz="1800" b="0" i="0" u="none" strike="noStrike" dirty="0" err="1">
                <a:solidFill>
                  <a:srgbClr val="000000"/>
                </a:solidFill>
                <a:effectLst/>
                <a:latin typeface="Arial" panose="020B0604020202020204" pitchFamily="34" charset="0"/>
              </a:rPr>
              <a:t>console.log</a:t>
            </a:r>
            <a:r>
              <a:rPr lang="en-US" sz="1800" b="0" i="0" u="none" strike="noStrike" dirty="0">
                <a:solidFill>
                  <a:srgbClr val="000000"/>
                </a:solidFill>
                <a:effectLst/>
                <a:latin typeface="Arial" panose="020B0604020202020204" pitchFamily="34" charset="0"/>
              </a:rPr>
              <a:t>()</a:t>
            </a:r>
          </a:p>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כתבו תוכנית שקולטת 2 מספרים, ומדפיסה הממוצע שלהם השתמשו ב- </a:t>
            </a:r>
            <a:r>
              <a:rPr lang="en-US" sz="1800" b="0" i="0" u="none" strike="noStrike" dirty="0" err="1">
                <a:solidFill>
                  <a:srgbClr val="000000"/>
                </a:solidFill>
                <a:effectLst/>
                <a:latin typeface="Arial" panose="020B0604020202020204" pitchFamily="34" charset="0"/>
              </a:rPr>
              <a:t>console.log</a:t>
            </a:r>
            <a:r>
              <a:rPr lang="en-US" sz="1800" b="0" i="0" u="none" strike="noStrike" dirty="0">
                <a:solidFill>
                  <a:srgbClr val="000000"/>
                </a:solidFill>
                <a:effectLst/>
                <a:latin typeface="Arial" panose="020B0604020202020204" pitchFamily="34" charset="0"/>
              </a:rPr>
              <a:t>()</a:t>
            </a:r>
          </a:p>
          <a:p>
            <a:pPr algn="r" rtl="1" fontAlgn="base">
              <a:spcBef>
                <a:spcPts val="0"/>
              </a:spcBef>
              <a:spcAft>
                <a:spcPts val="0"/>
              </a:spcAft>
              <a:buFont typeface="+mj-lt"/>
              <a:buAutoNum type="arabicPeriod"/>
            </a:pPr>
            <a:r>
              <a:rPr lang="he-IL" sz="1800" b="0" i="0" u="none" strike="noStrike" dirty="0">
                <a:solidFill>
                  <a:srgbClr val="000000"/>
                </a:solidFill>
                <a:effectLst/>
                <a:latin typeface="Arial" panose="020B0604020202020204" pitchFamily="34" charset="0"/>
              </a:rPr>
              <a:t>כתבו תוכנית שקולטת 2 מספרים, ופעולה מתמטית ומדפיסה את התהליך למשתמש . השתמשו ב- </a:t>
            </a:r>
            <a:r>
              <a:rPr lang="en-US" sz="1800" b="0" i="0" u="none" strike="noStrike" dirty="0" err="1">
                <a:solidFill>
                  <a:srgbClr val="000000"/>
                </a:solidFill>
                <a:effectLst/>
                <a:latin typeface="Arial" panose="020B0604020202020204" pitchFamily="34" charset="0"/>
              </a:rPr>
              <a:t>console.log</a:t>
            </a:r>
            <a:r>
              <a:rPr lang="en-US" sz="1800" b="0" i="0" u="none" strike="noStrike" dirty="0">
                <a:solidFill>
                  <a:srgbClr val="000000"/>
                </a:solidFill>
                <a:effectLst/>
                <a:latin typeface="Arial" panose="020B0604020202020204" pitchFamily="34" charset="0"/>
              </a:rPr>
              <a:t>()</a:t>
            </a:r>
          </a:p>
          <a:p>
            <a:pPr marL="114300" indent="0" algn="r" rtl="1">
              <a:spcBef>
                <a:spcPts val="0"/>
              </a:spcBef>
              <a:spcAft>
                <a:spcPts val="0"/>
              </a:spcAft>
              <a:buNone/>
            </a:pPr>
            <a:r>
              <a:rPr lang="he-IL" sz="1800" b="0" i="0" u="none" strike="noStrike" dirty="0">
                <a:solidFill>
                  <a:srgbClr val="000000"/>
                </a:solidFill>
                <a:effectLst/>
                <a:latin typeface="Arial" panose="020B0604020202020204" pitchFamily="34" charset="0"/>
              </a:rPr>
              <a:t>למשל: </a:t>
            </a:r>
            <a:r>
              <a:rPr lang="en-US" sz="1800" b="0" i="0" u="none" strike="noStrike" dirty="0">
                <a:solidFill>
                  <a:srgbClr val="000000"/>
                </a:solidFill>
                <a:effectLst/>
                <a:latin typeface="Arial" panose="020B0604020202020204" pitchFamily="34" charset="0"/>
              </a:rPr>
              <a:t>num1 = 8</a:t>
            </a:r>
            <a:r>
              <a:rPr lang="he-IL" sz="1800" b="0" i="0" u="none" strike="noStrike" dirty="0">
                <a:solidFill>
                  <a:srgbClr val="000000"/>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num2 = 6</a:t>
            </a:r>
            <a:endParaRPr lang="en-US" b="0" dirty="0">
              <a:effectLst/>
            </a:endParaRPr>
          </a:p>
          <a:p>
            <a:pPr marL="114300" indent="0" algn="r" rtl="1">
              <a:spcBef>
                <a:spcPts val="0"/>
              </a:spcBef>
              <a:spcAft>
                <a:spcPts val="0"/>
              </a:spcAft>
              <a:buNone/>
            </a:pPr>
            <a:r>
              <a:rPr lang="he-IL" sz="1800" b="0" i="0" u="none" strike="noStrike" dirty="0">
                <a:solidFill>
                  <a:srgbClr val="000000"/>
                </a:solidFill>
                <a:effectLst/>
                <a:latin typeface="Arial" panose="020B0604020202020204" pitchFamily="34" charset="0"/>
              </a:rPr>
              <a:t>פעולה מתמטית = ׳*׳</a:t>
            </a:r>
            <a:endParaRPr lang="he-IL" b="0" dirty="0">
              <a:effectLst/>
            </a:endParaRPr>
          </a:p>
          <a:p>
            <a:pPr marL="114300" indent="0" algn="r" rtl="1">
              <a:spcBef>
                <a:spcPts val="0"/>
              </a:spcBef>
              <a:spcAft>
                <a:spcPts val="0"/>
              </a:spcAft>
              <a:buNone/>
            </a:pPr>
            <a:r>
              <a:rPr lang="he-IL" sz="1800" b="0" i="0" u="none" strike="noStrike" dirty="0">
                <a:solidFill>
                  <a:srgbClr val="000000"/>
                </a:solidFill>
                <a:effectLst/>
                <a:latin typeface="Arial" panose="020B0604020202020204" pitchFamily="34" charset="0"/>
              </a:rPr>
              <a:t>מודפס למשתמש: 8 * 6  </a:t>
            </a:r>
          </a:p>
          <a:p>
            <a:pPr marL="114300" indent="0" algn="r" rtl="1">
              <a:spcBef>
                <a:spcPts val="0"/>
              </a:spcBef>
              <a:spcAft>
                <a:spcPts val="0"/>
              </a:spcAft>
              <a:buNone/>
            </a:pPr>
            <a:r>
              <a:rPr lang="he-IL" b="0" dirty="0">
                <a:effectLst/>
              </a:rPr>
              <a:t>** לא מדפיסים למשתמש את התוצאה, אלא את הטקסט 6* 8 </a:t>
            </a:r>
          </a:p>
          <a:p>
            <a:pPr marL="114300" indent="0">
              <a:buNone/>
            </a:pPr>
            <a:br>
              <a:rPr lang="he-IL" dirty="0"/>
            </a:br>
            <a:endParaRPr lang="en-IL" dirty="0"/>
          </a:p>
        </p:txBody>
      </p:sp>
    </p:spTree>
    <p:extLst>
      <p:ext uri="{BB962C8B-B14F-4D97-AF65-F5344CB8AC3E}">
        <p14:creationId xmlns:p14="http://schemas.microsoft.com/office/powerpoint/2010/main" val="42881467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5866</TotalTime>
  <Words>1067</Words>
  <Application>Microsoft Macintosh PowerPoint</Application>
  <PresentationFormat>On-screen Show (16:9)</PresentationFormat>
  <Paragraphs>128</Paragraphs>
  <Slides>32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Arimo</vt:lpstr>
      <vt:lpstr>Calibri</vt:lpstr>
      <vt:lpstr>-apple-system</vt:lpstr>
      <vt:lpstr>Garamond</vt:lpstr>
      <vt:lpstr>Simple Light</vt:lpstr>
      <vt:lpstr>PowerPoint Presentation</vt:lpstr>
      <vt:lpstr>הקדמה – קלט ופלט</vt:lpstr>
      <vt:lpstr>פלט:</vt:lpstr>
      <vt:lpstr>הערות – חלקים ״לא פעילים״ בקוד</vt:lpstr>
      <vt:lpstr>דרכים לסימון הערות:</vt:lpstr>
      <vt:lpstr>תרגול</vt:lpstr>
      <vt:lpstr>משתנים</vt:lpstr>
      <vt:lpstr>משתנים</vt:lpstr>
      <vt:lpstr>סוגי משתנים:</vt:lpstr>
      <vt:lpstr>סוגי משתנים</vt:lpstr>
      <vt:lpstr>תרגול </vt:lpstr>
      <vt:lpstr>הצבה במשתנים</vt:lpstr>
      <vt:lpstr>תרגול</vt:lpstr>
      <vt:lpstr>שימו </vt:lpstr>
      <vt:lpstr>PowerPoint Presentation</vt:lpstr>
      <vt:lpstr>שימו </vt:lpstr>
      <vt:lpstr>שימו </vt:lpstr>
      <vt:lpstr>קלט ואופרטורים</vt:lpstr>
      <vt:lpstr>תרגול</vt:lpstr>
      <vt:lpstr>אופרטורים (פעולות)</vt:lpstr>
      <vt:lpstr>שימו לב - אפשר לבצע פעולה על משתנה ולשמור את התוצאה בחזרה במשתנה: </vt:lpstr>
      <vt:lpstr>אפשר לשלב בין פעולות, ולהשתמש בסוגריים כדי להשפיע על סדר הפעולות: </vt:lpstr>
      <vt:lpstr>תרגול</vt:lpstr>
      <vt:lpstr>תרגול</vt:lpstr>
      <vt:lpstr>חיבור שני טקסטים - אנחנו יכולים לחבר ביחד טקסטים בעזרת האופרטור '+' </vt:lpstr>
      <vt:lpstr>תרגול</vt:lpstr>
      <vt:lpstr>תרגול</vt:lpstr>
      <vt:lpstr>בואו נכתוב תוכנית שקולטת מהמשתמש שני מספרים ומדפיסה את הסכום שלהם: מה הבעיה בתוכנית? </vt:lpstr>
      <vt:lpstr>הבעיה היא בהבדל בין איך + מתנהג עם מספרים ועם טקסטים. קלט שאנחנו מקבלים עם prompt()  הוא מסוג טקסט, גם אם הקלדנו מספר. </vt:lpstr>
      <vt:lpstr>מה יקרה אם נחבר בין טקסט למספר? כמו 3 + '4'? האם אפשר להשתמש בזה כדי לפתוח את הבעיה בתוכנית שמחברת בין מספרים?  </vt:lpstr>
      <vt:lpstr>פתרון – השתמשו ב-prompt()+</vt:lpstr>
      <vt:lpstr>תרגול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Maya Majlaton</dc:creator>
  <cp:lastModifiedBy>Ziv זיו יוסף</cp:lastModifiedBy>
  <cp:revision>31</cp:revision>
  <dcterms:modified xsi:type="dcterms:W3CDTF">2024-04-14T13:46:40Z</dcterms:modified>
</cp:coreProperties>
</file>