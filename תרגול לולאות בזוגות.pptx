
<file path=[Content_Types].xml><?xml version="1.0" encoding="utf-8"?>
<Types xmlns="http://schemas.openxmlformats.org/package/2006/content-types"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60" r:id="rId1"/>
  </p:sldMasterIdLst>
  <p:notesMasterIdLst>
    <p:notesMasterId r:id="rId18"/>
  </p:notesMasterIdLst>
  <p:sldIdLst>
    <p:sldId id="256" r:id="rId2"/>
    <p:sldId id="258" r:id="rId3"/>
    <p:sldId id="260" r:id="rId4"/>
    <p:sldId id="261" r:id="rId5"/>
    <p:sldId id="262" r:id="rId6"/>
    <p:sldId id="264" r:id="rId7"/>
    <p:sldId id="269" r:id="rId8"/>
    <p:sldId id="268" r:id="rId9"/>
    <p:sldId id="274" r:id="rId10"/>
    <p:sldId id="265" r:id="rId11"/>
    <p:sldId id="267" r:id="rId12"/>
    <p:sldId id="270" r:id="rId13"/>
    <p:sldId id="271" r:id="rId14"/>
    <p:sldId id="272" r:id="rId15"/>
    <p:sldId id="273" r:id="rId16"/>
    <p:sldId id="266" r:id="rId17"/>
  </p:sldIdLst>
  <p:sldSz cx="9144000" cy="5143500" type="screen16x9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10"/>
    <p:restoredTop sz="79538"/>
  </p:normalViewPr>
  <p:slideViewPr>
    <p:cSldViewPr snapToGrid="0">
      <p:cViewPr varScale="1">
        <p:scale>
          <a:sx n="117" d="100"/>
          <a:sy n="117" d="100"/>
        </p:scale>
        <p:origin x="1480" y="1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3926967895"/>
      </p:ext>
    </p:extLst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p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8" name="Google Shape;58;p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64464137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457200" marR="0" indent="-298450" algn="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</a:pPr>
            <a:r>
              <a:rPr lang="en-US" dirty="0"/>
              <a:t>W</a:t>
            </a:r>
            <a:r>
              <a:rPr lang="he-IL" dirty="0" err="1"/>
              <a:t>hile</a:t>
            </a:r>
            <a:r>
              <a:rPr lang="he-IL" dirty="0"/>
              <a:t> משמשת הרבה </a:t>
            </a:r>
            <a:r>
              <a:rPr lang="he-IL" dirty="0" err="1"/>
              <a:t>כמתכנטים</a:t>
            </a:r>
            <a:r>
              <a:rPr lang="he-IL" dirty="0"/>
              <a:t> לתכנות משחקים, השימוש העיקרי הוא שאפשר לרוץ בלולאה כל עוד השחקן מקיים את תנאי המשחק</a:t>
            </a:r>
            <a:br>
              <a:rPr lang="en-US" dirty="0"/>
            </a:br>
            <a:r>
              <a:rPr lang="he-IL" dirty="0"/>
              <a:t>פה הילדים יתנסו בליצור לולאה שתקיים את תנאי משחק </a:t>
            </a:r>
            <a:r>
              <a:rPr lang="he-IL" dirty="0" err="1"/>
              <a:t>snake</a:t>
            </a:r>
            <a:r>
              <a:rPr lang="he-IL" dirty="0"/>
              <a:t> (בצורה מצומצמת)</a:t>
            </a:r>
            <a:br>
              <a:rPr lang="en-US" dirty="0"/>
            </a:br>
            <a:r>
              <a:rPr lang="he-IL" dirty="0"/>
              <a:t>נתחיל מלתרגל את </a:t>
            </a:r>
            <a:r>
              <a:rPr lang="he-IL" dirty="0" err="1"/>
              <a:t>while</a:t>
            </a:r>
            <a:r>
              <a:rPr lang="he-IL" dirty="0"/>
              <a:t> בשימוש הוספת </a:t>
            </a:r>
            <a:r>
              <a:rPr lang="he-IL" dirty="0" err="1"/>
              <a:t>נקודוץ</a:t>
            </a:r>
            <a:r>
              <a:rPr lang="he-IL" dirty="0"/>
              <a:t> ויציאה מהלולאה באמצעות </a:t>
            </a:r>
            <a:r>
              <a:rPr lang="he-IL" dirty="0" err="1"/>
              <a:t>break</a:t>
            </a:r>
            <a:r>
              <a:rPr lang="he-IL" dirty="0"/>
              <a:t> כל עוד השחקן לא מקיים את תנאי המשחק</a:t>
            </a:r>
            <a:br>
              <a:rPr lang="en-US" dirty="0"/>
            </a:br>
            <a:r>
              <a:rPr lang="he-IL" dirty="0"/>
              <a:t>נמשיך </a:t>
            </a:r>
            <a:r>
              <a:rPr lang="he-IL" dirty="0" err="1"/>
              <a:t>לליצור</a:t>
            </a:r>
            <a:r>
              <a:rPr lang="he-IL" dirty="0"/>
              <a:t> את הלולאה לפי תנאי משחק </a:t>
            </a:r>
            <a:r>
              <a:rPr lang="he-IL" dirty="0" err="1"/>
              <a:t>snake</a:t>
            </a:r>
            <a:br>
              <a:rPr lang="en-US" dirty="0"/>
            </a:br>
            <a:r>
              <a:rPr lang="he-IL" dirty="0"/>
              <a:t>אם הילדים לא מכירים את המשחק ניתן להראות כמה שניות מהסרטון הבא:</a:t>
            </a:r>
            <a:br>
              <a:rPr lang="en-US" dirty="0"/>
            </a:br>
            <a:r>
              <a:rPr lang="en-US" dirty="0"/>
              <a:t>https://</a:t>
            </a:r>
            <a:r>
              <a:rPr lang="en-US" dirty="0" err="1"/>
              <a:t>www.youtube.com</a:t>
            </a:r>
            <a:r>
              <a:rPr lang="en-US" dirty="0"/>
              <a:t>/</a:t>
            </a:r>
            <a:r>
              <a:rPr lang="en-US" dirty="0" err="1"/>
              <a:t>watch?v</a:t>
            </a:r>
            <a:r>
              <a:rPr lang="en-US" dirty="0"/>
              <a:t>=DekS8Pgb1qc&amp;ab_channel=AN%C4%B0MASYONCU</a:t>
            </a:r>
            <a:endParaRPr lang="he-IL" dirty="0"/>
          </a:p>
          <a:p>
            <a:pPr marL="457200" marR="0" indent="-298450" algn="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</a:pPr>
            <a:endParaRPr lang="he-IL" dirty="0"/>
          </a:p>
        </p:txBody>
      </p:sp>
    </p:spTree>
    <p:extLst>
      <p:ext uri="{BB962C8B-B14F-4D97-AF65-F5344CB8AC3E}">
        <p14:creationId xmlns:p14="http://schemas.microsoft.com/office/powerpoint/2010/main" val="1678446784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457200" marR="0" indent="-298450" algn="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</a:pPr>
            <a:r>
              <a:rPr lang="he-IL" dirty="0"/>
              <a:t>אתגרו את הילדים להעלות דוגמאות נוספות</a:t>
            </a:r>
          </a:p>
        </p:txBody>
      </p:sp>
    </p:spTree>
    <p:extLst>
      <p:ext uri="{BB962C8B-B14F-4D97-AF65-F5344CB8AC3E}">
        <p14:creationId xmlns:p14="http://schemas.microsoft.com/office/powerpoint/2010/main" val="321894594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457200" marR="0" indent="-298450" algn="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</a:pPr>
            <a:r>
              <a:rPr lang="he-IL" dirty="0"/>
              <a:t>מטרת השלב היא לתרגל בהדרגה:</a:t>
            </a:r>
            <a:br>
              <a:rPr lang="en-US" dirty="0"/>
            </a:br>
            <a:r>
              <a:rPr lang="he-IL" dirty="0"/>
              <a:t>כעת הילדים מתנסים בהוספת נקודות לשחקן והגדרת מצב הניצחון,</a:t>
            </a:r>
            <a:br>
              <a:rPr lang="en-US" dirty="0"/>
            </a:br>
            <a:r>
              <a:rPr lang="he-IL" dirty="0"/>
              <a:t>שימו לב שבתנאי הלולאה נשים את הסיטואציה ה-לא טובה (כל עוד לשחקן פחות מ-5 נקודות)</a:t>
            </a:r>
            <a:br>
              <a:rPr lang="en-US" dirty="0"/>
            </a:br>
            <a:r>
              <a:rPr lang="he-IL" dirty="0"/>
              <a:t>עוד דגש – כל  עוד אנחנו בלולאה אנחנו בתוך המשחק – ברגע שיצאנו = סיימנו את המשחק</a:t>
            </a:r>
          </a:p>
        </p:txBody>
      </p:sp>
    </p:spTree>
    <p:extLst>
      <p:ext uri="{BB962C8B-B14F-4D97-AF65-F5344CB8AC3E}">
        <p14:creationId xmlns:p14="http://schemas.microsoft.com/office/powerpoint/2010/main" val="2879312423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457200" marR="0" indent="-298450" algn="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</a:pPr>
            <a:endParaRPr lang="he-IL" dirty="0"/>
          </a:p>
        </p:txBody>
      </p:sp>
    </p:spTree>
    <p:extLst>
      <p:ext uri="{BB962C8B-B14F-4D97-AF65-F5344CB8AC3E}">
        <p14:creationId xmlns:p14="http://schemas.microsoft.com/office/powerpoint/2010/main" val="3623043625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457200" marR="0" indent="-298450" algn="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</a:pPr>
            <a:r>
              <a:rPr lang="he-IL" dirty="0"/>
              <a:t>נרצה לעבור לשימוש ב-</a:t>
            </a:r>
            <a:r>
              <a:rPr lang="he-IL" dirty="0" err="1"/>
              <a:t>break</a:t>
            </a:r>
            <a:br>
              <a:rPr lang="en-US" dirty="0"/>
            </a:br>
            <a:r>
              <a:rPr lang="he-IL" dirty="0"/>
              <a:t>למה? </a:t>
            </a:r>
            <a:br>
              <a:rPr lang="en-US" dirty="0"/>
            </a:br>
            <a:r>
              <a:rPr lang="he-IL" dirty="0"/>
              <a:t>במשחק רגיל יש הרבה תנאים לסיום המשחק ו-</a:t>
            </a:r>
            <a:r>
              <a:rPr lang="he-IL" dirty="0" err="1"/>
              <a:t>break</a:t>
            </a:r>
            <a:r>
              <a:rPr lang="he-IL" dirty="0"/>
              <a:t> מאפשר לנו לטפל בכולם במקביל</a:t>
            </a:r>
            <a:br>
              <a:rPr lang="en-US" dirty="0"/>
            </a:br>
            <a:r>
              <a:rPr lang="he-IL" dirty="0"/>
              <a:t>פה הילדים בעיקר מתנסים בפונקציה </a:t>
            </a:r>
            <a:r>
              <a:rPr lang="he-IL" dirty="0" err="1"/>
              <a:t>break</a:t>
            </a:r>
            <a:r>
              <a:rPr lang="he-IL" dirty="0"/>
              <a:t>,</a:t>
            </a:r>
            <a:br>
              <a:rPr lang="en-US" dirty="0"/>
            </a:br>
            <a:r>
              <a:rPr lang="he-IL" dirty="0"/>
              <a:t>בדקו שהם מבינים שהפונקציה יצאה למרות שמספר הנקודות הוא לא 5</a:t>
            </a:r>
            <a:br>
              <a:rPr lang="en-US" dirty="0"/>
            </a:br>
            <a:endParaRPr lang="he-IL" dirty="0"/>
          </a:p>
        </p:txBody>
      </p:sp>
    </p:spTree>
    <p:extLst>
      <p:ext uri="{BB962C8B-B14F-4D97-AF65-F5344CB8AC3E}">
        <p14:creationId xmlns:p14="http://schemas.microsoft.com/office/powerpoint/2010/main" val="776667917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457200" marR="0" indent="-298450" algn="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</a:pPr>
            <a:r>
              <a:rPr lang="he-IL" dirty="0"/>
              <a:t>כעת נעבור למבנה מקצועי יותר, הלולאה רצה תמיד – כי </a:t>
            </a:r>
            <a:r>
              <a:rPr lang="he-IL" dirty="0" err="1"/>
              <a:t>true</a:t>
            </a:r>
            <a:r>
              <a:rPr lang="he-IL" dirty="0"/>
              <a:t> הוא תמיד נכון, והיא תפסיק לרוץ. רק כשמספר הנקודות הוא 5</a:t>
            </a:r>
            <a:br>
              <a:rPr lang="en-US" dirty="0"/>
            </a:br>
            <a:r>
              <a:rPr lang="he-IL" dirty="0"/>
              <a:t>בדוק שהם מבינים שגם פה הלולאה מוסיפה נקודה בכל פעם, אבל שאם לא נכתוב את שורות 3 4 5 הלולאה תרוץ כל הזמן. פה אנחנו שמים את הסיטואציה הטובה – </a:t>
            </a:r>
            <a:r>
              <a:rPr lang="he-IL" dirty="0" err="1"/>
              <a:t>סיטואצית</a:t>
            </a:r>
            <a:r>
              <a:rPr lang="he-IL" dirty="0"/>
              <a:t> הניצחון כתנאי יציאה</a:t>
            </a:r>
            <a:br>
              <a:rPr lang="en-US" dirty="0"/>
            </a:br>
            <a:br>
              <a:rPr lang="en-US" dirty="0"/>
            </a:br>
            <a:r>
              <a:rPr lang="he-IL" dirty="0"/>
              <a:t>בשקופית הבאה יש פתרון נוסף – עם </a:t>
            </a:r>
            <a:r>
              <a:rPr lang="he-IL" dirty="0" err="1"/>
              <a:t>continue</a:t>
            </a:r>
            <a:r>
              <a:rPr lang="he-IL" dirty="0"/>
              <a:t>, למי שרוצה להעשיר את החניכים בידע נוסף – כרגע זה לא ידע הכרחי לתרגיל</a:t>
            </a:r>
            <a:br>
              <a:rPr lang="en-US" dirty="0"/>
            </a:br>
            <a:endParaRPr lang="he-IL" dirty="0"/>
          </a:p>
        </p:txBody>
      </p:sp>
    </p:spTree>
    <p:extLst>
      <p:ext uri="{BB962C8B-B14F-4D97-AF65-F5344CB8AC3E}">
        <p14:creationId xmlns:p14="http://schemas.microsoft.com/office/powerpoint/2010/main" val="237098220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457200" marR="0" indent="-298450" algn="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</a:pPr>
            <a:r>
              <a:rPr lang="he-IL" dirty="0"/>
              <a:t>פתרון נוסף עם </a:t>
            </a:r>
            <a:r>
              <a:rPr lang="he-IL" dirty="0" err="1"/>
              <a:t>continue</a:t>
            </a:r>
            <a:endParaRPr lang="he-IL" dirty="0"/>
          </a:p>
        </p:txBody>
      </p:sp>
    </p:spTree>
    <p:extLst>
      <p:ext uri="{BB962C8B-B14F-4D97-AF65-F5344CB8AC3E}">
        <p14:creationId xmlns:p14="http://schemas.microsoft.com/office/powerpoint/2010/main" val="2208602482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457200" marR="0" indent="-298450" algn="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</a:pPr>
            <a:r>
              <a:rPr lang="he-IL" dirty="0"/>
              <a:t>כעת נעבור למבנה מקצועי יותר, הלולאה רצה תמיד – כי </a:t>
            </a:r>
            <a:r>
              <a:rPr lang="he-IL" dirty="0" err="1"/>
              <a:t>true</a:t>
            </a:r>
            <a:r>
              <a:rPr lang="he-IL" dirty="0"/>
              <a:t> הוא תמיד נכון, והיא תפסיק לרוץ. רק כשמספר הנקודות הוא 5</a:t>
            </a:r>
            <a:br>
              <a:rPr lang="en-US" dirty="0"/>
            </a:br>
            <a:r>
              <a:rPr lang="he-IL" dirty="0"/>
              <a:t>בדוק שהם מבינים שגם פה הלולאה מוסיפה נקודה בכל פעם, אבל שאם לא נכתוב את שורות 3 4 5 הלולאה תרוץ כל הזמן. פה אנחנו שמים את הסיטואציה הטובה – </a:t>
            </a:r>
            <a:r>
              <a:rPr lang="he-IL" dirty="0" err="1"/>
              <a:t>סיטואצית</a:t>
            </a:r>
            <a:r>
              <a:rPr lang="he-IL" dirty="0"/>
              <a:t> הניצחון כתנאי יציאה</a:t>
            </a:r>
          </a:p>
        </p:txBody>
      </p:sp>
    </p:spTree>
    <p:extLst>
      <p:ext uri="{BB962C8B-B14F-4D97-AF65-F5344CB8AC3E}">
        <p14:creationId xmlns:p14="http://schemas.microsoft.com/office/powerpoint/2010/main" val="2343456666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457200" marR="0" indent="-298450" algn="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</a:pPr>
            <a:r>
              <a:rPr lang="he-IL" dirty="0"/>
              <a:t>אתגרו את הילדים ותשאלו: למה צריך להוסיף את התנאי לפי התנאי שכבר רשמו?</a:t>
            </a:r>
            <a:br>
              <a:rPr lang="en-US" dirty="0"/>
            </a:br>
            <a:r>
              <a:rPr lang="he-IL" dirty="0"/>
              <a:t>למה צריך למחוק את שורה 4?</a:t>
            </a:r>
            <a:br>
              <a:rPr lang="en-US" dirty="0"/>
            </a:br>
            <a:r>
              <a:rPr lang="he-IL" dirty="0"/>
              <a:t>צריך לענות על השאלה רק בפורמט של </a:t>
            </a:r>
            <a:r>
              <a:rPr lang="he-IL" dirty="0" err="1"/>
              <a:t>yes</a:t>
            </a:r>
            <a:r>
              <a:rPr lang="he-IL" dirty="0"/>
              <a:t> או </a:t>
            </a:r>
            <a:r>
              <a:rPr lang="he-IL" dirty="0" err="1"/>
              <a:t>no</a:t>
            </a:r>
            <a:r>
              <a:rPr lang="he-IL" dirty="0"/>
              <a:t>. (או כן ולא בעברית) </a:t>
            </a:r>
            <a:br>
              <a:rPr lang="en-US" dirty="0"/>
            </a:br>
            <a:r>
              <a:rPr lang="he-IL" dirty="0"/>
              <a:t>כעת לא נוסיף מצב בו השחקן לא עונה כמו שצריך (למשל אם לא אמר לא </a:t>
            </a:r>
            <a:r>
              <a:rPr lang="he-IL" dirty="0" err="1"/>
              <a:t>yes</a:t>
            </a:r>
            <a:r>
              <a:rPr lang="he-IL" dirty="0"/>
              <a:t> ולא </a:t>
            </a:r>
            <a:r>
              <a:rPr lang="he-IL" dirty="0" err="1"/>
              <a:t>no</a:t>
            </a:r>
            <a:r>
              <a:rPr lang="he-IL" dirty="0"/>
              <a:t>) אם מישהו מסיים מוקדם ניתן לתת את זה כאתגר</a:t>
            </a:r>
          </a:p>
        </p:txBody>
      </p:sp>
    </p:spTree>
    <p:extLst>
      <p:ext uri="{BB962C8B-B14F-4D97-AF65-F5344CB8AC3E}">
        <p14:creationId xmlns:p14="http://schemas.microsoft.com/office/powerpoint/2010/main" val="2121449940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457200" marR="0" indent="-298450" algn="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</a:pPr>
            <a:r>
              <a:rPr lang="en-US" dirty="0"/>
              <a:t>W</a:t>
            </a:r>
            <a:r>
              <a:rPr lang="he-IL" dirty="0" err="1"/>
              <a:t>hile</a:t>
            </a:r>
            <a:r>
              <a:rPr lang="he-IL" dirty="0"/>
              <a:t> משמשת הרבה </a:t>
            </a:r>
            <a:r>
              <a:rPr lang="he-IL" dirty="0" err="1"/>
              <a:t>כמתכנטים</a:t>
            </a:r>
            <a:r>
              <a:rPr lang="he-IL" dirty="0"/>
              <a:t> לתכנות משחקים, השימוש העיקרי הוא שאפשר לרוץ בלולאה כל עוד השחקן מקיים את תנאי המשחק</a:t>
            </a:r>
            <a:br>
              <a:rPr lang="en-US" dirty="0"/>
            </a:br>
            <a:r>
              <a:rPr lang="he-IL" dirty="0"/>
              <a:t>פה הילדים יתנסו בליצור לולאה שתקיים את תנאי משחק </a:t>
            </a:r>
            <a:r>
              <a:rPr lang="he-IL" dirty="0" err="1"/>
              <a:t>snake</a:t>
            </a:r>
            <a:r>
              <a:rPr lang="he-IL" dirty="0"/>
              <a:t> (בצורה מצומצמת)</a:t>
            </a:r>
            <a:br>
              <a:rPr lang="en-US" dirty="0"/>
            </a:br>
            <a:r>
              <a:rPr lang="he-IL" dirty="0"/>
              <a:t>נתחיל מלתרגל את </a:t>
            </a:r>
            <a:r>
              <a:rPr lang="he-IL" dirty="0" err="1"/>
              <a:t>while</a:t>
            </a:r>
            <a:r>
              <a:rPr lang="he-IL" dirty="0"/>
              <a:t> בשימוש מהסוג הורדת חיים ויציאה מהלולאה באמצעות </a:t>
            </a:r>
            <a:r>
              <a:rPr lang="he-IL" dirty="0" err="1"/>
              <a:t>break</a:t>
            </a:r>
            <a:r>
              <a:rPr lang="he-IL" dirty="0"/>
              <a:t> כל עוד השחקן לא מקיים את תנאי המשחק</a:t>
            </a:r>
            <a:br>
              <a:rPr lang="en-US" dirty="0"/>
            </a:br>
            <a:r>
              <a:rPr lang="he-IL" dirty="0"/>
              <a:t>נמשיך </a:t>
            </a:r>
            <a:r>
              <a:rPr lang="he-IL" dirty="0" err="1"/>
              <a:t>לליצור</a:t>
            </a:r>
            <a:r>
              <a:rPr lang="he-IL" dirty="0"/>
              <a:t> את הלולאה לפי תנאי משחק </a:t>
            </a:r>
            <a:r>
              <a:rPr lang="he-IL" dirty="0" err="1"/>
              <a:t>snake</a:t>
            </a:r>
            <a:endParaRPr lang="he-IL" dirty="0"/>
          </a:p>
        </p:txBody>
      </p:sp>
    </p:spTree>
    <p:extLst>
      <p:ext uri="{BB962C8B-B14F-4D97-AF65-F5344CB8AC3E}">
        <p14:creationId xmlns:p14="http://schemas.microsoft.com/office/powerpoint/2010/main" val="3586117685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457200" marR="0" indent="-298450" algn="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</a:pPr>
            <a:r>
              <a:rPr lang="en-US" dirty="0"/>
              <a:t>W</a:t>
            </a:r>
            <a:r>
              <a:rPr lang="he-IL" dirty="0" err="1"/>
              <a:t>hile</a:t>
            </a:r>
            <a:r>
              <a:rPr lang="he-IL" dirty="0"/>
              <a:t> משמשת הרבה </a:t>
            </a:r>
            <a:r>
              <a:rPr lang="he-IL" dirty="0" err="1"/>
              <a:t>כמתכנטים</a:t>
            </a:r>
            <a:r>
              <a:rPr lang="he-IL" dirty="0"/>
              <a:t> לתכנות משחקים, השימוש העיקרי הוא שאפשר לרוץ בלולאה כל עוד השחקן מקיים את תנאי המשחק</a:t>
            </a:r>
            <a:br>
              <a:rPr lang="en-US" dirty="0"/>
            </a:br>
            <a:r>
              <a:rPr lang="he-IL" dirty="0"/>
              <a:t>פה הילדים יתנסו בליצור לולאה שתקיים את תנאי משחק </a:t>
            </a:r>
            <a:r>
              <a:rPr lang="he-IL" dirty="0" err="1"/>
              <a:t>snake</a:t>
            </a:r>
            <a:r>
              <a:rPr lang="he-IL" dirty="0"/>
              <a:t> (בצורה מצומצמת)</a:t>
            </a:r>
            <a:br>
              <a:rPr lang="en-US" dirty="0"/>
            </a:br>
            <a:r>
              <a:rPr lang="he-IL" dirty="0"/>
              <a:t>נתחיל מלתרגל את </a:t>
            </a:r>
            <a:r>
              <a:rPr lang="he-IL" dirty="0" err="1"/>
              <a:t>while</a:t>
            </a:r>
            <a:r>
              <a:rPr lang="he-IL" dirty="0"/>
              <a:t> בשימוש מהסוג הורדת חיים ויציאה מהלולאה באמצעות </a:t>
            </a:r>
            <a:r>
              <a:rPr lang="he-IL" dirty="0" err="1"/>
              <a:t>break</a:t>
            </a:r>
            <a:r>
              <a:rPr lang="he-IL" dirty="0"/>
              <a:t> כל עוד השחקן לא מקיים את תנאי המשחק</a:t>
            </a:r>
            <a:br>
              <a:rPr lang="en-US" dirty="0"/>
            </a:br>
            <a:r>
              <a:rPr lang="he-IL" dirty="0"/>
              <a:t>נמשיך </a:t>
            </a:r>
            <a:r>
              <a:rPr lang="he-IL" dirty="0" err="1"/>
              <a:t>לליצור</a:t>
            </a:r>
            <a:r>
              <a:rPr lang="he-IL" dirty="0"/>
              <a:t> את הלולאה לפי תנאי משחק </a:t>
            </a:r>
            <a:r>
              <a:rPr lang="he-IL" dirty="0" err="1"/>
              <a:t>snake</a:t>
            </a:r>
            <a:endParaRPr lang="he-IL" dirty="0"/>
          </a:p>
        </p:txBody>
      </p:sp>
    </p:spTree>
    <p:extLst>
      <p:ext uri="{BB962C8B-B14F-4D97-AF65-F5344CB8AC3E}">
        <p14:creationId xmlns:p14="http://schemas.microsoft.com/office/powerpoint/2010/main" val="3589252632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457200" marR="0" indent="-298450" algn="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</a:pPr>
            <a:r>
              <a:rPr lang="he-IL" dirty="0"/>
              <a:t>כעת המשחק אמור לעבוד!</a:t>
            </a:r>
            <a:br>
              <a:rPr lang="en-US" dirty="0"/>
            </a:br>
            <a:r>
              <a:rPr lang="he-IL" dirty="0"/>
              <a:t>זו דוגמה ממשית </a:t>
            </a:r>
            <a:r>
              <a:rPr lang="he-IL" dirty="0" err="1"/>
              <a:t>לאיך</a:t>
            </a:r>
            <a:r>
              <a:rPr lang="he-IL" dirty="0"/>
              <a:t> עושים את מאחורי הקלעים של משחק או אתר, ולאחר מכן מלבישים עליו את העיצוב</a:t>
            </a:r>
          </a:p>
        </p:txBody>
      </p:sp>
    </p:spTree>
    <p:extLst>
      <p:ext uri="{BB962C8B-B14F-4D97-AF65-F5344CB8AC3E}">
        <p14:creationId xmlns:p14="http://schemas.microsoft.com/office/powerpoint/2010/main" val="358638087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457200" marR="0" indent="-298450" algn="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</a:pPr>
            <a:r>
              <a:rPr lang="he-IL" dirty="0"/>
              <a:t>כל תנאי מוסיפים לפי השלבים הבאים:</a:t>
            </a:r>
            <a:br>
              <a:rPr lang="en-US" dirty="0"/>
            </a:br>
            <a:r>
              <a:rPr lang="he-IL" dirty="0"/>
              <a:t>1. שואלים את השחקן אם עשה מה שרשום בתנאי (הוא צריך לענות ב-</a:t>
            </a:r>
            <a:r>
              <a:rPr lang="he-IL" dirty="0" err="1"/>
              <a:t>yes</a:t>
            </a:r>
            <a:r>
              <a:rPr lang="he-IL" dirty="0"/>
              <a:t> או </a:t>
            </a:r>
            <a:r>
              <a:rPr lang="he-IL" dirty="0" err="1"/>
              <a:t>no</a:t>
            </a:r>
            <a:r>
              <a:rPr lang="he-IL" dirty="0"/>
              <a:t>)</a:t>
            </a:r>
            <a:br>
              <a:rPr lang="en-US" dirty="0"/>
            </a:br>
            <a:r>
              <a:rPr lang="he-IL" dirty="0"/>
              <a:t>2. אם ענה שכן – מבצעים את הפעולה (מסיימים את המשחק על ידי </a:t>
            </a:r>
            <a:r>
              <a:rPr lang="he-IL" dirty="0" err="1"/>
              <a:t>break</a:t>
            </a:r>
            <a:r>
              <a:rPr lang="he-IL" dirty="0"/>
              <a:t>)</a:t>
            </a:r>
            <a:br>
              <a:rPr lang="en-US" dirty="0"/>
            </a:br>
            <a:r>
              <a:rPr lang="he-IL" dirty="0"/>
              <a:t>3. אם ענה שלא כלום לא קרה וממשיכים הלאה</a:t>
            </a:r>
            <a:br>
              <a:rPr lang="en-US" dirty="0"/>
            </a:br>
            <a:endParaRPr lang="he-IL" dirty="0"/>
          </a:p>
        </p:txBody>
      </p:sp>
    </p:spTree>
    <p:extLst>
      <p:ext uri="{BB962C8B-B14F-4D97-AF65-F5344CB8AC3E}">
        <p14:creationId xmlns:p14="http://schemas.microsoft.com/office/powerpoint/2010/main" val="228212854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457200" marR="0" indent="-298450" algn="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</a:pPr>
            <a:endParaRPr lang="he-IL" dirty="0"/>
          </a:p>
        </p:txBody>
      </p:sp>
    </p:spTree>
    <p:extLst>
      <p:ext uri="{BB962C8B-B14F-4D97-AF65-F5344CB8AC3E}">
        <p14:creationId xmlns:p14="http://schemas.microsoft.com/office/powerpoint/2010/main" val="190923698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>
            <a:spLocks noGrp="1"/>
          </p:cNvSpPr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11" name="Google Shape;11;p2"/>
          <p:cNvSpPr txBox="1">
            <a:spLocks noGrp="1"/>
          </p:cNvSpPr>
          <p:nvPr>
            <p:ph type="subTitle" idx="1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12" name="Google Shape;12;p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x-none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>
            <a:spLocks noGrp="1"/>
          </p:cNvSpPr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15" name="Google Shape;15;p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x-none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r" rt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 dirty="0"/>
          </a:p>
        </p:txBody>
      </p:sp>
      <p:sp>
        <p:nvSpPr>
          <p:cNvPr id="18" name="Google Shape;18;p4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r" rtl="1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 dirty="0"/>
          </a:p>
        </p:txBody>
      </p:sp>
      <p:sp>
        <p:nvSpPr>
          <p:cNvPr id="19" name="Google Shape;19;p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x-none"/>
              <a:t>‹#›</a:t>
            </a:fld>
            <a:endParaRPr/>
          </a:p>
        </p:txBody>
      </p:sp>
      <p:pic>
        <p:nvPicPr>
          <p:cNvPr id="2" name="תמונה 1">
            <a:extLst>
              <a:ext uri="{FF2B5EF4-FFF2-40B4-BE49-F238E27FC236}">
                <a16:creationId xmlns:a16="http://schemas.microsoft.com/office/drawing/2014/main" id="{C38B02BB-6392-A7DB-54C3-767A0B662255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7268066" y="4295646"/>
            <a:ext cx="2168820" cy="847854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5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3" name="Google Shape;23;p5"/>
          <p:cNvSpPr txBox="1">
            <a:spLocks noGrp="1"/>
          </p:cNvSpPr>
          <p:nvPr>
            <p:ph type="body" idx="2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4" name="Google Shape;24;p5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x-none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x-none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>
            <a:spLocks noGrp="1"/>
          </p:cNvSpPr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30" name="Google Shape;30;p7"/>
          <p:cNvSpPr txBox="1">
            <a:spLocks noGrp="1"/>
          </p:cNvSpPr>
          <p:nvPr>
            <p:ph type="body" idx="1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31" name="Google Shape;31;p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x-none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>
            <a:spLocks noGrp="1"/>
          </p:cNvSpPr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34" name="Google Shape;34;p8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x-none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7" name="Google Shape;37;p9"/>
          <p:cNvSpPr txBox="1">
            <a:spLocks noGrp="1"/>
          </p:cNvSpPr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38" name="Google Shape;38;p9"/>
          <p:cNvSpPr txBox="1">
            <a:spLocks noGrp="1"/>
          </p:cNvSpPr>
          <p:nvPr>
            <p:ph type="subTitle" idx="1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39" name="Google Shape;39;p9"/>
          <p:cNvSpPr txBox="1">
            <a:spLocks noGrp="1"/>
          </p:cNvSpPr>
          <p:nvPr>
            <p:ph type="body" idx="2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0" name="Google Shape;40;p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x-none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>
            <a:spLocks noGrp="1"/>
          </p:cNvSpPr>
          <p:nvPr>
            <p:ph type="body" idx="1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228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>
            <a:endParaRPr/>
          </a:p>
        </p:txBody>
      </p:sp>
      <p:sp>
        <p:nvSpPr>
          <p:cNvPr id="43" name="Google Shape;43;p10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x-none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>
            <a:spLocks noGrp="1"/>
          </p:cNvSpPr>
          <p:nvPr>
            <p:ph type="title" hasCustomPrompt="1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>
            <a:spLocks noGrp="1"/>
          </p:cNvSpPr>
          <p:nvPr>
            <p:ph type="body" idx="1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7" name="Google Shape;47;p1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x-none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x-none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כותרת ותוכן" type="obj">
  <p:cSld name="OBJECT"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3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52" name="Google Shape;52;p13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53" name="Google Shape;53;p13"/>
          <p:cNvSpPr txBox="1">
            <a:spLocks noGrp="1"/>
          </p:cNvSpPr>
          <p:nvPr>
            <p:ph type="dt" idx="10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54" name="Google Shape;54;p13"/>
          <p:cNvSpPr txBox="1">
            <a:spLocks noGrp="1"/>
          </p:cNvSpPr>
          <p:nvPr>
            <p:ph type="ftr" idx="11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55" name="Google Shape;55;p1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x-none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gradFill flip="none" rotWithShape="1">
          <a:gsLst>
            <a:gs pos="0">
              <a:schemeClr val="accent1">
                <a:lumMod val="5000"/>
                <a:lumOff val="95000"/>
              </a:schemeClr>
            </a:gs>
            <a:gs pos="74000">
              <a:schemeClr val="accent1">
                <a:lumMod val="45000"/>
                <a:lumOff val="55000"/>
              </a:schemeClr>
            </a:gs>
            <a:gs pos="83000">
              <a:schemeClr val="accent1">
                <a:lumMod val="45000"/>
                <a:lumOff val="55000"/>
              </a:schemeClr>
            </a:gs>
            <a:gs pos="100000">
              <a:schemeClr val="accent1">
                <a:lumMod val="30000"/>
                <a:lumOff val="70000"/>
              </a:schemeClr>
            </a:gs>
          </a:gsLst>
          <a:lin ang="5400000" scaled="1"/>
          <a:tileRect/>
        </a:gra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marL="914400" lvl="1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marL="1371600" lvl="2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marL="1828800" lvl="3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marL="2286000" lvl="4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marL="2743200" lvl="5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marL="3200400" lvl="6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marL="3657600" lvl="7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marL="4114800" lvl="8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x-none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1.xml"/><Relationship Id="rId5" Type="http://schemas.openxmlformats.org/officeDocument/2006/relationships/image" Target="../media/image1.png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5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6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7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6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3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3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3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3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0" name="Google Shape;60;p1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984075" y="162067"/>
            <a:ext cx="5005448" cy="5042685"/>
          </a:xfrm>
          <a:prstGeom prst="rect">
            <a:avLst/>
          </a:prstGeom>
          <a:noFill/>
          <a:ln>
            <a:noFill/>
          </a:ln>
        </p:spPr>
      </p:pic>
      <p:pic>
        <p:nvPicPr>
          <p:cNvPr id="61" name="Google Shape;61;p1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715175" y="4134525"/>
            <a:ext cx="268900" cy="268900"/>
          </a:xfrm>
          <a:prstGeom prst="rect">
            <a:avLst/>
          </a:prstGeom>
          <a:noFill/>
          <a:ln>
            <a:noFill/>
          </a:ln>
        </p:spPr>
      </p:pic>
      <p:pic>
        <p:nvPicPr>
          <p:cNvPr id="62" name="Google Shape;62;p1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348625" y="438525"/>
            <a:ext cx="268900" cy="268900"/>
          </a:xfrm>
          <a:prstGeom prst="rect">
            <a:avLst/>
          </a:prstGeom>
          <a:noFill/>
          <a:ln>
            <a:noFill/>
          </a:ln>
        </p:spPr>
      </p:pic>
      <p:pic>
        <p:nvPicPr>
          <p:cNvPr id="63" name="Google Shape;63;p1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481962" y="351375"/>
            <a:ext cx="679225" cy="679225"/>
          </a:xfrm>
          <a:prstGeom prst="rect">
            <a:avLst/>
          </a:prstGeom>
          <a:noFill/>
          <a:ln>
            <a:noFill/>
          </a:ln>
        </p:spPr>
      </p:pic>
      <p:pic>
        <p:nvPicPr>
          <p:cNvPr id="64" name="Google Shape;64;p1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7422500" y="2922150"/>
            <a:ext cx="268900" cy="268900"/>
          </a:xfrm>
          <a:prstGeom prst="rect">
            <a:avLst/>
          </a:prstGeom>
          <a:noFill/>
          <a:ln>
            <a:noFill/>
          </a:ln>
        </p:spPr>
      </p:pic>
      <p:pic>
        <p:nvPicPr>
          <p:cNvPr id="65" name="Google Shape;65;p1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136275" y="1547975"/>
            <a:ext cx="466650" cy="466650"/>
          </a:xfrm>
          <a:prstGeom prst="rect">
            <a:avLst/>
          </a:prstGeom>
          <a:noFill/>
          <a:ln>
            <a:noFill/>
          </a:ln>
        </p:spPr>
      </p:pic>
      <p:sp>
        <p:nvSpPr>
          <p:cNvPr id="67" name="Google Shape;67;p14"/>
          <p:cNvSpPr txBox="1"/>
          <p:nvPr/>
        </p:nvSpPr>
        <p:spPr>
          <a:xfrm>
            <a:off x="2425050" y="2022514"/>
            <a:ext cx="4293900" cy="81557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lvl="0" algn="ctr" rtl="1"/>
            <a:r>
              <a:rPr lang="he-IL" sz="4100" b="1" dirty="0">
                <a:solidFill>
                  <a:srgbClr val="1C4587"/>
                </a:solidFill>
                <a:latin typeface="Calibri" panose="020F0502020204030204" pitchFamily="34" charset="0"/>
                <a:ea typeface="Assistant"/>
                <a:cs typeface="Calibri" panose="020F0502020204030204" pitchFamily="34" charset="0"/>
                <a:sym typeface="Assistant"/>
              </a:rPr>
              <a:t>לולאות תרגול בזוגות</a:t>
            </a:r>
            <a:endParaRPr sz="4100" b="1" dirty="0">
              <a:solidFill>
                <a:srgbClr val="1C4587"/>
              </a:solidFill>
              <a:latin typeface="Calibri" panose="020F0502020204030204" pitchFamily="34" charset="0"/>
              <a:ea typeface="Assistant"/>
              <a:cs typeface="Calibri" panose="020F0502020204030204" pitchFamily="34" charset="0"/>
              <a:sym typeface="Assistant"/>
            </a:endParaRPr>
          </a:p>
        </p:txBody>
      </p:sp>
      <p:pic>
        <p:nvPicPr>
          <p:cNvPr id="3" name="תמונה 2">
            <a:extLst>
              <a:ext uri="{FF2B5EF4-FFF2-40B4-BE49-F238E27FC236}">
                <a16:creationId xmlns:a16="http://schemas.microsoft.com/office/drawing/2014/main" id="{32A0155A-C7CC-C086-83F6-76F68615C2C7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606638" y="314597"/>
            <a:ext cx="3442348" cy="1345713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>
            <a:extLst>
              <a:ext uri="{FF2B5EF4-FFF2-40B4-BE49-F238E27FC236}">
                <a16:creationId xmlns:a16="http://schemas.microsoft.com/office/drawing/2014/main" id="{72900D3D-0DBD-E452-FCA1-C5140572369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he-IL" dirty="0"/>
              <a:t>תרגול </a:t>
            </a:r>
            <a:r>
              <a:rPr lang="he-IL" dirty="0" err="1"/>
              <a:t>while</a:t>
            </a:r>
            <a:r>
              <a:rPr lang="he-IL" dirty="0"/>
              <a:t>:</a:t>
            </a:r>
          </a:p>
        </p:txBody>
      </p:sp>
      <p:sp>
        <p:nvSpPr>
          <p:cNvPr id="3" name="מציין מיקום טקסט 2">
            <a:extLst>
              <a:ext uri="{FF2B5EF4-FFF2-40B4-BE49-F238E27FC236}">
                <a16:creationId xmlns:a16="http://schemas.microsoft.com/office/drawing/2014/main" id="{21B901A3-E69F-CDBC-0971-5DD069C98A7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he-IL" dirty="0"/>
              <a:t>משימה: יצירת לולאה שתקיים את תנאי המשחק SNAKE!</a:t>
            </a:r>
          </a:p>
          <a:p>
            <a:endParaRPr lang="he-IL" dirty="0"/>
          </a:p>
          <a:p>
            <a:r>
              <a:rPr lang="he-IL" dirty="0"/>
              <a:t>בשביל המשימה נצטרך להתחיל בתרגול המבנה הבסיסי:</a:t>
            </a:r>
          </a:p>
          <a:p>
            <a:r>
              <a:rPr lang="he-IL" dirty="0"/>
              <a:t>כשאנחנו יוצרים משחק בתכנות, </a:t>
            </a:r>
            <a:r>
              <a:rPr lang="he-IL" dirty="0" err="1"/>
              <a:t>while</a:t>
            </a:r>
            <a:r>
              <a:rPr lang="he-IL" dirty="0"/>
              <a:t> תתאים לנו ברוב הפעמים, </a:t>
            </a:r>
            <a:r>
              <a:rPr lang="he-IL" b="1" dirty="0"/>
              <a:t>נסו לחשוב למה?</a:t>
            </a:r>
          </a:p>
        </p:txBody>
      </p:sp>
      <p:pic>
        <p:nvPicPr>
          <p:cNvPr id="5" name="Picture 4" descr="A screenshot of a video game&#10;&#10;Description automatically generated">
            <a:extLst>
              <a:ext uri="{FF2B5EF4-FFF2-40B4-BE49-F238E27FC236}">
                <a16:creationId xmlns:a16="http://schemas.microsoft.com/office/drawing/2014/main" id="{43D90569-B3DA-5C7F-001C-E134B8B00BA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11700" y="322692"/>
            <a:ext cx="2613972" cy="15248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4391443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>
            <a:extLst>
              <a:ext uri="{FF2B5EF4-FFF2-40B4-BE49-F238E27FC236}">
                <a16:creationId xmlns:a16="http://schemas.microsoft.com/office/drawing/2014/main" id="{72900D3D-0DBD-E452-FCA1-C5140572369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he-IL" dirty="0"/>
              <a:t>תרגול </a:t>
            </a:r>
            <a:r>
              <a:rPr lang="he-IL" dirty="0" err="1"/>
              <a:t>while</a:t>
            </a:r>
            <a:r>
              <a:rPr lang="he-IL" dirty="0"/>
              <a:t>:</a:t>
            </a:r>
          </a:p>
        </p:txBody>
      </p:sp>
      <p:sp>
        <p:nvSpPr>
          <p:cNvPr id="3" name="מציין מיקום טקסט 2">
            <a:extLst>
              <a:ext uri="{FF2B5EF4-FFF2-40B4-BE49-F238E27FC236}">
                <a16:creationId xmlns:a16="http://schemas.microsoft.com/office/drawing/2014/main" id="{21B901A3-E69F-CDBC-0971-5DD069C98A7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he-IL" b="1" dirty="0"/>
          </a:p>
          <a:p>
            <a:pPr marL="114300" indent="0">
              <a:buNone/>
            </a:pPr>
            <a:endParaRPr lang="he-IL" b="1" dirty="0"/>
          </a:p>
          <a:p>
            <a:r>
              <a:rPr lang="he-IL" b="1" dirty="0"/>
              <a:t>תשובה: </a:t>
            </a:r>
            <a:r>
              <a:rPr lang="he-IL" dirty="0"/>
              <a:t>ב-</a:t>
            </a:r>
            <a:r>
              <a:rPr lang="he-IL" dirty="0" err="1"/>
              <a:t>while</a:t>
            </a:r>
            <a:r>
              <a:rPr lang="he-IL" dirty="0"/>
              <a:t> נוכל להמשיך את המשחק עד שהשחקן לא עומד בתנאי המשחק,</a:t>
            </a:r>
            <a:br>
              <a:rPr lang="en-US" dirty="0"/>
            </a:br>
            <a:r>
              <a:rPr lang="he-IL" dirty="0"/>
              <a:t>מתי זה יכול לקרות?</a:t>
            </a:r>
            <a:br>
              <a:rPr lang="en-US" dirty="0"/>
            </a:br>
            <a:br>
              <a:rPr lang="en-US" dirty="0"/>
            </a:br>
            <a:r>
              <a:rPr lang="he-IL" dirty="0"/>
              <a:t>כשנגמרו לו החיים, כשהוא עשה משהו אסור, כשמישהו פגע בו, כשניצח,</a:t>
            </a:r>
            <a:br>
              <a:rPr lang="en-US" dirty="0"/>
            </a:br>
            <a:r>
              <a:rPr lang="he-IL" dirty="0"/>
              <a:t>אתם יכולים לחשוב על עוד דוגמאות?</a:t>
            </a:r>
            <a:endParaRPr lang="he-IL" b="1" dirty="0"/>
          </a:p>
        </p:txBody>
      </p:sp>
      <p:pic>
        <p:nvPicPr>
          <p:cNvPr id="5" name="Picture 4" descr="A screenshot of a video game&#10;&#10;Description automatically generated">
            <a:extLst>
              <a:ext uri="{FF2B5EF4-FFF2-40B4-BE49-F238E27FC236}">
                <a16:creationId xmlns:a16="http://schemas.microsoft.com/office/drawing/2014/main" id="{43D90569-B3DA-5C7F-001C-E134B8B00BA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11700" y="322692"/>
            <a:ext cx="2613972" cy="15248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7959842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>
            <a:extLst>
              <a:ext uri="{FF2B5EF4-FFF2-40B4-BE49-F238E27FC236}">
                <a16:creationId xmlns:a16="http://schemas.microsoft.com/office/drawing/2014/main" id="{72900D3D-0DBD-E452-FCA1-C5140572369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he-IL" dirty="0"/>
              <a:t>תרגול </a:t>
            </a:r>
            <a:r>
              <a:rPr lang="he-IL" dirty="0" err="1"/>
              <a:t>while</a:t>
            </a:r>
            <a:r>
              <a:rPr lang="he-IL" dirty="0"/>
              <a:t>:</a:t>
            </a:r>
          </a:p>
        </p:txBody>
      </p:sp>
      <p:sp>
        <p:nvSpPr>
          <p:cNvPr id="3" name="מציין מיקום טקסט 2">
            <a:extLst>
              <a:ext uri="{FF2B5EF4-FFF2-40B4-BE49-F238E27FC236}">
                <a16:creationId xmlns:a16="http://schemas.microsoft.com/office/drawing/2014/main" id="{21B901A3-E69F-CDBC-0971-5DD069C98A7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he-IL" b="1" dirty="0"/>
              <a:t>בואו נתרגל מצב בסיסי:</a:t>
            </a:r>
            <a:br>
              <a:rPr lang="en-US" b="1" dirty="0"/>
            </a:br>
            <a:endParaRPr lang="he-IL" dirty="0"/>
          </a:p>
          <a:p>
            <a:r>
              <a:rPr lang="he-IL" dirty="0"/>
              <a:t>משחק בו השחקן מתחיל עם 0 נקודות, בכל סיבוב (בכל פעם שהלולאה רצה), מתווספת לו נקודה 1, וכשהוא מגיע ל5 נקודות השחקן ניצח.</a:t>
            </a:r>
            <a:br>
              <a:rPr lang="en-US" dirty="0"/>
            </a:br>
            <a:r>
              <a:rPr lang="he-IL" dirty="0"/>
              <a:t>כתבו את המשחק בלולאת </a:t>
            </a:r>
            <a:r>
              <a:rPr lang="he-IL" dirty="0" err="1"/>
              <a:t>while</a:t>
            </a:r>
            <a:r>
              <a:rPr lang="he-IL" dirty="0"/>
              <a:t>:</a:t>
            </a:r>
            <a:br>
              <a:rPr lang="en-US" dirty="0"/>
            </a:br>
            <a:r>
              <a:rPr lang="he-IL" dirty="0"/>
              <a:t>- סמנו את מספר הנקודות כמשתנה ששמו </a:t>
            </a:r>
            <a:r>
              <a:rPr lang="he-IL" dirty="0" err="1"/>
              <a:t>points</a:t>
            </a:r>
            <a:br>
              <a:rPr lang="en-US" dirty="0"/>
            </a:br>
            <a:r>
              <a:rPr lang="he-IL" dirty="0"/>
              <a:t>- שימו לב שבלולאה תצטרכו להוסיף לשחקן נקודה 1</a:t>
            </a:r>
            <a:br>
              <a:rPr lang="en-US" dirty="0"/>
            </a:br>
            <a:r>
              <a:rPr lang="he-IL" dirty="0"/>
              <a:t>- כשמס׳ הנקודות הוא 5 תצטרכו לצאת מהלולאה</a:t>
            </a:r>
            <a:br>
              <a:rPr lang="en-US" dirty="0"/>
            </a:br>
            <a:r>
              <a:rPr lang="he-IL" dirty="0"/>
              <a:t>- </a:t>
            </a:r>
            <a:r>
              <a:rPr lang="he-IL" dirty="0" err="1"/>
              <a:t>התריאו</a:t>
            </a:r>
            <a:r>
              <a:rPr lang="he-IL" dirty="0"/>
              <a:t> לשחקן בכל פעם מה מספר הנקודות שיש לו</a:t>
            </a:r>
          </a:p>
        </p:txBody>
      </p:sp>
      <p:pic>
        <p:nvPicPr>
          <p:cNvPr id="5" name="Picture 4" descr="A screenshot of a video game&#10;&#10;Description automatically generated">
            <a:extLst>
              <a:ext uri="{FF2B5EF4-FFF2-40B4-BE49-F238E27FC236}">
                <a16:creationId xmlns:a16="http://schemas.microsoft.com/office/drawing/2014/main" id="{43D90569-B3DA-5C7F-001C-E134B8B00BA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11700" y="322692"/>
            <a:ext cx="2613972" cy="15248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3175642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>
            <a:extLst>
              <a:ext uri="{FF2B5EF4-FFF2-40B4-BE49-F238E27FC236}">
                <a16:creationId xmlns:a16="http://schemas.microsoft.com/office/drawing/2014/main" id="{72900D3D-0DBD-E452-FCA1-C5140572369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he-IL" dirty="0"/>
              <a:t>תרגול </a:t>
            </a:r>
            <a:r>
              <a:rPr lang="he-IL" dirty="0" err="1"/>
              <a:t>while</a:t>
            </a:r>
            <a:r>
              <a:rPr lang="he-IL" dirty="0"/>
              <a:t>:</a:t>
            </a:r>
          </a:p>
        </p:txBody>
      </p:sp>
      <p:sp>
        <p:nvSpPr>
          <p:cNvPr id="3" name="מציין מיקום טקסט 2">
            <a:extLst>
              <a:ext uri="{FF2B5EF4-FFF2-40B4-BE49-F238E27FC236}">
                <a16:creationId xmlns:a16="http://schemas.microsoft.com/office/drawing/2014/main" id="{21B901A3-E69F-CDBC-0971-5DD069C98A7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he-IL" dirty="0"/>
              <a:t>העתיקו את הפתרון שלכם לכאן</a:t>
            </a:r>
            <a:endParaRPr lang="he-IL" b="1" dirty="0"/>
          </a:p>
        </p:txBody>
      </p:sp>
      <p:pic>
        <p:nvPicPr>
          <p:cNvPr id="5" name="Picture 4" descr="A screenshot of a video game&#10;&#10;Description automatically generated">
            <a:extLst>
              <a:ext uri="{FF2B5EF4-FFF2-40B4-BE49-F238E27FC236}">
                <a16:creationId xmlns:a16="http://schemas.microsoft.com/office/drawing/2014/main" id="{43D90569-B3DA-5C7F-001C-E134B8B00BA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11700" y="322692"/>
            <a:ext cx="2613972" cy="15248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9040179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>
            <a:extLst>
              <a:ext uri="{FF2B5EF4-FFF2-40B4-BE49-F238E27FC236}">
                <a16:creationId xmlns:a16="http://schemas.microsoft.com/office/drawing/2014/main" id="{72900D3D-0DBD-E452-FCA1-C5140572369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he-IL" dirty="0"/>
              <a:t>תרגול </a:t>
            </a:r>
            <a:r>
              <a:rPr lang="he-IL" dirty="0" err="1"/>
              <a:t>while</a:t>
            </a:r>
            <a:r>
              <a:rPr lang="he-IL" dirty="0"/>
              <a:t>:</a:t>
            </a:r>
          </a:p>
        </p:txBody>
      </p:sp>
      <p:sp>
        <p:nvSpPr>
          <p:cNvPr id="3" name="מציין מיקום טקסט 2">
            <a:extLst>
              <a:ext uri="{FF2B5EF4-FFF2-40B4-BE49-F238E27FC236}">
                <a16:creationId xmlns:a16="http://schemas.microsoft.com/office/drawing/2014/main" id="{21B901A3-E69F-CDBC-0971-5DD069C98A7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he-IL" dirty="0"/>
              <a:t>בואו נשדרג:</a:t>
            </a:r>
          </a:p>
          <a:p>
            <a:r>
              <a:rPr lang="he-IL" b="1" dirty="0"/>
              <a:t>הפעם – נשתמש ב-</a:t>
            </a:r>
            <a:r>
              <a:rPr lang="he-IL" b="1" dirty="0" err="1"/>
              <a:t>break</a:t>
            </a:r>
            <a:br>
              <a:rPr lang="en-US" b="1" dirty="0"/>
            </a:br>
            <a:endParaRPr lang="he-IL" dirty="0"/>
          </a:p>
          <a:p>
            <a:r>
              <a:rPr lang="en-US" dirty="0"/>
              <a:t>B</a:t>
            </a:r>
            <a:r>
              <a:rPr lang="he-IL" dirty="0" err="1"/>
              <a:t>reak</a:t>
            </a:r>
            <a:r>
              <a:rPr lang="he-IL" dirty="0"/>
              <a:t> –דואגת לצאת מהלולאה </a:t>
            </a:r>
            <a:r>
              <a:rPr lang="he-IL" b="1" u="sng" dirty="0"/>
              <a:t>גם אם </a:t>
            </a:r>
            <a:r>
              <a:rPr lang="he-IL" dirty="0"/>
              <a:t>התנאי של הלולאה עדיין מתקיים.</a:t>
            </a:r>
          </a:p>
          <a:p>
            <a:r>
              <a:rPr lang="he-IL" dirty="0"/>
              <a:t>בדוגמה השתמשתי באותו המשחק שהיה לנו.</a:t>
            </a:r>
            <a:br>
              <a:rPr lang="en-US" dirty="0"/>
            </a:br>
            <a:r>
              <a:rPr lang="he-IL" dirty="0"/>
              <a:t>הפעם, בנוסף להוספת נקודות–  אם לשחקן יש 4</a:t>
            </a:r>
            <a:br>
              <a:rPr lang="en-US" dirty="0"/>
            </a:br>
            <a:r>
              <a:rPr lang="he-IL" dirty="0"/>
              <a:t>נקודות – השחקן יצא מהמשחק (מהלולאה)</a:t>
            </a:r>
            <a:br>
              <a:rPr lang="en-US" dirty="0"/>
            </a:br>
            <a:r>
              <a:rPr lang="he-IL" dirty="0"/>
              <a:t>העתיקו את הקוד ושנו את מספר הנקודות בעצמכם</a:t>
            </a:r>
            <a:br>
              <a:rPr lang="en-US" dirty="0"/>
            </a:br>
            <a:r>
              <a:rPr lang="he-IL" dirty="0"/>
              <a:t>כדי לראות איך </a:t>
            </a:r>
            <a:r>
              <a:rPr lang="he-IL" dirty="0" err="1"/>
              <a:t>break</a:t>
            </a:r>
            <a:r>
              <a:rPr lang="he-IL" dirty="0"/>
              <a:t> עובדת</a:t>
            </a:r>
          </a:p>
        </p:txBody>
      </p:sp>
      <p:pic>
        <p:nvPicPr>
          <p:cNvPr id="5" name="Picture 4" descr="A screenshot of a video game&#10;&#10;Description automatically generated">
            <a:extLst>
              <a:ext uri="{FF2B5EF4-FFF2-40B4-BE49-F238E27FC236}">
                <a16:creationId xmlns:a16="http://schemas.microsoft.com/office/drawing/2014/main" id="{43D90569-B3DA-5C7F-001C-E134B8B00BA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11700" y="322692"/>
            <a:ext cx="2613972" cy="1524817"/>
          </a:xfrm>
          <a:prstGeom prst="rect">
            <a:avLst/>
          </a:prstGeom>
        </p:spPr>
      </p:pic>
      <p:pic>
        <p:nvPicPr>
          <p:cNvPr id="10" name="Picture 9" descr="A screenshot of a computer program&#10;&#10;Description automatically generated">
            <a:extLst>
              <a:ext uri="{FF2B5EF4-FFF2-40B4-BE49-F238E27FC236}">
                <a16:creationId xmlns:a16="http://schemas.microsoft.com/office/drawing/2014/main" id="{32C0941E-6CFF-6C75-3BFB-9FC6586FC91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11700" y="2677455"/>
            <a:ext cx="3321748" cy="18914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4678333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>
            <a:extLst>
              <a:ext uri="{FF2B5EF4-FFF2-40B4-BE49-F238E27FC236}">
                <a16:creationId xmlns:a16="http://schemas.microsoft.com/office/drawing/2014/main" id="{72900D3D-0DBD-E452-FCA1-C5140572369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he-IL" dirty="0"/>
              <a:t>תרגול </a:t>
            </a:r>
            <a:r>
              <a:rPr lang="he-IL" dirty="0" err="1"/>
              <a:t>while</a:t>
            </a:r>
            <a:r>
              <a:rPr lang="he-IL" dirty="0"/>
              <a:t>:</a:t>
            </a:r>
          </a:p>
        </p:txBody>
      </p:sp>
      <p:sp>
        <p:nvSpPr>
          <p:cNvPr id="3" name="מציין מיקום טקסט 2">
            <a:extLst>
              <a:ext uri="{FF2B5EF4-FFF2-40B4-BE49-F238E27FC236}">
                <a16:creationId xmlns:a16="http://schemas.microsoft.com/office/drawing/2014/main" id="{21B901A3-E69F-CDBC-0971-5DD069C98A7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he-IL" dirty="0"/>
              <a:t>בואו נשדרג:</a:t>
            </a:r>
            <a:br>
              <a:rPr lang="en-US" dirty="0"/>
            </a:br>
            <a:r>
              <a:rPr lang="he-IL" dirty="0"/>
              <a:t>כעת, נרצה שהלולאה תרוץ תמיד, </a:t>
            </a:r>
            <a:br>
              <a:rPr lang="en-US" dirty="0"/>
            </a:br>
            <a:r>
              <a:rPr lang="he-IL" dirty="0"/>
              <a:t>והדרך היחידה לצאת ממנה תהיה באמצעות </a:t>
            </a:r>
            <a:r>
              <a:rPr lang="he-IL" dirty="0" err="1"/>
              <a:t>break</a:t>
            </a:r>
            <a:r>
              <a:rPr lang="he-IL" dirty="0"/>
              <a:t>.</a:t>
            </a:r>
            <a:br>
              <a:rPr lang="en-US" dirty="0"/>
            </a:br>
            <a:endParaRPr lang="he-IL" dirty="0"/>
          </a:p>
          <a:p>
            <a:r>
              <a:rPr lang="he-IL" dirty="0"/>
              <a:t>איך נעשה שהלולאה תרוץ תמיד? נשתמש בתבנית הבאה:</a:t>
            </a:r>
            <a:br>
              <a:rPr lang="en-US" dirty="0"/>
            </a:br>
            <a:br>
              <a:rPr lang="en-US" dirty="0"/>
            </a:br>
            <a:br>
              <a:rPr lang="en-US" dirty="0"/>
            </a:br>
            <a:r>
              <a:rPr lang="he-IL" dirty="0"/>
              <a:t>במה התבנית דומה לקוד הקודם?</a:t>
            </a:r>
            <a:br>
              <a:rPr lang="en-US" dirty="0"/>
            </a:br>
            <a:r>
              <a:rPr lang="he-IL" dirty="0"/>
              <a:t>במה היא שונה?</a:t>
            </a:r>
          </a:p>
        </p:txBody>
      </p:sp>
      <p:pic>
        <p:nvPicPr>
          <p:cNvPr id="5" name="Picture 4" descr="A screenshot of a video game&#10;&#10;Description automatically generated">
            <a:extLst>
              <a:ext uri="{FF2B5EF4-FFF2-40B4-BE49-F238E27FC236}">
                <a16:creationId xmlns:a16="http://schemas.microsoft.com/office/drawing/2014/main" id="{43D90569-B3DA-5C7F-001C-E134B8B00BA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11700" y="322692"/>
            <a:ext cx="2613972" cy="1524817"/>
          </a:xfrm>
          <a:prstGeom prst="rect">
            <a:avLst/>
          </a:prstGeom>
        </p:spPr>
      </p:pic>
      <p:pic>
        <p:nvPicPr>
          <p:cNvPr id="9" name="Picture 8" descr="A screenshot of a computer program&#10;&#10;Description automatically generated">
            <a:extLst>
              <a:ext uri="{FF2B5EF4-FFF2-40B4-BE49-F238E27FC236}">
                <a16:creationId xmlns:a16="http://schemas.microsoft.com/office/drawing/2014/main" id="{D9E1727F-C3A9-5F7B-814F-ECD5F2D21D5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92793" y="2852056"/>
            <a:ext cx="3457558" cy="19687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2347688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>
            <a:extLst>
              <a:ext uri="{FF2B5EF4-FFF2-40B4-BE49-F238E27FC236}">
                <a16:creationId xmlns:a16="http://schemas.microsoft.com/office/drawing/2014/main" id="{72900D3D-0DBD-E452-FCA1-C5140572369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he-IL" dirty="0"/>
              <a:t>תרגול </a:t>
            </a:r>
            <a:r>
              <a:rPr lang="he-IL" dirty="0" err="1"/>
              <a:t>while</a:t>
            </a:r>
            <a:r>
              <a:rPr lang="he-IL" dirty="0"/>
              <a:t>:</a:t>
            </a:r>
          </a:p>
        </p:txBody>
      </p:sp>
      <p:sp>
        <p:nvSpPr>
          <p:cNvPr id="3" name="מציין מיקום טקסט 2">
            <a:extLst>
              <a:ext uri="{FF2B5EF4-FFF2-40B4-BE49-F238E27FC236}">
                <a16:creationId xmlns:a16="http://schemas.microsoft.com/office/drawing/2014/main" id="{21B901A3-E69F-CDBC-0971-5DD069C98A7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he-IL" dirty="0"/>
              <a:t>בואו נשדרג:</a:t>
            </a:r>
            <a:br>
              <a:rPr lang="en-US" dirty="0"/>
            </a:br>
            <a:r>
              <a:rPr lang="he-IL" dirty="0"/>
              <a:t>כעת, נרצה שהלולאה תרוץ תמיד, </a:t>
            </a:r>
            <a:br>
              <a:rPr lang="en-US" dirty="0"/>
            </a:br>
            <a:r>
              <a:rPr lang="he-IL" dirty="0"/>
              <a:t>והדרך היחידה לצאת ממנה תהיה באמצעות </a:t>
            </a:r>
            <a:r>
              <a:rPr lang="he-IL" dirty="0" err="1"/>
              <a:t>break</a:t>
            </a:r>
            <a:r>
              <a:rPr lang="he-IL" dirty="0"/>
              <a:t>.</a:t>
            </a:r>
            <a:br>
              <a:rPr lang="en-US" dirty="0"/>
            </a:br>
            <a:endParaRPr lang="he-IL" dirty="0"/>
          </a:p>
          <a:p>
            <a:r>
              <a:rPr lang="he-IL" dirty="0"/>
              <a:t>איך נעשה שהלולאה תרוץ תמיד? נשתמש בתבנית הבאה:</a:t>
            </a:r>
            <a:br>
              <a:rPr lang="en-US" dirty="0"/>
            </a:br>
            <a:br>
              <a:rPr lang="en-US" dirty="0"/>
            </a:br>
            <a:br>
              <a:rPr lang="en-US" dirty="0"/>
            </a:br>
            <a:r>
              <a:rPr lang="he-IL" dirty="0"/>
              <a:t>במה התבנית דומה לקוד הקודם?</a:t>
            </a:r>
            <a:br>
              <a:rPr lang="en-US" dirty="0"/>
            </a:br>
            <a:r>
              <a:rPr lang="he-IL" dirty="0"/>
              <a:t>במה היא שונה?</a:t>
            </a:r>
          </a:p>
        </p:txBody>
      </p:sp>
      <p:pic>
        <p:nvPicPr>
          <p:cNvPr id="5" name="Picture 4" descr="A screenshot of a video game&#10;&#10;Description automatically generated">
            <a:extLst>
              <a:ext uri="{FF2B5EF4-FFF2-40B4-BE49-F238E27FC236}">
                <a16:creationId xmlns:a16="http://schemas.microsoft.com/office/drawing/2014/main" id="{43D90569-B3DA-5C7F-001C-E134B8B00BA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11700" y="322692"/>
            <a:ext cx="2613972" cy="1524817"/>
          </a:xfrm>
          <a:prstGeom prst="rect">
            <a:avLst/>
          </a:prstGeom>
        </p:spPr>
      </p:pic>
      <p:pic>
        <p:nvPicPr>
          <p:cNvPr id="6" name="Picture 5" descr="A screenshot of a computer program&#10;&#10;Description automatically generated">
            <a:extLst>
              <a:ext uri="{FF2B5EF4-FFF2-40B4-BE49-F238E27FC236}">
                <a16:creationId xmlns:a16="http://schemas.microsoft.com/office/drawing/2014/main" id="{4F38E315-FE33-05CB-AF77-4B8B7640333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11700" y="2820216"/>
            <a:ext cx="3513477" cy="20005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3010203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>
            <a:extLst>
              <a:ext uri="{FF2B5EF4-FFF2-40B4-BE49-F238E27FC236}">
                <a16:creationId xmlns:a16="http://schemas.microsoft.com/office/drawing/2014/main" id="{72900D3D-0DBD-E452-FCA1-C5140572369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he-IL" dirty="0"/>
              <a:t>תרגול </a:t>
            </a:r>
            <a:r>
              <a:rPr lang="he-IL" dirty="0" err="1"/>
              <a:t>while</a:t>
            </a:r>
            <a:r>
              <a:rPr lang="he-IL" dirty="0"/>
              <a:t>:</a:t>
            </a:r>
          </a:p>
        </p:txBody>
      </p:sp>
      <p:sp>
        <p:nvSpPr>
          <p:cNvPr id="3" name="מציין מיקום טקסט 2">
            <a:extLst>
              <a:ext uri="{FF2B5EF4-FFF2-40B4-BE49-F238E27FC236}">
                <a16:creationId xmlns:a16="http://schemas.microsoft.com/office/drawing/2014/main" id="{21B901A3-E69F-CDBC-0971-5DD069C98A7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14300" indent="0">
              <a:buNone/>
            </a:pPr>
            <a:r>
              <a:rPr lang="he-IL" dirty="0"/>
              <a:t>העתיקו את הקוד ובדקו שאתם מבינים אותו:</a:t>
            </a:r>
            <a:br>
              <a:rPr lang="en-US" dirty="0"/>
            </a:br>
            <a:r>
              <a:rPr lang="he-IL" dirty="0"/>
              <a:t>1. למה הלולאה רצה תמיד?</a:t>
            </a:r>
            <a:br>
              <a:rPr lang="en-US" dirty="0"/>
            </a:br>
            <a:r>
              <a:rPr lang="he-IL" dirty="0"/>
              <a:t>2. למה שורה 4 חשובה?</a:t>
            </a:r>
            <a:br>
              <a:rPr lang="en-US" dirty="0"/>
            </a:br>
            <a:r>
              <a:rPr lang="he-IL" dirty="0"/>
              <a:t>3. מה הוא תנאי היציאה?</a:t>
            </a:r>
          </a:p>
          <a:p>
            <a:pPr marL="114300" indent="0">
              <a:buNone/>
            </a:pPr>
            <a:br>
              <a:rPr lang="en-US" dirty="0"/>
            </a:br>
            <a:br>
              <a:rPr lang="en-US" dirty="0"/>
            </a:br>
            <a:r>
              <a:rPr lang="he-IL" dirty="0"/>
              <a:t> </a:t>
            </a:r>
            <a:r>
              <a:rPr lang="he-IL" b="1" dirty="0"/>
              <a:t>שנו את מספר הנקודות בשורה 5 לבחירתכם,</a:t>
            </a:r>
            <a:br>
              <a:rPr lang="en-US" b="1" dirty="0"/>
            </a:br>
            <a:r>
              <a:rPr lang="he-IL" b="1" dirty="0"/>
              <a:t>מתי השחקן מנצח הפעם?</a:t>
            </a:r>
          </a:p>
        </p:txBody>
      </p:sp>
      <p:pic>
        <p:nvPicPr>
          <p:cNvPr id="5" name="Picture 4" descr="A screenshot of a video game&#10;&#10;Description automatically generated">
            <a:extLst>
              <a:ext uri="{FF2B5EF4-FFF2-40B4-BE49-F238E27FC236}">
                <a16:creationId xmlns:a16="http://schemas.microsoft.com/office/drawing/2014/main" id="{43D90569-B3DA-5C7F-001C-E134B8B00BA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11700" y="322692"/>
            <a:ext cx="2613972" cy="1524817"/>
          </a:xfrm>
          <a:prstGeom prst="rect">
            <a:avLst/>
          </a:prstGeom>
        </p:spPr>
      </p:pic>
      <p:pic>
        <p:nvPicPr>
          <p:cNvPr id="4" name="Picture 3" descr="A screenshot of a computer program&#10;&#10;Description automatically generated">
            <a:extLst>
              <a:ext uri="{FF2B5EF4-FFF2-40B4-BE49-F238E27FC236}">
                <a16:creationId xmlns:a16="http://schemas.microsoft.com/office/drawing/2014/main" id="{7A3AA111-3817-2D08-FDF2-16595C2BB09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92793" y="2852056"/>
            <a:ext cx="3457558" cy="19687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2306605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>
            <a:extLst>
              <a:ext uri="{FF2B5EF4-FFF2-40B4-BE49-F238E27FC236}">
                <a16:creationId xmlns:a16="http://schemas.microsoft.com/office/drawing/2014/main" id="{72900D3D-0DBD-E452-FCA1-C5140572369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he-IL" dirty="0"/>
              <a:t>תרגול </a:t>
            </a:r>
            <a:r>
              <a:rPr lang="he-IL" dirty="0" err="1"/>
              <a:t>while</a:t>
            </a:r>
            <a:r>
              <a:rPr lang="he-IL" dirty="0"/>
              <a:t>:</a:t>
            </a:r>
          </a:p>
        </p:txBody>
      </p:sp>
      <p:sp>
        <p:nvSpPr>
          <p:cNvPr id="3" name="מציין מיקום טקסט 2">
            <a:extLst>
              <a:ext uri="{FF2B5EF4-FFF2-40B4-BE49-F238E27FC236}">
                <a16:creationId xmlns:a16="http://schemas.microsoft.com/office/drawing/2014/main" id="{21B901A3-E69F-CDBC-0971-5DD069C98A7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11700" y="1152474"/>
            <a:ext cx="8520600" cy="3668333"/>
          </a:xfrm>
        </p:spPr>
        <p:txBody>
          <a:bodyPr>
            <a:normAutofit lnSpcReduction="10000"/>
          </a:bodyPr>
          <a:lstStyle/>
          <a:p>
            <a:r>
              <a:rPr lang="he-IL" dirty="0"/>
              <a:t>בואו נשדרג:</a:t>
            </a:r>
          </a:p>
          <a:p>
            <a:r>
              <a:rPr lang="he-IL" dirty="0"/>
              <a:t>ברוב המשחקים – לשחקן לא מתווסף נקודות אוטומטית,</a:t>
            </a:r>
            <a:br>
              <a:rPr lang="en-US" dirty="0"/>
            </a:br>
            <a:r>
              <a:rPr lang="he-IL" dirty="0"/>
              <a:t>הוא צריך להרוויח אותן. ב-</a:t>
            </a:r>
            <a:r>
              <a:rPr lang="he-IL" dirty="0" err="1"/>
              <a:t>snake</a:t>
            </a:r>
            <a:r>
              <a:rPr lang="he-IL" dirty="0"/>
              <a:t> על ידי אכילת תפוחים למשל</a:t>
            </a:r>
            <a:br>
              <a:rPr lang="en-US" dirty="0"/>
            </a:br>
            <a:endParaRPr lang="he-IL" dirty="0"/>
          </a:p>
          <a:p>
            <a:r>
              <a:rPr lang="he-IL" dirty="0"/>
              <a:t>נרצה להוסיף לשחקן נקודה בכל פעם שאכל תפוח, איך נדע שהוא אכל תפוח?</a:t>
            </a:r>
            <a:br>
              <a:rPr lang="en-US" dirty="0"/>
            </a:br>
            <a:r>
              <a:rPr lang="he-IL" dirty="0"/>
              <a:t>נשאל אותו באמצעות </a:t>
            </a:r>
            <a:r>
              <a:rPr lang="he-IL" dirty="0" err="1"/>
              <a:t>prompt</a:t>
            </a:r>
            <a:r>
              <a:rPr lang="he-IL" dirty="0"/>
              <a:t>, אם הוא ענה כן, נוסיף לו נקודה, אם ענה לא נמשיך כרגיל</a:t>
            </a:r>
            <a:br>
              <a:rPr lang="en-US" dirty="0"/>
            </a:br>
            <a:endParaRPr lang="he-IL" dirty="0"/>
          </a:p>
          <a:p>
            <a:r>
              <a:rPr lang="he-IL" dirty="0"/>
              <a:t>מחקו את שורה 4 והוסיפו ללולאה לפני התנאי שלכם:</a:t>
            </a:r>
            <a:br>
              <a:rPr lang="en-US" dirty="0"/>
            </a:br>
            <a:r>
              <a:rPr lang="he-IL" dirty="0"/>
              <a:t>- את השאלה שתשאלו את המשתמש: אם אכל תפוחים?</a:t>
            </a:r>
            <a:br>
              <a:rPr lang="en-US" dirty="0"/>
            </a:br>
            <a:r>
              <a:rPr lang="he-IL" dirty="0"/>
              <a:t>- אם ענה שכן – הוסיפו לו נקודה</a:t>
            </a:r>
            <a:br>
              <a:rPr lang="en-US" dirty="0"/>
            </a:br>
            <a:r>
              <a:rPr lang="he-IL" dirty="0"/>
              <a:t>- אם ענה שלא – המשיכו</a:t>
            </a:r>
          </a:p>
          <a:p>
            <a:r>
              <a:rPr lang="he-IL" dirty="0"/>
              <a:t>השאירו את התנאי של הלולאה כפי שהוא</a:t>
            </a:r>
          </a:p>
          <a:p>
            <a:endParaRPr lang="he-IL" dirty="0"/>
          </a:p>
          <a:p>
            <a:endParaRPr lang="he-IL" dirty="0"/>
          </a:p>
        </p:txBody>
      </p:sp>
      <p:pic>
        <p:nvPicPr>
          <p:cNvPr id="5" name="Picture 4" descr="A screenshot of a video game&#10;&#10;Description automatically generated">
            <a:extLst>
              <a:ext uri="{FF2B5EF4-FFF2-40B4-BE49-F238E27FC236}">
                <a16:creationId xmlns:a16="http://schemas.microsoft.com/office/drawing/2014/main" id="{43D90569-B3DA-5C7F-001C-E134B8B00BA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11700" y="322692"/>
            <a:ext cx="2613972" cy="15248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3381730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>
            <a:extLst>
              <a:ext uri="{FF2B5EF4-FFF2-40B4-BE49-F238E27FC236}">
                <a16:creationId xmlns:a16="http://schemas.microsoft.com/office/drawing/2014/main" id="{72900D3D-0DBD-E452-FCA1-C5140572369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he-IL" dirty="0"/>
              <a:t>תרגול </a:t>
            </a:r>
            <a:r>
              <a:rPr lang="he-IL" dirty="0" err="1"/>
              <a:t>while</a:t>
            </a:r>
            <a:r>
              <a:rPr lang="he-IL" dirty="0"/>
              <a:t>:</a:t>
            </a:r>
          </a:p>
        </p:txBody>
      </p:sp>
      <p:sp>
        <p:nvSpPr>
          <p:cNvPr id="3" name="מציין מיקום טקסט 2">
            <a:extLst>
              <a:ext uri="{FF2B5EF4-FFF2-40B4-BE49-F238E27FC236}">
                <a16:creationId xmlns:a16="http://schemas.microsoft.com/office/drawing/2014/main" id="{21B901A3-E69F-CDBC-0971-5DD069C98A7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he-IL" dirty="0"/>
              <a:t>העתיקו את הפתרון שלכם לכאן</a:t>
            </a:r>
            <a:endParaRPr lang="he-IL" b="1" dirty="0"/>
          </a:p>
        </p:txBody>
      </p:sp>
      <p:pic>
        <p:nvPicPr>
          <p:cNvPr id="5" name="Picture 4" descr="A screenshot of a video game&#10;&#10;Description automatically generated">
            <a:extLst>
              <a:ext uri="{FF2B5EF4-FFF2-40B4-BE49-F238E27FC236}">
                <a16:creationId xmlns:a16="http://schemas.microsoft.com/office/drawing/2014/main" id="{43D90569-B3DA-5C7F-001C-E134B8B00BA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11700" y="322692"/>
            <a:ext cx="2613972" cy="15248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7270418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>
            <a:extLst>
              <a:ext uri="{FF2B5EF4-FFF2-40B4-BE49-F238E27FC236}">
                <a16:creationId xmlns:a16="http://schemas.microsoft.com/office/drawing/2014/main" id="{72900D3D-0DBD-E452-FCA1-C5140572369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he-IL" dirty="0"/>
              <a:t>תרגול </a:t>
            </a:r>
            <a:r>
              <a:rPr lang="he-IL" dirty="0" err="1"/>
              <a:t>while</a:t>
            </a:r>
            <a:r>
              <a:rPr lang="he-IL" dirty="0"/>
              <a:t>:</a:t>
            </a:r>
          </a:p>
        </p:txBody>
      </p:sp>
      <p:sp>
        <p:nvSpPr>
          <p:cNvPr id="3" name="מציין מיקום טקסט 2">
            <a:extLst>
              <a:ext uri="{FF2B5EF4-FFF2-40B4-BE49-F238E27FC236}">
                <a16:creationId xmlns:a16="http://schemas.microsoft.com/office/drawing/2014/main" id="{21B901A3-E69F-CDBC-0971-5DD069C98A7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he-IL" dirty="0"/>
              <a:t>שחקו במשחק שלכם! האם הוא עובד?</a:t>
            </a:r>
          </a:p>
          <a:p>
            <a:endParaRPr lang="he-IL" dirty="0"/>
          </a:p>
        </p:txBody>
      </p:sp>
      <p:pic>
        <p:nvPicPr>
          <p:cNvPr id="5" name="Picture 4" descr="A screenshot of a video game&#10;&#10;Description automatically generated">
            <a:extLst>
              <a:ext uri="{FF2B5EF4-FFF2-40B4-BE49-F238E27FC236}">
                <a16:creationId xmlns:a16="http://schemas.microsoft.com/office/drawing/2014/main" id="{43D90569-B3DA-5C7F-001C-E134B8B00BA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11700" y="322692"/>
            <a:ext cx="2613972" cy="15248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5195876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>
            <a:extLst>
              <a:ext uri="{FF2B5EF4-FFF2-40B4-BE49-F238E27FC236}">
                <a16:creationId xmlns:a16="http://schemas.microsoft.com/office/drawing/2014/main" id="{72900D3D-0DBD-E452-FCA1-C5140572369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he-IL" dirty="0"/>
              <a:t>תרגול </a:t>
            </a:r>
            <a:r>
              <a:rPr lang="he-IL" dirty="0" err="1"/>
              <a:t>while</a:t>
            </a:r>
            <a:r>
              <a:rPr lang="he-IL" dirty="0"/>
              <a:t>:</a:t>
            </a:r>
          </a:p>
        </p:txBody>
      </p:sp>
      <p:sp>
        <p:nvSpPr>
          <p:cNvPr id="3" name="מציין מיקום טקסט 2">
            <a:extLst>
              <a:ext uri="{FF2B5EF4-FFF2-40B4-BE49-F238E27FC236}">
                <a16:creationId xmlns:a16="http://schemas.microsoft.com/office/drawing/2014/main" id="{21B901A3-E69F-CDBC-0971-5DD069C98A7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he-IL" dirty="0"/>
              <a:t>שחקו במשחק שלכם! האם הוא עובד?</a:t>
            </a:r>
          </a:p>
          <a:p>
            <a:r>
              <a:rPr lang="he-IL" dirty="0"/>
              <a:t>שנו לבחירתכם:</a:t>
            </a:r>
            <a:br>
              <a:rPr lang="en-US" dirty="0"/>
            </a:br>
            <a:r>
              <a:rPr lang="he-IL" dirty="0"/>
              <a:t>1. את מספר הנקודות שצריך בשביל להגיע לניצחון</a:t>
            </a:r>
            <a:br>
              <a:rPr lang="en-US" dirty="0"/>
            </a:br>
            <a:r>
              <a:rPr lang="he-IL" dirty="0"/>
              <a:t>2. שווי של כל תפוח</a:t>
            </a:r>
            <a:br>
              <a:rPr lang="en-US" dirty="0"/>
            </a:br>
            <a:endParaRPr lang="he-IL" dirty="0"/>
          </a:p>
          <a:p>
            <a:r>
              <a:rPr lang="he-IL" dirty="0"/>
              <a:t>הוסיפו לבחירתכם:</a:t>
            </a:r>
            <a:br>
              <a:rPr lang="en-US" dirty="0"/>
            </a:br>
            <a:r>
              <a:rPr lang="he-IL" dirty="0"/>
              <a:t>1. הודעת כל הכבוד כשהשחקן ניצח</a:t>
            </a:r>
            <a:br>
              <a:rPr lang="en-US" dirty="0"/>
            </a:br>
            <a:r>
              <a:rPr lang="he-IL" dirty="0"/>
              <a:t>2. הודעה כשהתווספה לו נקודה כי אכל תפוח</a:t>
            </a:r>
            <a:br>
              <a:rPr lang="en-US" dirty="0"/>
            </a:br>
            <a:r>
              <a:rPr lang="he-IL" dirty="0"/>
              <a:t>3. הודעה כשממשיכים לסיבוב הבא</a:t>
            </a:r>
          </a:p>
          <a:p>
            <a:endParaRPr lang="he-IL" dirty="0"/>
          </a:p>
        </p:txBody>
      </p:sp>
      <p:pic>
        <p:nvPicPr>
          <p:cNvPr id="5" name="Picture 4" descr="A screenshot of a video game&#10;&#10;Description automatically generated">
            <a:extLst>
              <a:ext uri="{FF2B5EF4-FFF2-40B4-BE49-F238E27FC236}">
                <a16:creationId xmlns:a16="http://schemas.microsoft.com/office/drawing/2014/main" id="{43D90569-B3DA-5C7F-001C-E134B8B00BA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11700" y="322692"/>
            <a:ext cx="2613972" cy="15248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5728879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>
            <a:extLst>
              <a:ext uri="{FF2B5EF4-FFF2-40B4-BE49-F238E27FC236}">
                <a16:creationId xmlns:a16="http://schemas.microsoft.com/office/drawing/2014/main" id="{72900D3D-0DBD-E452-FCA1-C5140572369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he-IL" dirty="0"/>
              <a:t>תרגול </a:t>
            </a:r>
            <a:r>
              <a:rPr lang="he-IL" dirty="0" err="1"/>
              <a:t>while</a:t>
            </a:r>
            <a:r>
              <a:rPr lang="he-IL" dirty="0"/>
              <a:t>:</a:t>
            </a:r>
          </a:p>
        </p:txBody>
      </p:sp>
      <p:sp>
        <p:nvSpPr>
          <p:cNvPr id="3" name="מציין מיקום טקסט 2">
            <a:extLst>
              <a:ext uri="{FF2B5EF4-FFF2-40B4-BE49-F238E27FC236}">
                <a16:creationId xmlns:a16="http://schemas.microsoft.com/office/drawing/2014/main" id="{21B901A3-E69F-CDBC-0971-5DD069C98A7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he-IL" dirty="0"/>
              <a:t>מתקדם:</a:t>
            </a:r>
            <a:br>
              <a:rPr lang="en-US" dirty="0"/>
            </a:br>
            <a:r>
              <a:rPr lang="he-IL" dirty="0"/>
              <a:t>בחרו את אחד מתנאי המשחק הבאים של </a:t>
            </a:r>
            <a:r>
              <a:rPr lang="he-IL" dirty="0" err="1"/>
              <a:t>snake</a:t>
            </a:r>
            <a:r>
              <a:rPr lang="he-IL" dirty="0"/>
              <a:t> </a:t>
            </a:r>
            <a:br>
              <a:rPr lang="en-US" dirty="0"/>
            </a:br>
            <a:r>
              <a:rPr lang="he-IL" dirty="0"/>
              <a:t>והוסיפו אותו למשחק שלכם,</a:t>
            </a:r>
            <a:br>
              <a:rPr lang="en-US" dirty="0"/>
            </a:br>
            <a:r>
              <a:rPr lang="he-IL" dirty="0"/>
              <a:t>1. אם השחקן פגע בקיר – סיימו את המשחק</a:t>
            </a:r>
            <a:br>
              <a:rPr lang="en-US" dirty="0"/>
            </a:br>
            <a:r>
              <a:rPr lang="he-IL" dirty="0"/>
              <a:t>2. אם השחקן פגע בפצצה – סיימו את המשחק</a:t>
            </a:r>
            <a:br>
              <a:rPr lang="en-US" dirty="0"/>
            </a:br>
            <a:r>
              <a:rPr lang="he-IL" dirty="0"/>
              <a:t>3. אם השחקן פגע בעצמו – סיימו את המשחק</a:t>
            </a:r>
            <a:br>
              <a:rPr lang="en-US" dirty="0"/>
            </a:br>
            <a:r>
              <a:rPr lang="he-IL" dirty="0"/>
              <a:t>4. אם השחקן אכל תפוח צהוב – הורידו לו 2 נקודות </a:t>
            </a:r>
            <a:br>
              <a:rPr lang="en-US" dirty="0"/>
            </a:br>
            <a:r>
              <a:rPr lang="he-IL" dirty="0"/>
              <a:t>5. חישבו על תנאי אחר לבחירתכם</a:t>
            </a:r>
          </a:p>
        </p:txBody>
      </p:sp>
      <p:pic>
        <p:nvPicPr>
          <p:cNvPr id="5" name="Picture 4" descr="A screenshot of a video game&#10;&#10;Description automatically generated">
            <a:extLst>
              <a:ext uri="{FF2B5EF4-FFF2-40B4-BE49-F238E27FC236}">
                <a16:creationId xmlns:a16="http://schemas.microsoft.com/office/drawing/2014/main" id="{43D90569-B3DA-5C7F-001C-E134B8B00BA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11700" y="322692"/>
            <a:ext cx="2613972" cy="15248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6463404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>
            <a:extLst>
              <a:ext uri="{FF2B5EF4-FFF2-40B4-BE49-F238E27FC236}">
                <a16:creationId xmlns:a16="http://schemas.microsoft.com/office/drawing/2014/main" id="{72900D3D-0DBD-E452-FCA1-C5140572369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he-IL" dirty="0"/>
              <a:t>תרגול </a:t>
            </a:r>
            <a:r>
              <a:rPr lang="he-IL" dirty="0" err="1"/>
              <a:t>while</a:t>
            </a:r>
            <a:r>
              <a:rPr lang="he-IL" dirty="0"/>
              <a:t>:</a:t>
            </a:r>
          </a:p>
        </p:txBody>
      </p:sp>
      <p:sp>
        <p:nvSpPr>
          <p:cNvPr id="3" name="מציין מיקום טקסט 2">
            <a:extLst>
              <a:ext uri="{FF2B5EF4-FFF2-40B4-BE49-F238E27FC236}">
                <a16:creationId xmlns:a16="http://schemas.microsoft.com/office/drawing/2014/main" id="{21B901A3-E69F-CDBC-0971-5DD069C98A7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he-IL" dirty="0"/>
              <a:t>העתיקו את המשחק שלכם לפה! כל הכבוד!</a:t>
            </a:r>
          </a:p>
          <a:p>
            <a:endParaRPr lang="he-IL" dirty="0"/>
          </a:p>
        </p:txBody>
      </p:sp>
      <p:pic>
        <p:nvPicPr>
          <p:cNvPr id="5" name="Picture 4" descr="A screenshot of a video game&#10;&#10;Description automatically generated">
            <a:extLst>
              <a:ext uri="{FF2B5EF4-FFF2-40B4-BE49-F238E27FC236}">
                <a16:creationId xmlns:a16="http://schemas.microsoft.com/office/drawing/2014/main" id="{43D90569-B3DA-5C7F-001C-E134B8B00BA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11700" y="322692"/>
            <a:ext cx="2613972" cy="15248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0527703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535979B-F878-C02C-CA00-80C11A7F98F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endParaRPr lang="en-IL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BB6ADA4-A868-D5C0-0225-486B96B100D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1036445902"/>
      </p:ext>
    </p:extLst>
  </p:cSld>
  <p:clrMapOvr>
    <a:masterClrMapping/>
  </p:clrMapOvr>
</p:sld>
</file>

<file path=ppt/theme/theme1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6093</TotalTime>
  <Words>1310</Words>
  <Application>Microsoft Macintosh PowerPoint</Application>
  <PresentationFormat>On-screen Show (16:9)</PresentationFormat>
  <Paragraphs>59</Paragraphs>
  <Slides>16</Slides>
  <Notes>15</Notes>
  <HiddenSlides>1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19" baseType="lpstr">
      <vt:lpstr>Arial</vt:lpstr>
      <vt:lpstr>Calibri</vt:lpstr>
      <vt:lpstr>Simple Light</vt:lpstr>
      <vt:lpstr>PowerPoint Presentation</vt:lpstr>
      <vt:lpstr>תרגול while:</vt:lpstr>
      <vt:lpstr>תרגול while:</vt:lpstr>
      <vt:lpstr>תרגול while:</vt:lpstr>
      <vt:lpstr>תרגול while:</vt:lpstr>
      <vt:lpstr>תרגול while:</vt:lpstr>
      <vt:lpstr>תרגול while:</vt:lpstr>
      <vt:lpstr>תרגול while:</vt:lpstr>
      <vt:lpstr>תרגול while:</vt:lpstr>
      <vt:lpstr>תרגול while:</vt:lpstr>
      <vt:lpstr>תרגול while:</vt:lpstr>
      <vt:lpstr>תרגול while:</vt:lpstr>
      <vt:lpstr>תרגול while:</vt:lpstr>
      <vt:lpstr>תרגול while:</vt:lpstr>
      <vt:lpstr>תרגול while: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מצגת של PowerPoint‏</dc:title>
  <dc:creator>Maya Majlaton</dc:creator>
  <cp:lastModifiedBy>Ziv זיו יוסף</cp:lastModifiedBy>
  <cp:revision>33</cp:revision>
  <dcterms:modified xsi:type="dcterms:W3CDTF">2024-01-14T18:58:06Z</dcterms:modified>
</cp:coreProperties>
</file>