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4"/>
  </p:normalViewPr>
  <p:slideViewPr>
    <p:cSldViewPr snapToGrid="0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081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675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608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739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467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274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278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655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987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3087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3478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678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831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4715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8651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595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5167C-C107-CF4C-81ED-5BA2BB7E532B}" type="datetimeFigureOut">
              <a:rPr lang="en-IL" smtClean="0"/>
              <a:t>17/12/2023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423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0249-CBAF-8F48-C2D1-ABDC137B6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err="1"/>
              <a:t>סטראטפיסטים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6E9BD-3A3C-BD4E-4027-D2AABC0700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2400" dirty="0"/>
              <a:t>תנאים ולולאת </a:t>
            </a:r>
            <a:r>
              <a:rPr lang="he-IL" sz="2400" dirty="0" err="1"/>
              <a:t>while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141723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A53F-CE56-CBE1-9B04-DD408553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ברקע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8DBB5-1CC5-2C85-24F4-D4C02095D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משתנים </a:t>
            </a:r>
            <a:r>
              <a:rPr lang="he-IL" dirty="0" err="1"/>
              <a:t>ואופראטרים</a:t>
            </a:r>
            <a:endParaRPr lang="he-IL" dirty="0"/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קלט -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prompt()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– מה עושה? איך משתמשים?</a:t>
            </a:r>
          </a:p>
          <a:p>
            <a:pPr algn="r" rtl="1"/>
            <a:r>
              <a:rPr lang="he-IL" dirty="0">
                <a:solidFill>
                  <a:srgbClr val="000000"/>
                </a:solidFill>
                <a:latin typeface="Courier New" panose="02070309020205020404" pitchFamily="49" charset="0"/>
              </a:rPr>
              <a:t>פלט -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alert()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console.log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מה עושה? איך משתמשים?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he-IL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he-IL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he-IL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he-IL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endParaRPr lang="en-US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0" indent="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20347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3CC3-85CA-C09B-0AAD-6342B926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בואו נבין את הצורך בתנאים:</a:t>
            </a:r>
            <a:endParaRPr lang="en-IL" dirty="0"/>
          </a:p>
        </p:txBody>
      </p:sp>
      <p:pic>
        <p:nvPicPr>
          <p:cNvPr id="5" name="Content Placeholder 4" descr="A blue and red text with a yellow background&#10;&#10;Description automatically generated">
            <a:extLst>
              <a:ext uri="{FF2B5EF4-FFF2-40B4-BE49-F238E27FC236}">
                <a16:creationId xmlns:a16="http://schemas.microsoft.com/office/drawing/2014/main" id="{6AFE2E93-648C-62F6-2BD9-B0C0FA99F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793" y="1829677"/>
            <a:ext cx="6019963" cy="3685298"/>
          </a:xfrm>
        </p:spPr>
      </p:pic>
    </p:spTree>
    <p:extLst>
      <p:ext uri="{BB962C8B-B14F-4D97-AF65-F5344CB8AC3E}">
        <p14:creationId xmlns:p14="http://schemas.microsoft.com/office/powerpoint/2010/main" val="3284927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97BB-55E5-EBE4-F07A-DCE7E6FA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 err="1"/>
              <a:t>if</a:t>
            </a:r>
            <a:r>
              <a:rPr lang="he-IL" dirty="0"/>
              <a:t>, </a:t>
            </a:r>
            <a:r>
              <a:rPr lang="he-IL" dirty="0" err="1"/>
              <a:t>else</a:t>
            </a:r>
            <a:r>
              <a:rPr lang="he-IL" dirty="0"/>
              <a:t>, ומה שביניהם: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66B74-426A-0F6A-028C-40DE5188E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1641390"/>
          </a:xfrm>
        </p:spPr>
        <p:txBody>
          <a:bodyPr/>
          <a:lstStyle/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בשביל לממש את המשחק 7 בום, אנחנו צריכים לחלק את המשחק לשלבים: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1. </a:t>
            </a:r>
            <a:r>
              <a:rPr lang="he-IL" b="1" dirty="0"/>
              <a:t>אם</a:t>
            </a:r>
            <a:r>
              <a:rPr lang="he-IL" dirty="0"/>
              <a:t> במספר עצמו יש 7? (137 לדוגמה)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2. </a:t>
            </a:r>
            <a:r>
              <a:rPr lang="he-IL" b="1" dirty="0"/>
              <a:t>אם</a:t>
            </a:r>
            <a:r>
              <a:rPr lang="he-IL" dirty="0"/>
              <a:t> המספר מתחלק ב7 ללא שארית? (49 לדוגמה)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3. </a:t>
            </a:r>
            <a:r>
              <a:rPr lang="he-IL" b="1" dirty="0"/>
              <a:t>אחרת?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AF0862-516F-537F-86A1-31BF9ABB617B}"/>
              </a:ext>
            </a:extLst>
          </p:cNvPr>
          <p:cNvSpPr txBox="1">
            <a:spLocks/>
          </p:cNvSpPr>
          <p:nvPr/>
        </p:nvSpPr>
        <p:spPr>
          <a:xfrm>
            <a:off x="677334" y="4032170"/>
            <a:ext cx="8596668" cy="1641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b="1" dirty="0"/>
              <a:t>ב</a:t>
            </a:r>
            <a:r>
              <a:rPr lang="en-US" b="1" dirty="0" err="1"/>
              <a:t>Javascript</a:t>
            </a:r>
            <a:r>
              <a:rPr lang="en-US" b="1" dirty="0"/>
              <a:t> </a:t>
            </a:r>
            <a:r>
              <a:rPr lang="he-IL" b="1" dirty="0"/>
              <a:t> נשתמש בכלים הבאים:</a:t>
            </a:r>
          </a:p>
          <a:p>
            <a:pPr algn="r" rtl="1"/>
            <a:r>
              <a:rPr lang="en-US" b="1" dirty="0"/>
              <a:t>I</a:t>
            </a:r>
            <a:r>
              <a:rPr lang="he-IL" b="1" dirty="0" err="1"/>
              <a:t>f</a:t>
            </a:r>
            <a:r>
              <a:rPr lang="he-IL" b="1" dirty="0"/>
              <a:t> – התוכנה בודקת מה קורה אם התנאי מתקיים</a:t>
            </a:r>
          </a:p>
          <a:p>
            <a:pPr algn="r" rtl="1"/>
            <a:r>
              <a:rPr lang="en-US" b="1" dirty="0"/>
              <a:t>E</a:t>
            </a:r>
            <a:r>
              <a:rPr lang="he-IL" b="1" dirty="0" err="1"/>
              <a:t>lse</a:t>
            </a:r>
            <a:r>
              <a:rPr lang="he-IL" b="1" dirty="0"/>
              <a:t> </a:t>
            </a:r>
            <a:r>
              <a:rPr lang="he-IL" b="1" dirty="0" err="1"/>
              <a:t>if</a:t>
            </a:r>
            <a:r>
              <a:rPr lang="he-IL" b="1" dirty="0"/>
              <a:t>- אם התנאי הקודם לא התקיים, אבל הנוכחי מתקיים</a:t>
            </a:r>
          </a:p>
          <a:p>
            <a:pPr algn="r" rtl="1"/>
            <a:r>
              <a:rPr lang="en-US" b="1" dirty="0"/>
              <a:t>E</a:t>
            </a:r>
            <a:r>
              <a:rPr lang="he-IL" b="1" dirty="0" err="1"/>
              <a:t>lse</a:t>
            </a:r>
            <a:r>
              <a:rPr lang="he-IL" b="1" dirty="0"/>
              <a:t>- אחרת</a:t>
            </a:r>
          </a:p>
          <a:p>
            <a:pPr algn="r" rtl="1"/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44616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B367-5D3E-37C9-A63C-59377B2D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תרגיל חימום:</a:t>
            </a:r>
            <a:endParaRPr lang="en-IL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1BE0152-58D3-52B5-1FED-F233412E8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9446"/>
          <a:stretch/>
        </p:blipFill>
        <p:spPr>
          <a:xfrm>
            <a:off x="829396" y="1655261"/>
            <a:ext cx="3775748" cy="1187952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FF94AC3-8560-4BD5-3C07-2BF748B3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493" y="1655260"/>
            <a:ext cx="4117572" cy="2130927"/>
          </a:xfrm>
          <a:prstGeom prst="rect">
            <a:avLst/>
          </a:prstGeom>
        </p:spPr>
      </p:pic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CEDB7DA0-4E26-BE36-64F8-22DB7B96C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96" y="3429000"/>
            <a:ext cx="3920134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24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C8D3-0650-BEF5-D561-E4C82521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שימוש בתנאים עוזר לנו להתחמק משגיאות!</a:t>
            </a:r>
            <a:endParaRPr lang="en-IL" dirty="0"/>
          </a:p>
        </p:txBody>
      </p:sp>
      <p:pic>
        <p:nvPicPr>
          <p:cNvPr id="7" name="Content Placeholder 6" descr="A text on a white background&#10;&#10;Description automatically generated">
            <a:extLst>
              <a:ext uri="{FF2B5EF4-FFF2-40B4-BE49-F238E27FC236}">
                <a16:creationId xmlns:a16="http://schemas.microsoft.com/office/drawing/2014/main" id="{14838E3D-58C8-3CEF-A2B8-326F5D265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298" y="2160589"/>
            <a:ext cx="4851400" cy="3416300"/>
          </a:xfr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8397CB6-DAF2-ACED-A38A-0B3D1E1026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102" r="-271"/>
          <a:stretch/>
        </p:blipFill>
        <p:spPr>
          <a:xfrm>
            <a:off x="5702969" y="1985128"/>
            <a:ext cx="5495040" cy="38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58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65F7-C63F-83EF-8D99-1D8AE741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אופרטורים</a:t>
            </a:r>
            <a:endParaRPr lang="en-IL" dirty="0"/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39D64E74-8816-BC6C-AB22-6DB8EDBBA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4962" b="14962"/>
          <a:stretch/>
        </p:blipFill>
        <p:spPr>
          <a:xfrm>
            <a:off x="4860090" y="609600"/>
            <a:ext cx="4556209" cy="4679018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F16C2EF-CCBA-185F-60A8-9A481B99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68" y="1270000"/>
            <a:ext cx="46990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49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5F8E-19B3-042B-1595-AA1E9046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תרגול אופרטורים</a:t>
            </a:r>
            <a:endParaRPr lang="en-IL" dirty="0"/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D1F62393-F388-7C5D-A2BD-BDBE26E1E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93" t="58409" r="393" b="-684"/>
          <a:stretch/>
        </p:blipFill>
        <p:spPr>
          <a:xfrm>
            <a:off x="852452" y="3817144"/>
            <a:ext cx="3931066" cy="1911402"/>
          </a:xfrm>
        </p:spPr>
      </p:pic>
      <p:pic>
        <p:nvPicPr>
          <p:cNvPr id="6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6FF7BB43-E82C-7A73-ACB1-1D7585C82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4688" b="62132"/>
          <a:stretch/>
        </p:blipFill>
        <p:spPr>
          <a:xfrm>
            <a:off x="5158662" y="1488281"/>
            <a:ext cx="4115340" cy="1712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E7D20C-F31C-88D4-B060-6628F0A10FD4}"/>
              </a:ext>
            </a:extLst>
          </p:cNvPr>
          <p:cNvSpPr txBox="1"/>
          <p:nvPr/>
        </p:nvSpPr>
        <p:spPr>
          <a:xfrm>
            <a:off x="5900738" y="3817144"/>
            <a:ext cx="3228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he-IL" dirty="0"/>
              <a:t>מי נכנס למסיבה?</a:t>
            </a:r>
          </a:p>
          <a:p>
            <a:pPr marL="0" algn="r" defTabSz="457200" rtl="1" eaLnBrk="1" latinLnBrk="0" hangingPunct="1"/>
            <a:r>
              <a:rPr lang="he-IL" dirty="0"/>
              <a:t>במסיבה שלי יכולים להיכנס רק אנשים בין גיל 20-25,</a:t>
            </a:r>
          </a:p>
          <a:p>
            <a:pPr marL="0" algn="r" defTabSz="457200" rtl="1" eaLnBrk="1" latinLnBrk="0" hangingPunct="1"/>
            <a:r>
              <a:rPr lang="he-IL" dirty="0"/>
              <a:t>איך נבנה תוכנה שתקבל את גיל המשתמש ותגיד אם הוא יכול להיכנס?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0718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BA06-27DC-88D1-7A01-BC955A53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מי נכנס למסיבה שלכם? בואו נתרגל!</a:t>
            </a:r>
            <a:endParaRPr lang="en-IL" dirty="0"/>
          </a:p>
        </p:txBody>
      </p:sp>
      <p:pic>
        <p:nvPicPr>
          <p:cNvPr id="4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1D361D97-D229-C2D1-6108-296E8EBF6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93" t="58409" r="393" b="-684"/>
          <a:stretch/>
        </p:blipFill>
        <p:spPr>
          <a:xfrm>
            <a:off x="2510892" y="1930400"/>
            <a:ext cx="5844329" cy="2841625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A259CD-1017-C56A-78F6-E253CBEB77D4}"/>
              </a:ext>
            </a:extLst>
          </p:cNvPr>
          <p:cNvSpPr/>
          <p:nvPr/>
        </p:nvSpPr>
        <p:spPr>
          <a:xfrm>
            <a:off x="3453063" y="2598820"/>
            <a:ext cx="3260558" cy="25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5E95A-ED2D-8687-A2A1-5D1C410146AE}"/>
              </a:ext>
            </a:extLst>
          </p:cNvPr>
          <p:cNvSpPr/>
          <p:nvPr/>
        </p:nvSpPr>
        <p:spPr>
          <a:xfrm>
            <a:off x="2779296" y="3176336"/>
            <a:ext cx="3140242" cy="25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2073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A7E64-39FA-C7C1-A91E-CDF08B5F4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או וגם</a:t>
            </a:r>
            <a:endParaRPr lang="en-IL" dirty="0"/>
          </a:p>
        </p:txBody>
      </p:sp>
      <p:pic>
        <p:nvPicPr>
          <p:cNvPr id="5" name="Content Placeholder 4" descr="A close-up of a text&#10;&#10;Description automatically generated">
            <a:extLst>
              <a:ext uri="{FF2B5EF4-FFF2-40B4-BE49-F238E27FC236}">
                <a16:creationId xmlns:a16="http://schemas.microsoft.com/office/drawing/2014/main" id="{877A8D0D-1D4F-5762-3BA0-2FB59AA29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69861" y="1799598"/>
            <a:ext cx="4521200" cy="2197100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2BCB3A2-3F66-F6DC-F931-7D4B20608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50" y="1532898"/>
            <a:ext cx="3130376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8358-7192-D21C-4C68-41D882EA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שאלות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4489-B380-2C63-3508-75BA1C96E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9568"/>
            <a:ext cx="8827614" cy="4764505"/>
          </a:xfrm>
        </p:spPr>
        <p:txBody>
          <a:bodyPr>
            <a:norm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רמה קלה 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סיווג של גיל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צרו משתנה בשם 'גיל' ותשימו בו ערך. 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תבדקו באמצעות תנאים האם מדובר על ילד, נער או מבוגר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"ילד" (0-12), "נער" (13-19), "מבוגר" (20-59). הצג את הקטגוריה המתאימה בהתבסס על הגיל הנתון.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טמפרטורה: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 משתנה 'טמפרטורה' והקצה לו ערך בצלזיוס. תבדקו באמצעות  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if-else</a:t>
            </a:r>
            <a:r>
              <a:rPr lang="en-IL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האם  הטמפרטורה מתחת לאפס (0°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או מעל טמפרטורת החדר הרגילה (25°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שדרוג – במקום להחזיר משפט, החזירו 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אם הטמפרטורה מעל טמפ׳ החדר,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וFalse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אחרת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הערכת ציונים: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תקבלו מהמשתמש ציון באמצעות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prompt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ותדפיסו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הציון הוא 90 ומעלה,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בין 80 ל-89,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בין 70 ל-79, 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בין 60 ל-69, ו-"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 אם הוא מתחת ל-60.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16192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2E4CD-04FE-4E2F-B497-D611D0ECC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01579"/>
            <a:ext cx="8695266" cy="6172200"/>
          </a:xfrm>
        </p:spPr>
        <p:txBody>
          <a:bodyPr/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/>
              <a:t>4</a:t>
            </a: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זוגי או אי זוגי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צורו שתי משתנים '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num1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 ו-'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num2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', והקצה להם ערכים מספריים. תקבעו  אם המכפלה של שני המספרים הללו זוגי או אי-זוגי, ותדפיסו את התוצאה.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שדרוג- החזירו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אם המספר זוגי, 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וFalse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אם המספר אי זוגי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אימות שם משתמש: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צורו משתנה 'שם משתמש' ותיתנו לו ערך. תבדקו אם שם המשתמש באורך של לפחות 6 תווים. אם הוא אכן 6 תווים או יותר, כתבו למשתמש הודעת כל הכבוד, אם לא, תנזפו במשתמש על כך שלא עמד בכללים.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רמה קשה יותר: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משולשים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 שלושה משתנים המייצגים את אורכי הצלעות של המשולש. תבדקו האם המשולש שווה צלעות (כל הצלעות שוות), שווה שוקיים (שתי צלעות שוות) או קנה מידה (אין צלעות שוות).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u="sng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3999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A7402-D44C-7E0E-B936-C75CF339A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685800"/>
            <a:ext cx="9176529" cy="5355563"/>
          </a:xfrm>
        </p:spPr>
        <p:txBody>
          <a:bodyPr>
            <a:normAutofit lnSpcReduction="10000"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IL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L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ar-SA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תנועות או עיצורים:</a:t>
            </a:r>
            <a:br>
              <a:rPr lang="en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צור משתנה עם אות אחת בדקו האם האות הנתונה היא תנועות (</a:t>
            </a:r>
            <a:r>
              <a:rPr lang="en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a, e, i, o, u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או עיצור, תדפיסו את התוצאה. שדרוג- הדפיסו 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True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אם האות היא תנועה ו-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lse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אם התנועה היא עיצור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מחשבון: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צרו משתנה שמקבל מספר מהמשתמש, משתנה שמקבל מספר נוסף מהמשתמש, ומשתנה נוסף שמקבל במילה מה המשתמש רוצה לעשות: כפל/חילוק/חיבור/חיסור</a:t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עשו בהתאם לרצון המשתמש את הפעולה החשבונית שרצה והדפיסו את התוצאה</a:t>
            </a:r>
          </a:p>
          <a:p>
            <a:pPr marL="0" indent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למשל: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um1 = 5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um2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6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</a:t>
            </a:r>
            <a:r>
              <a:rPr lang="he-IL" kern="1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ction</a:t>
            </a:r>
            <a:r>
              <a:rPr lang="he-IL" kern="1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= ׳כפל׳</a:t>
            </a:r>
          </a:p>
          <a:p>
            <a:pPr marL="0" indent="0" algn="l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</a:t>
            </a:r>
            <a:r>
              <a:rPr lang="he-IL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esolt</a:t>
            </a:r>
            <a:r>
              <a:rPr lang="he-IL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= 30 </a:t>
            </a:r>
          </a:p>
        </p:txBody>
      </p:sp>
    </p:spTree>
    <p:extLst>
      <p:ext uri="{BB962C8B-B14F-4D97-AF65-F5344CB8AC3E}">
        <p14:creationId xmlns:p14="http://schemas.microsoft.com/office/powerpoint/2010/main" val="38832939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{ECA46E68-20A6-A84A-9FBF-88074C2EC761}tf10001060</Template>
  <TotalTime>524</TotalTime>
  <Words>597</Words>
  <Application>Microsoft Macintosh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 3</vt:lpstr>
      <vt:lpstr>Facet</vt:lpstr>
      <vt:lpstr>סטראטפיסטים</vt:lpstr>
      <vt:lpstr>ברקע</vt:lpstr>
      <vt:lpstr>בואו נבין את הצורך בתנאים:</vt:lpstr>
      <vt:lpstr>if, else, ומה שביניהם:</vt:lpstr>
      <vt:lpstr>תרגיל חימום:</vt:lpstr>
      <vt:lpstr>שימוש בתנאים עוזר לנו להתחמק משגיאות!</vt:lpstr>
      <vt:lpstr>אופרטורים</vt:lpstr>
      <vt:lpstr>תרגול אופרטורים</vt:lpstr>
      <vt:lpstr>מי נכנס למסיבה שלכם? בואו נתרגל!</vt:lpstr>
      <vt:lpstr>או וגם</vt:lpstr>
      <vt:lpstr>שאלות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סטראטפיסטים</dc:title>
  <dc:creator>Ziv זיו יוסף</dc:creator>
  <cp:lastModifiedBy>Ziv זיו יוסף</cp:lastModifiedBy>
  <cp:revision>4</cp:revision>
  <dcterms:created xsi:type="dcterms:W3CDTF">2023-08-15T13:10:55Z</dcterms:created>
  <dcterms:modified xsi:type="dcterms:W3CDTF">2023-12-17T13:22:06Z</dcterms:modified>
</cp:coreProperties>
</file>