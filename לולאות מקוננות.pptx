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20"/>
  </p:notesMasterIdLst>
  <p:sldIdLst>
    <p:sldId id="256" r:id="rId2"/>
    <p:sldId id="286" r:id="rId3"/>
    <p:sldId id="287" r:id="rId4"/>
    <p:sldId id="288" r:id="rId5"/>
    <p:sldId id="290" r:id="rId6"/>
    <p:sldId id="289" r:id="rId7"/>
    <p:sldId id="293" r:id="rId8"/>
    <p:sldId id="295" r:id="rId9"/>
    <p:sldId id="294" r:id="rId10"/>
    <p:sldId id="302" r:id="rId11"/>
    <p:sldId id="291" r:id="rId12"/>
    <p:sldId id="298" r:id="rId13"/>
    <p:sldId id="297" r:id="rId14"/>
    <p:sldId id="299" r:id="rId15"/>
    <p:sldId id="292" r:id="rId16"/>
    <p:sldId id="300" r:id="rId17"/>
    <p:sldId id="296" r:id="rId18"/>
    <p:sldId id="301" r:id="rId1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77"/>
    <p:restoredTop sz="94643"/>
  </p:normalViewPr>
  <p:slideViewPr>
    <p:cSldViewPr snapToGrid="0">
      <p:cViewPr varScale="1">
        <p:scale>
          <a:sx n="140" d="100"/>
          <a:sy n="140" d="100"/>
        </p:scale>
        <p:origin x="10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2696789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4641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indent="-2984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he-IL" dirty="0"/>
              <a:t>מומלץ להריץ ב-</a:t>
            </a:r>
            <a:r>
              <a:rPr lang="he-IL" dirty="0" err="1"/>
              <a:t>debuger</a:t>
            </a:r>
            <a:r>
              <a:rPr lang="he-IL" dirty="0"/>
              <a:t> בשביל להראות מה קורה בתוך הלולאות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0511414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indent="-2984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8840198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indent="-2984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he-IL" dirty="0"/>
              <a:t>המספרים מ-0 עד 10, 10 פעמים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7495079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indent="-2984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he-IL" dirty="0"/>
              <a:t>הלולאה הפנימית צריכה לרוץ </a:t>
            </a:r>
            <a:r>
              <a:rPr lang="he-IL" dirty="0" err="1"/>
              <a:t>i</a:t>
            </a:r>
            <a:r>
              <a:rPr lang="he-IL" dirty="0"/>
              <a:t> פעמים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252716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r" rtl="1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  <p:pic>
        <p:nvPicPr>
          <p:cNvPr id="2" name="תמונה 1">
            <a:extLst>
              <a:ext uri="{FF2B5EF4-FFF2-40B4-BE49-F238E27FC236}">
                <a16:creationId xmlns:a16="http://schemas.microsoft.com/office/drawing/2014/main" id="{C38B02BB-6392-A7DB-54C3-767A0B6622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68066" y="4295646"/>
            <a:ext cx="2168820" cy="8478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ותוכן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4075" y="162067"/>
            <a:ext cx="5005448" cy="5042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15175" y="4134525"/>
            <a:ext cx="268900" cy="26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48625" y="438525"/>
            <a:ext cx="268900" cy="26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81962" y="351375"/>
            <a:ext cx="679225" cy="67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22500" y="2922150"/>
            <a:ext cx="268900" cy="26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6275" y="1547975"/>
            <a:ext cx="466650" cy="46665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 txBox="1"/>
          <p:nvPr/>
        </p:nvSpPr>
        <p:spPr>
          <a:xfrm>
            <a:off x="2425050" y="2022514"/>
            <a:ext cx="4293900" cy="815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 rtl="1"/>
            <a:r>
              <a:rPr lang="he-IL" sz="4100" b="1">
                <a:solidFill>
                  <a:srgbClr val="1C4587"/>
                </a:solidFill>
                <a:latin typeface="Calibri" panose="020F0502020204030204" pitchFamily="34" charset="0"/>
                <a:ea typeface="Assistant"/>
                <a:cs typeface="Calibri" panose="020F0502020204030204" pitchFamily="34" charset="0"/>
                <a:sym typeface="Assistant"/>
              </a:rPr>
              <a:t>לולאות מקוננות</a:t>
            </a:r>
            <a:endParaRPr sz="4100" b="1" dirty="0">
              <a:solidFill>
                <a:srgbClr val="1C4587"/>
              </a:solidFill>
              <a:latin typeface="Calibri" panose="020F0502020204030204" pitchFamily="34" charset="0"/>
              <a:ea typeface="Assistant"/>
              <a:cs typeface="Calibri" panose="020F0502020204030204" pitchFamily="34" charset="0"/>
              <a:sym typeface="Assistant"/>
            </a:endParaRPr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32A0155A-C7CC-C086-83F6-76F68615C2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6638" y="314597"/>
            <a:ext cx="3442348" cy="13457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9E8E6-E962-E738-EF32-777733CB4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לולאות מקוננות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3073E1-4C89-EEB5-F5B4-DF77FDA744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לולאה מקוננת הינה לולאה שמוגדרת בתוך לולאה אחרת.</a:t>
            </a:r>
            <a:br>
              <a:rPr lang="he-IL" dirty="0"/>
            </a:br>
            <a:r>
              <a:rPr lang="he-IL" b="1" dirty="0"/>
              <a:t>כאשר משתמשים בלולאה מקוננת צריך לזכור להשתמש במשתנה אחר מאשר המשתנה שכבר משתמשים בו בלולאה הראשונה.</a:t>
            </a:r>
          </a:p>
          <a:p>
            <a:endParaRPr lang="he-IL" dirty="0"/>
          </a:p>
          <a:p>
            <a:r>
              <a:rPr lang="he-IL" dirty="0"/>
              <a:t>דוגמה: בואו ננסה להדפיס את לוח הכפל, איך נעשה זאת?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034656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A38C8-3F63-B704-82A9-49BF2C0FB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לולאות מקוננות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B0570-EE34-DAEC-911B-D9C87A4E9F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בשביל להדפיס את לוח הכפל נצטרך ל-2 לולאות, נסו לחשוב למה?</a:t>
            </a:r>
          </a:p>
          <a:p>
            <a:r>
              <a:rPr lang="he-IL" dirty="0"/>
              <a:t>מה היה קורה אם היינו משתמשים באותו המשתנה?</a:t>
            </a:r>
          </a:p>
          <a:p>
            <a:r>
              <a:rPr lang="he-IL" dirty="0"/>
              <a:t>מה קורה בכל סיבוב של הלולאה?</a:t>
            </a:r>
            <a:endParaRPr lang="en-IL" dirty="0"/>
          </a:p>
        </p:txBody>
      </p:sp>
      <p:pic>
        <p:nvPicPr>
          <p:cNvPr id="5" name="Picture 4" descr="A white background with black and green numbers&#10;&#10;Description automatically generated">
            <a:extLst>
              <a:ext uri="{FF2B5EF4-FFF2-40B4-BE49-F238E27FC236}">
                <a16:creationId xmlns:a16="http://schemas.microsoft.com/office/drawing/2014/main" id="{C4229A8B-4D2C-71EA-38CA-E72D7FEC4B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3070275"/>
            <a:ext cx="6070600" cy="149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831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E9C56-87DB-C014-C913-7B4A2DDC1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לולאות מקוננות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4C6257-8802-33F5-47CE-1C8BE3AD25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שימו לב מה קורה:</a:t>
            </a:r>
            <a:br>
              <a:rPr lang="en-US" dirty="0"/>
            </a:br>
            <a:r>
              <a:rPr lang="he-IL" dirty="0"/>
              <a:t>נסמן </a:t>
            </a:r>
            <a:r>
              <a:rPr lang="he-IL" dirty="0" err="1">
                <a:solidFill>
                  <a:schemeClr val="accent4">
                    <a:lumMod val="75000"/>
                  </a:schemeClr>
                </a:solidFill>
              </a:rPr>
              <a:t>x</a:t>
            </a:r>
            <a:r>
              <a:rPr lang="he-IL" dirty="0">
                <a:solidFill>
                  <a:schemeClr val="accent4">
                    <a:lumMod val="75000"/>
                  </a:schemeClr>
                </a:solidFill>
              </a:rPr>
              <a:t> בכתום</a:t>
            </a:r>
            <a:r>
              <a:rPr lang="he-IL" dirty="0"/>
              <a:t>, </a:t>
            </a:r>
            <a:r>
              <a:rPr lang="he-IL" dirty="0" err="1">
                <a:solidFill>
                  <a:srgbClr val="002060"/>
                </a:solidFill>
              </a:rPr>
              <a:t>y</a:t>
            </a:r>
            <a:r>
              <a:rPr lang="he-IL" dirty="0">
                <a:solidFill>
                  <a:srgbClr val="002060"/>
                </a:solidFill>
              </a:rPr>
              <a:t> בכחול</a:t>
            </a:r>
            <a:br>
              <a:rPr lang="en-US" dirty="0"/>
            </a:br>
            <a:endParaRPr lang="en-IL" dirty="0"/>
          </a:p>
        </p:txBody>
      </p:sp>
      <p:pic>
        <p:nvPicPr>
          <p:cNvPr id="4" name="Picture 3" descr="A white background with black and green numbers&#10;&#10;Description automatically generated">
            <a:extLst>
              <a:ext uri="{FF2B5EF4-FFF2-40B4-BE49-F238E27FC236}">
                <a16:creationId xmlns:a16="http://schemas.microsoft.com/office/drawing/2014/main" id="{9C6B7630-7266-059F-368A-940F4287B1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6" y="141667"/>
            <a:ext cx="5245934" cy="1295021"/>
          </a:xfrm>
          <a:prstGeom prst="rect">
            <a:avLst/>
          </a:prstGeom>
        </p:spPr>
      </p:pic>
      <p:sp>
        <p:nvSpPr>
          <p:cNvPr id="7" name="Circular Arrow 6">
            <a:extLst>
              <a:ext uri="{FF2B5EF4-FFF2-40B4-BE49-F238E27FC236}">
                <a16:creationId xmlns:a16="http://schemas.microsoft.com/office/drawing/2014/main" id="{705A62B8-7E74-EC8D-1DCC-D210E3BDF7C9}"/>
              </a:ext>
            </a:extLst>
          </p:cNvPr>
          <p:cNvSpPr/>
          <p:nvPr/>
        </p:nvSpPr>
        <p:spPr>
          <a:xfrm rot="5400000">
            <a:off x="3085394" y="442226"/>
            <a:ext cx="505591" cy="578297"/>
          </a:xfrm>
          <a:prstGeom prst="circular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endParaRPr lang="en-IL" dirty="0">
              <a:solidFill>
                <a:schemeClr val="tx1"/>
              </a:solidFill>
            </a:endParaRPr>
          </a:p>
        </p:txBody>
      </p:sp>
      <p:sp>
        <p:nvSpPr>
          <p:cNvPr id="8" name="Circular Arrow 7">
            <a:extLst>
              <a:ext uri="{FF2B5EF4-FFF2-40B4-BE49-F238E27FC236}">
                <a16:creationId xmlns:a16="http://schemas.microsoft.com/office/drawing/2014/main" id="{36F0C4FC-CE8F-2A4B-A85B-6349DF480E75}"/>
              </a:ext>
            </a:extLst>
          </p:cNvPr>
          <p:cNvSpPr/>
          <p:nvPr/>
        </p:nvSpPr>
        <p:spPr>
          <a:xfrm rot="5400000">
            <a:off x="2900025" y="428643"/>
            <a:ext cx="1019099" cy="721067"/>
          </a:xfrm>
          <a:prstGeom prst="circular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R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endParaRPr lang="en-IL" b="1" dirty="0">
              <a:ln/>
              <a:solidFill>
                <a:schemeClr val="accent4"/>
              </a:solidFill>
            </a:endParaRPr>
          </a:p>
        </p:txBody>
      </p:sp>
      <p:pic>
        <p:nvPicPr>
          <p:cNvPr id="12" name="Picture 11" descr="A screenshot of a computer&#10;&#10;Description automatically generated">
            <a:extLst>
              <a:ext uri="{FF2B5EF4-FFF2-40B4-BE49-F238E27FC236}">
                <a16:creationId xmlns:a16="http://schemas.microsoft.com/office/drawing/2014/main" id="{D02B9B9C-B295-7632-067D-CDA3D603C2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700" y="1936799"/>
            <a:ext cx="2485177" cy="2589816"/>
          </a:xfrm>
          <a:prstGeom prst="rect">
            <a:avLst/>
          </a:prstGeom>
        </p:spPr>
      </p:pic>
      <p:sp>
        <p:nvSpPr>
          <p:cNvPr id="13" name="Circular Arrow 12">
            <a:extLst>
              <a:ext uri="{FF2B5EF4-FFF2-40B4-BE49-F238E27FC236}">
                <a16:creationId xmlns:a16="http://schemas.microsoft.com/office/drawing/2014/main" id="{EA07673A-93CA-6B2B-434F-CDC19B1B075A}"/>
              </a:ext>
            </a:extLst>
          </p:cNvPr>
          <p:cNvSpPr/>
          <p:nvPr/>
        </p:nvSpPr>
        <p:spPr>
          <a:xfrm rot="16554576">
            <a:off x="509354" y="514728"/>
            <a:ext cx="505591" cy="578297"/>
          </a:xfrm>
          <a:prstGeom prst="circular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endParaRPr lang="en-IL" dirty="0">
              <a:solidFill>
                <a:schemeClr val="tx1"/>
              </a:solidFill>
            </a:endParaRPr>
          </a:p>
        </p:txBody>
      </p:sp>
      <p:sp>
        <p:nvSpPr>
          <p:cNvPr id="14" name="Circular Arrow 13">
            <a:extLst>
              <a:ext uri="{FF2B5EF4-FFF2-40B4-BE49-F238E27FC236}">
                <a16:creationId xmlns:a16="http://schemas.microsoft.com/office/drawing/2014/main" id="{DEE77E0B-2C57-F4DB-58E8-9EE31117D574}"/>
              </a:ext>
            </a:extLst>
          </p:cNvPr>
          <p:cNvSpPr/>
          <p:nvPr/>
        </p:nvSpPr>
        <p:spPr>
          <a:xfrm rot="16429395">
            <a:off x="-61040" y="451550"/>
            <a:ext cx="1019099" cy="721067"/>
          </a:xfrm>
          <a:prstGeom prst="circular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R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endParaRPr lang="en-IL" b="1" dirty="0">
              <a:ln/>
              <a:solidFill>
                <a:schemeClr val="accent4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966693-D0D8-9903-094D-FD677522DF0E}"/>
              </a:ext>
            </a:extLst>
          </p:cNvPr>
          <p:cNvSpPr/>
          <p:nvPr/>
        </p:nvSpPr>
        <p:spPr>
          <a:xfrm>
            <a:off x="1545541" y="2457187"/>
            <a:ext cx="1051776" cy="1804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he-IL" dirty="0">
                <a:solidFill>
                  <a:schemeClr val="accent4">
                    <a:lumMod val="75000"/>
                  </a:schemeClr>
                </a:solidFill>
              </a:rPr>
              <a:t>1</a:t>
            </a:r>
            <a:r>
              <a:rPr lang="he-IL" dirty="0"/>
              <a:t> * </a:t>
            </a:r>
            <a:r>
              <a:rPr lang="he-IL" dirty="0">
                <a:solidFill>
                  <a:schemeClr val="accent1">
                    <a:lumMod val="50000"/>
                  </a:schemeClr>
                </a:solidFill>
              </a:rPr>
              <a:t>1</a:t>
            </a:r>
            <a:endParaRPr lang="en-IL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09223BC-50FC-9C96-B8EC-30DFD872D605}"/>
              </a:ext>
            </a:extLst>
          </p:cNvPr>
          <p:cNvSpPr/>
          <p:nvPr/>
        </p:nvSpPr>
        <p:spPr>
          <a:xfrm>
            <a:off x="1545541" y="2730763"/>
            <a:ext cx="1051776" cy="1804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he-IL" dirty="0">
                <a:solidFill>
                  <a:schemeClr val="accent4">
                    <a:lumMod val="75000"/>
                  </a:schemeClr>
                </a:solidFill>
              </a:rPr>
              <a:t>1</a:t>
            </a:r>
            <a:r>
              <a:rPr lang="he-IL" dirty="0"/>
              <a:t> * </a:t>
            </a:r>
            <a:r>
              <a:rPr lang="he-IL" dirty="0">
                <a:solidFill>
                  <a:schemeClr val="accent1">
                    <a:lumMod val="50000"/>
                  </a:schemeClr>
                </a:solidFill>
              </a:rPr>
              <a:t>2</a:t>
            </a:r>
            <a:endParaRPr lang="en-IL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1ECE3B-F69B-6987-95E2-9B05291196B4}"/>
              </a:ext>
            </a:extLst>
          </p:cNvPr>
          <p:cNvSpPr/>
          <p:nvPr/>
        </p:nvSpPr>
        <p:spPr>
          <a:xfrm>
            <a:off x="1554289" y="3007536"/>
            <a:ext cx="1051776" cy="1804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he-IL" dirty="0">
                <a:solidFill>
                  <a:schemeClr val="accent4">
                    <a:lumMod val="75000"/>
                  </a:schemeClr>
                </a:solidFill>
              </a:rPr>
              <a:t>1</a:t>
            </a:r>
            <a:r>
              <a:rPr lang="he-IL" dirty="0"/>
              <a:t> * </a:t>
            </a:r>
            <a:r>
              <a:rPr lang="he-IL" dirty="0">
                <a:solidFill>
                  <a:schemeClr val="accent1">
                    <a:lumMod val="50000"/>
                  </a:schemeClr>
                </a:solidFill>
              </a:rPr>
              <a:t>3</a:t>
            </a:r>
            <a:endParaRPr lang="en-IL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FF47928-5E17-96C6-D6E3-FB35ED8292A8}"/>
              </a:ext>
            </a:extLst>
          </p:cNvPr>
          <p:cNvSpPr/>
          <p:nvPr/>
        </p:nvSpPr>
        <p:spPr>
          <a:xfrm>
            <a:off x="1545541" y="3309861"/>
            <a:ext cx="1051776" cy="1804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he-IL" dirty="0">
                <a:solidFill>
                  <a:schemeClr val="accent4">
                    <a:lumMod val="75000"/>
                  </a:schemeClr>
                </a:solidFill>
              </a:rPr>
              <a:t>1</a:t>
            </a:r>
            <a:r>
              <a:rPr lang="he-IL" dirty="0"/>
              <a:t> * </a:t>
            </a:r>
            <a:r>
              <a:rPr lang="he-IL" dirty="0">
                <a:solidFill>
                  <a:schemeClr val="accent1">
                    <a:lumMod val="50000"/>
                  </a:schemeClr>
                </a:solidFill>
              </a:rPr>
              <a:t>4</a:t>
            </a:r>
            <a:endParaRPr lang="en-IL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8FC6401-58C0-FAED-5CCA-19351634540B}"/>
              </a:ext>
            </a:extLst>
          </p:cNvPr>
          <p:cNvSpPr/>
          <p:nvPr/>
        </p:nvSpPr>
        <p:spPr>
          <a:xfrm>
            <a:off x="1545541" y="3586634"/>
            <a:ext cx="1051776" cy="1804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he-IL" dirty="0">
                <a:solidFill>
                  <a:schemeClr val="accent4">
                    <a:lumMod val="75000"/>
                  </a:schemeClr>
                </a:solidFill>
              </a:rPr>
              <a:t>1</a:t>
            </a:r>
            <a:r>
              <a:rPr lang="he-IL" dirty="0"/>
              <a:t> * </a:t>
            </a:r>
            <a:r>
              <a:rPr lang="he-IL" dirty="0">
                <a:solidFill>
                  <a:schemeClr val="accent1">
                    <a:lumMod val="50000"/>
                  </a:schemeClr>
                </a:solidFill>
              </a:rPr>
              <a:t>5</a:t>
            </a:r>
            <a:endParaRPr lang="en-IL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8AEAE40-47A8-1530-7CBA-BEE3F5B30729}"/>
              </a:ext>
            </a:extLst>
          </p:cNvPr>
          <p:cNvSpPr/>
          <p:nvPr/>
        </p:nvSpPr>
        <p:spPr>
          <a:xfrm>
            <a:off x="1545541" y="3829783"/>
            <a:ext cx="1051776" cy="1804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he-IL" dirty="0">
                <a:solidFill>
                  <a:schemeClr val="accent4">
                    <a:lumMod val="75000"/>
                  </a:schemeClr>
                </a:solidFill>
              </a:rPr>
              <a:t>1</a:t>
            </a:r>
            <a:r>
              <a:rPr lang="he-IL" dirty="0"/>
              <a:t> * </a:t>
            </a:r>
            <a:r>
              <a:rPr lang="he-IL" dirty="0">
                <a:solidFill>
                  <a:schemeClr val="accent1">
                    <a:lumMod val="50000"/>
                  </a:schemeClr>
                </a:solidFill>
              </a:rPr>
              <a:t>6</a:t>
            </a:r>
            <a:endParaRPr lang="en-IL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3A696E5-9D79-C8A1-3248-02202717073E}"/>
              </a:ext>
            </a:extLst>
          </p:cNvPr>
          <p:cNvSpPr/>
          <p:nvPr/>
        </p:nvSpPr>
        <p:spPr>
          <a:xfrm>
            <a:off x="1545541" y="4144974"/>
            <a:ext cx="1051776" cy="1804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he-IL" dirty="0">
                <a:solidFill>
                  <a:schemeClr val="accent4">
                    <a:lumMod val="75000"/>
                  </a:schemeClr>
                </a:solidFill>
              </a:rPr>
              <a:t>1</a:t>
            </a:r>
            <a:r>
              <a:rPr lang="he-IL" dirty="0"/>
              <a:t> * </a:t>
            </a:r>
            <a:r>
              <a:rPr lang="he-IL" dirty="0">
                <a:solidFill>
                  <a:schemeClr val="accent1">
                    <a:lumMod val="50000"/>
                  </a:schemeClr>
                </a:solidFill>
              </a:rPr>
              <a:t>7</a:t>
            </a:r>
            <a:endParaRPr lang="en-IL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24" name="Picture 23" descr="A white line on a white surface&#10;&#10;Description automatically generated">
            <a:extLst>
              <a:ext uri="{FF2B5EF4-FFF2-40B4-BE49-F238E27FC236}">
                <a16:creationId xmlns:a16="http://schemas.microsoft.com/office/drawing/2014/main" id="{33AFF677-5745-1815-848B-74B9D1056E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1795" y="1936799"/>
            <a:ext cx="3725253" cy="2589816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8FDCE9F0-57A0-5917-059B-5012996DF61E}"/>
              </a:ext>
            </a:extLst>
          </p:cNvPr>
          <p:cNvSpPr/>
          <p:nvPr/>
        </p:nvSpPr>
        <p:spPr>
          <a:xfrm>
            <a:off x="3627338" y="2118341"/>
            <a:ext cx="704845" cy="1812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he-IL" dirty="0">
                <a:solidFill>
                  <a:schemeClr val="accent4">
                    <a:lumMod val="75000"/>
                  </a:schemeClr>
                </a:solidFill>
              </a:rPr>
              <a:t>1</a:t>
            </a:r>
            <a:r>
              <a:rPr lang="he-IL" dirty="0"/>
              <a:t> *</a:t>
            </a:r>
            <a:r>
              <a:rPr lang="he-IL" dirty="0">
                <a:solidFill>
                  <a:srgbClr val="002060"/>
                </a:solidFill>
              </a:rPr>
              <a:t>10</a:t>
            </a:r>
            <a:endParaRPr lang="en-IL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E9C7874-EB09-9064-49A0-027CB693FC6D}"/>
              </a:ext>
            </a:extLst>
          </p:cNvPr>
          <p:cNvSpPr/>
          <p:nvPr/>
        </p:nvSpPr>
        <p:spPr>
          <a:xfrm>
            <a:off x="3627338" y="2496124"/>
            <a:ext cx="704845" cy="1812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he-IL" dirty="0">
                <a:solidFill>
                  <a:schemeClr val="accent4">
                    <a:lumMod val="75000"/>
                  </a:schemeClr>
                </a:solidFill>
              </a:rPr>
              <a:t>2</a:t>
            </a:r>
            <a:r>
              <a:rPr lang="he-IL" dirty="0"/>
              <a:t> * </a:t>
            </a:r>
            <a:r>
              <a:rPr lang="he-IL" dirty="0">
                <a:solidFill>
                  <a:schemeClr val="accent1">
                    <a:lumMod val="50000"/>
                  </a:schemeClr>
                </a:solidFill>
              </a:rPr>
              <a:t>1</a:t>
            </a:r>
            <a:endParaRPr lang="en-IL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9C4D70C-FBF5-B7E9-EAD9-6A0915346E29}"/>
              </a:ext>
            </a:extLst>
          </p:cNvPr>
          <p:cNvSpPr/>
          <p:nvPr/>
        </p:nvSpPr>
        <p:spPr>
          <a:xfrm>
            <a:off x="3627338" y="2904865"/>
            <a:ext cx="704845" cy="1812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he-IL" dirty="0">
                <a:solidFill>
                  <a:schemeClr val="accent4">
                    <a:lumMod val="75000"/>
                  </a:schemeClr>
                </a:solidFill>
              </a:rPr>
              <a:t>2</a:t>
            </a:r>
            <a:r>
              <a:rPr lang="he-IL" dirty="0"/>
              <a:t> * </a:t>
            </a:r>
            <a:r>
              <a:rPr lang="he-IL" dirty="0">
                <a:solidFill>
                  <a:schemeClr val="accent1">
                    <a:lumMod val="50000"/>
                  </a:schemeClr>
                </a:solidFill>
              </a:rPr>
              <a:t>2</a:t>
            </a:r>
            <a:endParaRPr lang="en-IL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3539C9E-1B58-E008-6367-8741DC7E469B}"/>
              </a:ext>
            </a:extLst>
          </p:cNvPr>
          <p:cNvSpPr/>
          <p:nvPr/>
        </p:nvSpPr>
        <p:spPr>
          <a:xfrm>
            <a:off x="3627338" y="3320139"/>
            <a:ext cx="704845" cy="1812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he-IL" dirty="0">
                <a:solidFill>
                  <a:schemeClr val="accent4">
                    <a:lumMod val="75000"/>
                  </a:schemeClr>
                </a:solidFill>
              </a:rPr>
              <a:t>2</a:t>
            </a:r>
            <a:r>
              <a:rPr lang="he-IL" dirty="0"/>
              <a:t> * </a:t>
            </a:r>
            <a:r>
              <a:rPr lang="he-IL" dirty="0">
                <a:solidFill>
                  <a:schemeClr val="accent1">
                    <a:lumMod val="50000"/>
                  </a:schemeClr>
                </a:solidFill>
              </a:rPr>
              <a:t>3</a:t>
            </a:r>
            <a:endParaRPr lang="en-IL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A053429-FDA6-FB56-EF88-0C7867C66498}"/>
              </a:ext>
            </a:extLst>
          </p:cNvPr>
          <p:cNvSpPr/>
          <p:nvPr/>
        </p:nvSpPr>
        <p:spPr>
          <a:xfrm>
            <a:off x="3627338" y="3759203"/>
            <a:ext cx="704845" cy="1812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he-IL" dirty="0">
                <a:solidFill>
                  <a:schemeClr val="accent4">
                    <a:lumMod val="75000"/>
                  </a:schemeClr>
                </a:solidFill>
              </a:rPr>
              <a:t>2</a:t>
            </a:r>
            <a:r>
              <a:rPr lang="he-IL" dirty="0"/>
              <a:t> * </a:t>
            </a:r>
            <a:r>
              <a:rPr lang="he-IL" dirty="0">
                <a:solidFill>
                  <a:schemeClr val="accent1">
                    <a:lumMod val="50000"/>
                  </a:schemeClr>
                </a:solidFill>
              </a:rPr>
              <a:t>4</a:t>
            </a:r>
            <a:endParaRPr lang="en-IL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4E6C5E0-BC85-F4FD-AF2A-C7D6C9E6DB4F}"/>
              </a:ext>
            </a:extLst>
          </p:cNvPr>
          <p:cNvSpPr/>
          <p:nvPr/>
        </p:nvSpPr>
        <p:spPr>
          <a:xfrm>
            <a:off x="3627338" y="4144154"/>
            <a:ext cx="704845" cy="1812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he-IL" dirty="0">
                <a:solidFill>
                  <a:schemeClr val="accent4">
                    <a:lumMod val="75000"/>
                  </a:schemeClr>
                </a:solidFill>
              </a:rPr>
              <a:t>2</a:t>
            </a:r>
            <a:r>
              <a:rPr lang="he-IL" dirty="0"/>
              <a:t> * </a:t>
            </a:r>
            <a:r>
              <a:rPr lang="he-IL" dirty="0">
                <a:solidFill>
                  <a:schemeClr val="accent1">
                    <a:lumMod val="50000"/>
                  </a:schemeClr>
                </a:solidFill>
              </a:rPr>
              <a:t>5</a:t>
            </a:r>
            <a:endParaRPr lang="en-IL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1031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BAFD4-F214-BBA4-A821-2834E026C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לולאות מקוננות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3288BD-B9DE-99C5-C26A-B3045A7D7F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לשים לב:</a:t>
            </a:r>
          </a:p>
          <a:p>
            <a:r>
              <a:rPr lang="he-IL" dirty="0"/>
              <a:t>יש שני משתנים – במקרה שלנו </a:t>
            </a:r>
            <a:r>
              <a:rPr lang="he-IL" dirty="0" err="1"/>
              <a:t>x</a:t>
            </a:r>
            <a:r>
              <a:rPr lang="he-IL" dirty="0"/>
              <a:t>, ו-</a:t>
            </a:r>
            <a:r>
              <a:rPr lang="he-IL" dirty="0" err="1"/>
              <a:t>y</a:t>
            </a:r>
            <a:r>
              <a:rPr lang="he-IL" dirty="0"/>
              <a:t>.</a:t>
            </a:r>
          </a:p>
          <a:p>
            <a:r>
              <a:rPr lang="he-IL" dirty="0"/>
              <a:t>הם שונים ויקבלו ערכים נפרדים.</a:t>
            </a:r>
          </a:p>
        </p:txBody>
      </p:sp>
      <p:pic>
        <p:nvPicPr>
          <p:cNvPr id="4" name="Picture 3" descr="A white background with black and green numbers&#10;&#10;Description automatically generated">
            <a:extLst>
              <a:ext uri="{FF2B5EF4-FFF2-40B4-BE49-F238E27FC236}">
                <a16:creationId xmlns:a16="http://schemas.microsoft.com/office/drawing/2014/main" id="{E066513C-7ED4-01C0-4DD1-76BB979CB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3070275"/>
            <a:ext cx="6070600" cy="149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662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AA271-6517-BE26-F96C-6AB713F73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לולאות מקוננות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17F3AF-8F56-EC22-C245-7BACCDF826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he-IL" dirty="0"/>
              <a:t>בכל פעם אני מייצרת את לוח הכפל של ספרה אחרת!</a:t>
            </a:r>
            <a:br>
              <a:rPr lang="en-US" dirty="0"/>
            </a:br>
            <a:r>
              <a:rPr lang="he-IL" dirty="0"/>
              <a:t>1</a:t>
            </a:r>
            <a:br>
              <a:rPr lang="en-US" dirty="0"/>
            </a:br>
            <a:r>
              <a:rPr lang="he-IL" dirty="0"/>
              <a:t>2</a:t>
            </a:r>
            <a:br>
              <a:rPr lang="en-US" dirty="0"/>
            </a:br>
            <a:r>
              <a:rPr lang="he-IL" dirty="0"/>
              <a:t>3</a:t>
            </a:r>
            <a:br>
              <a:rPr lang="en-US" dirty="0"/>
            </a:br>
            <a:r>
              <a:rPr lang="he-IL" dirty="0"/>
              <a:t>4</a:t>
            </a:r>
            <a:br>
              <a:rPr lang="en-US" dirty="0"/>
            </a:br>
            <a:r>
              <a:rPr lang="he-IL" dirty="0"/>
              <a:t>5</a:t>
            </a:r>
            <a:br>
              <a:rPr lang="en-US" dirty="0"/>
            </a:br>
            <a:r>
              <a:rPr lang="he-IL" dirty="0"/>
              <a:t>6</a:t>
            </a:r>
            <a:br>
              <a:rPr lang="en-US" dirty="0"/>
            </a:br>
            <a:r>
              <a:rPr lang="he-IL" dirty="0"/>
              <a:t>7</a:t>
            </a:r>
            <a:br>
              <a:rPr lang="en-US" dirty="0"/>
            </a:br>
            <a:r>
              <a:rPr lang="he-IL" dirty="0"/>
              <a:t>8</a:t>
            </a:r>
            <a:br>
              <a:rPr lang="en-US" dirty="0"/>
            </a:br>
            <a:r>
              <a:rPr lang="he-IL" dirty="0"/>
              <a:t>9</a:t>
            </a:r>
            <a:br>
              <a:rPr lang="en-US" dirty="0"/>
            </a:br>
            <a:r>
              <a:rPr lang="he-IL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98970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FE6C5-E6FA-71B5-DE4D-655A0D357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תרגיל בסיס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D7E262-4035-C53F-A22A-77C74E84D8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מה יהיה הפלט</a:t>
            </a:r>
            <a:br>
              <a:rPr lang="en-US" dirty="0"/>
            </a:br>
            <a:r>
              <a:rPr lang="he-IL" dirty="0"/>
              <a:t>בקטע הקוד הבא?</a:t>
            </a:r>
            <a:endParaRPr lang="en-IL" dirty="0"/>
          </a:p>
        </p:txBody>
      </p:sp>
      <p:pic>
        <p:nvPicPr>
          <p:cNvPr id="4" name="Picture 3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D1DC067F-CDB3-ECFD-F101-C3A3627477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152475"/>
            <a:ext cx="5461000" cy="299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10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60B3A-5FB3-7D82-3CC2-EF04AC859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תרגול בסיסי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0B5DA2-8F67-2DF5-F672-F397AC35EB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ענו על השאלות הבאות:</a:t>
            </a:r>
          </a:p>
          <a:p>
            <a:r>
              <a:rPr lang="he-IL" dirty="0"/>
              <a:t>מה מייצג </a:t>
            </a:r>
            <a:r>
              <a:rPr lang="he-IL" dirty="0" err="1"/>
              <a:t>i</a:t>
            </a:r>
            <a:r>
              <a:rPr lang="he-IL" dirty="0"/>
              <a:t>  בפלט?</a:t>
            </a:r>
          </a:p>
          <a:p>
            <a:r>
              <a:rPr lang="he-IL" dirty="0"/>
              <a:t>מה מייצג </a:t>
            </a:r>
            <a:r>
              <a:rPr lang="he-IL" dirty="0" err="1"/>
              <a:t>j</a:t>
            </a:r>
            <a:r>
              <a:rPr lang="he-IL" dirty="0"/>
              <a:t> בפלט?</a:t>
            </a:r>
          </a:p>
          <a:p>
            <a:r>
              <a:rPr lang="he-IL" dirty="0"/>
              <a:t>מה יקרה אם </a:t>
            </a:r>
            <a:r>
              <a:rPr lang="he-IL" dirty="0" err="1"/>
              <a:t>j</a:t>
            </a:r>
            <a:r>
              <a:rPr lang="he-IL" dirty="0"/>
              <a:t>  ירוץ עד 20 ו-</a:t>
            </a:r>
            <a:r>
              <a:rPr lang="he-IL" dirty="0" err="1"/>
              <a:t>i</a:t>
            </a:r>
            <a:r>
              <a:rPr lang="he-IL" dirty="0"/>
              <a:t>  נשאר כמו שהוא?</a:t>
            </a:r>
          </a:p>
          <a:p>
            <a:r>
              <a:rPr lang="he-IL" dirty="0"/>
              <a:t>מה יקרה אם </a:t>
            </a:r>
            <a:r>
              <a:rPr lang="he-IL" dirty="0" err="1"/>
              <a:t>i</a:t>
            </a:r>
            <a:r>
              <a:rPr lang="he-IL" dirty="0"/>
              <a:t> ירוץ עד 15 ו-</a:t>
            </a:r>
            <a:r>
              <a:rPr lang="he-IL" dirty="0" err="1"/>
              <a:t>j</a:t>
            </a:r>
            <a:r>
              <a:rPr lang="he-IL" dirty="0"/>
              <a:t> נשאר כמו שהוא?</a:t>
            </a:r>
          </a:p>
          <a:p>
            <a:endParaRPr lang="en-IL" dirty="0"/>
          </a:p>
        </p:txBody>
      </p:sp>
      <p:pic>
        <p:nvPicPr>
          <p:cNvPr id="4" name="Picture 3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A54954AD-A613-4182-85AF-8132B12C54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2656359"/>
            <a:ext cx="3720804" cy="2042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152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BAB77-4283-3CE6-EC21-015E7A2EE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שנו את הקוד כך ש: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7C2E1E-DBEA-66CC-0111-8CFB7799FE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b="0" i="0" dirty="0">
                <a:solidFill>
                  <a:srgbClr val="000000"/>
                </a:solidFill>
                <a:effectLst/>
                <a:latin typeface="-apple-system"/>
              </a:rPr>
              <a:t>שנו את התוכנית כך שבמקום להדפיס את המספרים עד 10 היא תקבל מהמשתמש מספר ותדפיס את המספרים עד לאותו מספר.</a:t>
            </a:r>
          </a:p>
          <a:p>
            <a:r>
              <a:rPr lang="he-IL" b="0" i="0" dirty="0">
                <a:solidFill>
                  <a:srgbClr val="000000"/>
                </a:solidFill>
                <a:effectLst/>
                <a:latin typeface="-apple-system"/>
              </a:rPr>
              <a:t>תוסיפו</a:t>
            </a:r>
            <a:r>
              <a:rPr lang="he-IL" dirty="0">
                <a:solidFill>
                  <a:srgbClr val="000000"/>
                </a:solidFill>
                <a:latin typeface="-apple-system"/>
              </a:rPr>
              <a:t> בשורה 5 </a:t>
            </a:r>
            <a:r>
              <a:rPr lang="he-IL" dirty="0" err="1">
                <a:solidFill>
                  <a:srgbClr val="000000"/>
                </a:solidFill>
                <a:latin typeface="-apple-system"/>
              </a:rPr>
              <a:t>סטרינג</a:t>
            </a:r>
            <a:r>
              <a:rPr lang="he-IL" dirty="0">
                <a:solidFill>
                  <a:srgbClr val="000000"/>
                </a:solidFill>
                <a:latin typeface="-apple-system"/>
              </a:rPr>
              <a:t> ככה שאחרי שנריץ נרד שורה לאחר הדפסת כל מספר</a:t>
            </a:r>
            <a:endParaRPr lang="he-IL" b="0" i="0" dirty="0">
              <a:solidFill>
                <a:srgbClr val="000000"/>
              </a:solidFill>
              <a:effectLst/>
              <a:latin typeface="-apple-system"/>
            </a:endParaRPr>
          </a:p>
          <a:p>
            <a:endParaRPr lang="en-IL" dirty="0"/>
          </a:p>
        </p:txBody>
      </p:sp>
      <p:pic>
        <p:nvPicPr>
          <p:cNvPr id="4" name="Picture 3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25B1988E-4B6A-AA5D-A521-FF94FE30A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716" y="2514212"/>
            <a:ext cx="4790652" cy="2629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282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DDDB1-9D6E-CC3D-2327-7B9D2709B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תרגול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9458AA-3988-946F-C0DC-9B11C02168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תצרו לולאה שתיצור לכם פסקה</a:t>
            </a:r>
          </a:p>
          <a:p>
            <a:r>
              <a:rPr lang="he-IL" dirty="0"/>
              <a:t>בפסקה תעברו בלולאה על כל המספרים מ-1 עד 10 ותוסיפו את כל המספרים לפסקה </a:t>
            </a:r>
            <a:r>
              <a:rPr lang="he-IL" dirty="0" err="1"/>
              <a:t>כסטרינג</a:t>
            </a:r>
            <a:endParaRPr lang="he-IL" dirty="0"/>
          </a:p>
          <a:p>
            <a:r>
              <a:rPr lang="he-IL" dirty="0"/>
              <a:t>לאחר הדפסת המספר 10 הוסיפו קו מדגיש</a:t>
            </a:r>
          </a:p>
          <a:p>
            <a:r>
              <a:rPr lang="he-IL" dirty="0"/>
              <a:t>סגרו את הפסקה</a:t>
            </a:r>
          </a:p>
          <a:p>
            <a:r>
              <a:rPr lang="he-IL" dirty="0"/>
              <a:t>הדפיסו 5 </a:t>
            </a:r>
            <a:r>
              <a:rPr lang="he-IL"/>
              <a:t>פסקות כאלה </a:t>
            </a:r>
            <a:endParaRPr lang="he-IL" dirty="0"/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420907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58A04-D95E-18E1-4118-A9A415550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תרגול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F07977-37E1-E58D-A5E3-B9D2469090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he-IL" b="0" i="0" dirty="0">
                <a:solidFill>
                  <a:srgbClr val="000000"/>
                </a:solidFill>
                <a:effectLst/>
                <a:latin typeface="-apple-system"/>
              </a:rPr>
              <a:t>כתבו תוכנית שמדפיסה את הפלט הבא:</a:t>
            </a:r>
            <a:br>
              <a:rPr lang="he-IL" b="0" i="0" dirty="0">
                <a:solidFill>
                  <a:srgbClr val="000000"/>
                </a:solidFill>
                <a:effectLst/>
                <a:latin typeface="-apple-system"/>
              </a:rPr>
            </a:br>
            <a:r>
              <a:rPr lang="he-IL" b="0" i="0" dirty="0">
                <a:solidFill>
                  <a:srgbClr val="000000"/>
                </a:solidFill>
                <a:effectLst/>
                <a:latin typeface="-apple-system"/>
              </a:rPr>
              <a:t>1</a:t>
            </a:r>
            <a:br>
              <a:rPr lang="he-IL" b="0" i="0" dirty="0">
                <a:solidFill>
                  <a:srgbClr val="000000"/>
                </a:solidFill>
                <a:effectLst/>
                <a:latin typeface="-apple-system"/>
              </a:rPr>
            </a:br>
            <a:r>
              <a:rPr lang="he-IL" b="0" i="0" dirty="0">
                <a:solidFill>
                  <a:srgbClr val="000000"/>
                </a:solidFill>
                <a:effectLst/>
                <a:latin typeface="-apple-system"/>
              </a:rPr>
              <a:t>22</a:t>
            </a:r>
            <a:br>
              <a:rPr lang="he-IL" b="0" i="0" dirty="0">
                <a:solidFill>
                  <a:srgbClr val="000000"/>
                </a:solidFill>
                <a:effectLst/>
                <a:latin typeface="-apple-system"/>
              </a:rPr>
            </a:br>
            <a:r>
              <a:rPr lang="he-IL" b="0" i="0" dirty="0">
                <a:solidFill>
                  <a:srgbClr val="000000"/>
                </a:solidFill>
                <a:effectLst/>
                <a:latin typeface="-apple-system"/>
              </a:rPr>
              <a:t>333</a:t>
            </a:r>
            <a:br>
              <a:rPr lang="he-IL" b="0" i="0" dirty="0">
                <a:solidFill>
                  <a:srgbClr val="000000"/>
                </a:solidFill>
                <a:effectLst/>
                <a:latin typeface="-apple-system"/>
              </a:rPr>
            </a:br>
            <a:r>
              <a:rPr lang="he-IL" b="0" i="0" dirty="0">
                <a:solidFill>
                  <a:srgbClr val="000000"/>
                </a:solidFill>
                <a:effectLst/>
                <a:latin typeface="-apple-system"/>
              </a:rPr>
              <a:t>4444</a:t>
            </a:r>
            <a:br>
              <a:rPr lang="he-IL" b="0" i="0" dirty="0">
                <a:solidFill>
                  <a:srgbClr val="000000"/>
                </a:solidFill>
                <a:effectLst/>
                <a:latin typeface="-apple-system"/>
              </a:rPr>
            </a:br>
            <a:r>
              <a:rPr lang="he-IL" b="0" i="0" dirty="0">
                <a:solidFill>
                  <a:srgbClr val="000000"/>
                </a:solidFill>
                <a:effectLst/>
                <a:latin typeface="-apple-system"/>
              </a:rPr>
              <a:t>55555</a:t>
            </a:r>
            <a:br>
              <a:rPr lang="he-IL" b="0" i="0" dirty="0">
                <a:solidFill>
                  <a:srgbClr val="000000"/>
                </a:solidFill>
                <a:effectLst/>
                <a:latin typeface="-apple-system"/>
              </a:rPr>
            </a:br>
            <a:r>
              <a:rPr lang="he-IL" b="0" i="0" dirty="0">
                <a:solidFill>
                  <a:srgbClr val="000000"/>
                </a:solidFill>
                <a:effectLst/>
                <a:latin typeface="-apple-system"/>
              </a:rPr>
              <a:t>וכן הלאה... עד 9</a:t>
            </a:r>
          </a:p>
          <a:p>
            <a:endParaRPr lang="he-IL" dirty="0">
              <a:solidFill>
                <a:srgbClr val="000000"/>
              </a:solidFill>
              <a:latin typeface="-apple-system"/>
            </a:endParaRPr>
          </a:p>
          <a:p>
            <a:r>
              <a:rPr lang="he-IL" b="0" i="0" dirty="0">
                <a:solidFill>
                  <a:srgbClr val="000000"/>
                </a:solidFill>
                <a:effectLst/>
                <a:latin typeface="-apple-system"/>
              </a:rPr>
              <a:t>הנחיה – תיצרו </a:t>
            </a:r>
            <a:r>
              <a:rPr lang="he-IL" b="0" i="0" dirty="0" err="1">
                <a:solidFill>
                  <a:srgbClr val="000000"/>
                </a:solidFill>
                <a:effectLst/>
                <a:latin typeface="-apple-system"/>
              </a:rPr>
              <a:t>סט</a:t>
            </a:r>
            <a:r>
              <a:rPr lang="he-IL" dirty="0" err="1">
                <a:solidFill>
                  <a:srgbClr val="000000"/>
                </a:solidFill>
                <a:latin typeface="-apple-system"/>
              </a:rPr>
              <a:t>רינג</a:t>
            </a:r>
            <a:r>
              <a:rPr lang="he-IL" dirty="0">
                <a:solidFill>
                  <a:srgbClr val="000000"/>
                </a:solidFill>
                <a:latin typeface="-apple-system"/>
              </a:rPr>
              <a:t> ריק, בכל לולאה פנימית תוסיפו לו את המספר </a:t>
            </a:r>
          </a:p>
          <a:p>
            <a:r>
              <a:rPr lang="he-IL" dirty="0">
                <a:solidFill>
                  <a:srgbClr val="000000"/>
                </a:solidFill>
                <a:latin typeface="-apple-system"/>
              </a:rPr>
              <a:t>בסיום הלולאה הפנימית הדפיסו את </a:t>
            </a:r>
            <a:r>
              <a:rPr lang="he-IL" dirty="0" err="1">
                <a:solidFill>
                  <a:srgbClr val="000000"/>
                </a:solidFill>
                <a:latin typeface="-apple-system"/>
              </a:rPr>
              <a:t>הסטרינג</a:t>
            </a:r>
            <a:r>
              <a:rPr lang="he-IL" dirty="0">
                <a:solidFill>
                  <a:srgbClr val="000000"/>
                </a:solidFill>
                <a:latin typeface="-apple-system"/>
              </a:rPr>
              <a:t> שיצרתם</a:t>
            </a:r>
          </a:p>
          <a:p>
            <a:r>
              <a:rPr lang="he-IL" b="0" i="0" dirty="0">
                <a:solidFill>
                  <a:srgbClr val="000000"/>
                </a:solidFill>
                <a:effectLst/>
                <a:latin typeface="-apple-system"/>
              </a:rPr>
              <a:t>נסו לחשוב, כמה פעמים תירצו שהלולאה הפנימית תרוץ?</a:t>
            </a:r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6805197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D0412-618E-EEF7-E660-864E85205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פתרון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3BA772-4DAE-3DF3-AFAA-62FB60C640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DBD2EC67-9B6C-3A23-3BFF-4500729A64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744" y="1170596"/>
            <a:ext cx="6019800" cy="293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5196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F303A-D0A9-C720-D792-750A11CC2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תרגיל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8EE18F-9279-B5D1-4DEA-EFCACF613D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he-IL" dirty="0"/>
              <a:t>ציור מרובע:</a:t>
            </a:r>
          </a:p>
          <a:p>
            <a:r>
              <a:rPr lang="he-IL" dirty="0"/>
              <a:t>עברו על אורך הצלע, ועל רוחב הצלע. עבור כל נקודה באורך וברוחב הריבוע הדפיסו ׳*׳</a:t>
            </a:r>
          </a:p>
          <a:p>
            <a:r>
              <a:rPr lang="he-IL" dirty="0"/>
              <a:t>למשל, אם המרובע הוא 4 על 4, הקוד ידפיס:</a:t>
            </a:r>
            <a:br>
              <a:rPr lang="en-US" dirty="0"/>
            </a:br>
            <a:r>
              <a:rPr lang="he-IL" dirty="0"/>
              <a:t>****</a:t>
            </a:r>
            <a:br>
              <a:rPr lang="en-US" dirty="0"/>
            </a:br>
            <a:r>
              <a:rPr lang="he-IL" dirty="0"/>
              <a:t>****</a:t>
            </a:r>
            <a:br>
              <a:rPr lang="en-US" dirty="0"/>
            </a:br>
            <a:r>
              <a:rPr lang="he-IL" dirty="0"/>
              <a:t>****</a:t>
            </a:r>
          </a:p>
          <a:p>
            <a:endParaRPr lang="he-IL" dirty="0"/>
          </a:p>
          <a:p>
            <a:endParaRPr lang="he-IL" dirty="0"/>
          </a:p>
          <a:p>
            <a:endParaRPr lang="he-IL" dirty="0"/>
          </a:p>
          <a:p>
            <a:pPr marL="114300" indent="0">
              <a:buNone/>
            </a:pPr>
            <a:endParaRPr lang="he-IL" dirty="0"/>
          </a:p>
          <a:p>
            <a:pPr marL="114300" indent="0">
              <a:buNone/>
            </a:pPr>
            <a:endParaRPr lang="he-IL" dirty="0"/>
          </a:p>
          <a:p>
            <a:pPr marL="114300" indent="0">
              <a:buNone/>
            </a:pPr>
            <a:r>
              <a:rPr lang="he-IL" dirty="0"/>
              <a:t>הנחיה :תיצרו </a:t>
            </a:r>
            <a:r>
              <a:rPr lang="he-IL" dirty="0" err="1"/>
              <a:t>סטרינג</a:t>
            </a:r>
            <a:r>
              <a:rPr lang="he-IL" dirty="0"/>
              <a:t> ריק, הוסיפו לו ׳*׳, ובסיום הלולאה הפנימית הדפיסו את </a:t>
            </a:r>
            <a:r>
              <a:rPr lang="he-IL" dirty="0" err="1"/>
              <a:t>הסטרינג</a:t>
            </a:r>
            <a:endParaRPr lang="he-IL" dirty="0"/>
          </a:p>
          <a:p>
            <a:pPr marL="114300" indent="0">
              <a:buNone/>
            </a:pPr>
            <a:r>
              <a:rPr lang="he-IL" dirty="0"/>
              <a:t>למתקדמים – תנו למשתמש לבחור את אורך הצלע ורוחב הצלע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8388078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4C797-A0C1-066A-4134-168E2443F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פתרון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E64382-43C7-CBE8-7E4C-9A293437F8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0C4F656A-E1D1-3136-B5F4-4DB19C7B24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100" y="1104900"/>
            <a:ext cx="6019800" cy="293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609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64F6F-073A-7A9B-C0C5-261116805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תרגיל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137BCD-91C1-FDB1-4651-B3EFFA8A34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e-IL" dirty="0"/>
              <a:t>באצטדיון טדי יש 5 שורות ובכל שורה 20 כיסאות. </a:t>
            </a:r>
          </a:p>
          <a:p>
            <a:r>
              <a:rPr lang="he-IL" dirty="0"/>
              <a:t>כתבו קוד שמדפיס את מספר השורה ואת מספר הכיסא</a:t>
            </a:r>
          </a:p>
          <a:p>
            <a:r>
              <a:rPr lang="he-IL" dirty="0"/>
              <a:t>למשל, בשורה 1 ובכיסא 11 הקוד ידפיס:</a:t>
            </a:r>
          </a:p>
          <a:p>
            <a:r>
              <a:rPr lang="he-IL" dirty="0"/>
              <a:t>1,11</a:t>
            </a:r>
          </a:p>
          <a:p>
            <a:endParaRPr lang="he-IL" dirty="0"/>
          </a:p>
          <a:p>
            <a:endParaRPr lang="he-IL" dirty="0"/>
          </a:p>
          <a:p>
            <a:pPr marL="114300" indent="0">
              <a:buNone/>
            </a:pPr>
            <a:endParaRPr lang="he-IL" dirty="0"/>
          </a:p>
          <a:p>
            <a:r>
              <a:rPr lang="he-IL" dirty="0"/>
              <a:t>הנחיה – עברו ב-2 לולאות. לולאה 1 על השורות ולולאה שניה על הכיסאות</a:t>
            </a:r>
          </a:p>
          <a:p>
            <a:r>
              <a:rPr lang="he-IL" dirty="0"/>
              <a:t>למתקדמים – אם מספר הכיסא מתחלק ב-5, המשתמש זכה בכרטיס למשחק! תדפיסו לו את המשפט: ׳זכית בכרטיס למשחק בכיסא __ ובשורה __׳</a:t>
            </a:r>
          </a:p>
        </p:txBody>
      </p:sp>
    </p:spTree>
    <p:extLst>
      <p:ext uri="{BB962C8B-B14F-4D97-AF65-F5344CB8AC3E}">
        <p14:creationId xmlns:p14="http://schemas.microsoft.com/office/powerpoint/2010/main" val="28317132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88312-4033-252E-A1D8-E8842D738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פתרון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5102E8-1058-055B-A611-E3CA10E811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5" name="Picture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4B5A5531-E806-D6C9-6531-DCD337CEA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100" y="1104900"/>
            <a:ext cx="6019800" cy="293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042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25FE2-0B19-6BFD-E2A6-B48D8701E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תרגיל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8A687E-CD02-3CCF-559B-F9616FE76A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בארץ "לה-לה-לנד" יש 5 בתי חולים, השמות שלהם לפי צבעים:</a:t>
            </a:r>
            <a:br>
              <a:rPr lang="en-US" dirty="0"/>
            </a:br>
            <a:r>
              <a:rPr lang="he-IL" dirty="0"/>
              <a:t>אדום, ירוק, חום, צהוב ושחור</a:t>
            </a:r>
          </a:p>
          <a:p>
            <a:r>
              <a:rPr lang="he-IL" dirty="0"/>
              <a:t>בכל בית חולים יש 5 מחלקות: עור, פנימית, לב, שיקום וילדים.</a:t>
            </a:r>
          </a:p>
          <a:p>
            <a:r>
              <a:rPr lang="he-IL" dirty="0"/>
              <a:t>תכתבו קוד שמדפיס את שם המחלה ולצידה את בית החולים שהיא נמצאת בו</a:t>
            </a:r>
          </a:p>
          <a:p>
            <a:pPr marL="114300" indent="0">
              <a:buNone/>
            </a:pPr>
            <a:r>
              <a:rPr lang="he-IL" dirty="0"/>
              <a:t>למשל, אם במחלקת עור בבית חולים שחור תדפיסו:</a:t>
            </a:r>
            <a:br>
              <a:rPr lang="en-US" dirty="0"/>
            </a:br>
            <a:r>
              <a:rPr lang="he-IL" dirty="0"/>
              <a:t>שחור, עור</a:t>
            </a:r>
          </a:p>
          <a:p>
            <a:pPr marL="114300" indent="0">
              <a:buNone/>
            </a:pPr>
            <a:endParaRPr lang="he-IL" dirty="0"/>
          </a:p>
          <a:p>
            <a:pPr marL="114300" indent="0">
              <a:buNone/>
            </a:pPr>
            <a:endParaRPr lang="he-IL" dirty="0"/>
          </a:p>
          <a:p>
            <a:pPr marL="114300" indent="0">
              <a:buNone/>
            </a:pPr>
            <a:endParaRPr lang="he-IL" dirty="0"/>
          </a:p>
          <a:p>
            <a:pPr marL="114300" indent="0">
              <a:buNone/>
            </a:pPr>
            <a:r>
              <a:rPr lang="he-IL" dirty="0"/>
              <a:t>הנחיה – עברו בלולאה אחת על מספר החלקות ובלולאה אחת על המחלקות בבית חולים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9355291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7B4EA-3A2E-AE31-6232-FDA376F12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/>
              <a:t>פתרון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89580B-D9BF-BD83-0F8E-6BF0DD49C2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5" name="Picture 4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F7C19236-4676-1C14-10B6-110E777EE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750" y="1152475"/>
            <a:ext cx="6032500" cy="306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78821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11140</TotalTime>
  <Words>604</Words>
  <Application>Microsoft Macintosh PowerPoint</Application>
  <PresentationFormat>On-screen Show (16:9)</PresentationFormat>
  <Paragraphs>90</Paragraphs>
  <Slides>18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Calibri</vt:lpstr>
      <vt:lpstr>Arial</vt:lpstr>
      <vt:lpstr>-apple-system</vt:lpstr>
      <vt:lpstr>Simple Light</vt:lpstr>
      <vt:lpstr>PowerPoint Presentation</vt:lpstr>
      <vt:lpstr>לולאות מקוננות</vt:lpstr>
      <vt:lpstr>לולאות מקוננות</vt:lpstr>
      <vt:lpstr>לולאות מקוננות</vt:lpstr>
      <vt:lpstr>לולאות מקוננות</vt:lpstr>
      <vt:lpstr>לולאות מקוננות</vt:lpstr>
      <vt:lpstr>תרגיל בסיס</vt:lpstr>
      <vt:lpstr>תרגול בסיסי</vt:lpstr>
      <vt:lpstr>שנו את הקוד כך ש:</vt:lpstr>
      <vt:lpstr>תרגול</vt:lpstr>
      <vt:lpstr>תרגול</vt:lpstr>
      <vt:lpstr>פתרון</vt:lpstr>
      <vt:lpstr>תרגיל</vt:lpstr>
      <vt:lpstr>פתרון</vt:lpstr>
      <vt:lpstr>תרגיל</vt:lpstr>
      <vt:lpstr>פתרון</vt:lpstr>
      <vt:lpstr>תרגיל</vt:lpstr>
      <vt:lpstr>פתרון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Maya Majlaton</dc:creator>
  <cp:lastModifiedBy>Ziv זיו יוסף</cp:lastModifiedBy>
  <cp:revision>33</cp:revision>
  <dcterms:modified xsi:type="dcterms:W3CDTF">2024-04-09T15:18:10Z</dcterms:modified>
</cp:coreProperties>
</file>