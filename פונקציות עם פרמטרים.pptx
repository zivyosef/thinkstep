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63" r:id="rId3"/>
    <p:sldId id="264" r:id="rId4"/>
    <p:sldId id="258" r:id="rId5"/>
    <p:sldId id="265" r:id="rId6"/>
    <p:sldId id="266" r:id="rId7"/>
    <p:sldId id="267" r:id="rId8"/>
    <p:sldId id="268" r:id="rId9"/>
    <p:sldId id="270" r:id="rId10"/>
    <p:sldId id="276" r:id="rId11"/>
    <p:sldId id="277" r:id="rId12"/>
    <p:sldId id="271" r:id="rId13"/>
    <p:sldId id="279" r:id="rId14"/>
    <p:sldId id="274" r:id="rId15"/>
    <p:sldId id="280" r:id="rId16"/>
    <p:sldId id="272" r:id="rId17"/>
    <p:sldId id="281" r:id="rId18"/>
    <p:sldId id="273" r:id="rId19"/>
    <p:sldId id="282" r:id="rId20"/>
    <p:sldId id="278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590"/>
  </p:normalViewPr>
  <p:slideViewPr>
    <p:cSldViewPr snapToGrid="0">
      <p:cViewPr varScale="1">
        <p:scale>
          <a:sx n="141" d="100"/>
          <a:sy n="141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בעצם אם יש לנו משתנה שחוזר תמיד בפונקציה ואנחנו מאוד משתמשים בו, אפשר להפוך אותו לפרמטר שהפונקציה מקבלת ואז היא מגדירה אותו בשבילנו.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44930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he-IL" dirty="0"/>
              <a:t>בשאלות בעתיד לא יגידו להם איזה משתנה לקבל, אלא רק מה לקבל. תרגול של </a:t>
            </a:r>
            <a:r>
              <a:rPr lang="he-IL" dirty="0" err="1"/>
              <a:t>הקוסנפט</a:t>
            </a:r>
            <a:endParaRPr lang="en-IL" dirty="0"/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52878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בשאלות בעתיד לא יגידו להם איזה משתנה לקבל, אלא רק מה לקבל. תרגול של </a:t>
            </a:r>
            <a:r>
              <a:rPr lang="he-IL" dirty="0" err="1"/>
              <a:t>הקוסנפט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24786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חשוב להדגיש פה את העניין של משתנה מקומי לפונקציה ומשתנה שבחוץ, המחשב קורא לפי הסדר ולכן הוא יודע על קיומו של </a:t>
            </a:r>
            <a:r>
              <a:rPr lang="he-IL" dirty="0" err="1"/>
              <a:t>x</a:t>
            </a:r>
            <a:r>
              <a:rPr lang="he-IL" dirty="0"/>
              <a:t>.</a:t>
            </a:r>
            <a:br>
              <a:rPr lang="en-US" dirty="0"/>
            </a:br>
            <a:r>
              <a:rPr lang="he-IL" dirty="0"/>
              <a:t>ועדיין, הפונקציה משנה את </a:t>
            </a:r>
            <a:r>
              <a:rPr lang="he-IL" dirty="0" err="1"/>
              <a:t>num</a:t>
            </a:r>
            <a:r>
              <a:rPr lang="he-IL" dirty="0"/>
              <a:t> לא את </a:t>
            </a:r>
            <a:r>
              <a:rPr lang="he-IL" dirty="0" err="1"/>
              <a:t>x</a:t>
            </a:r>
            <a:r>
              <a:rPr lang="he-IL" dirty="0"/>
              <a:t>! ולכן אם נקרא ל-</a:t>
            </a:r>
            <a:r>
              <a:rPr lang="he-IL" dirty="0" err="1"/>
              <a:t>x</a:t>
            </a:r>
            <a:r>
              <a:rPr lang="he-IL" dirty="0"/>
              <a:t> הוא עדיין יהיה שווה ל-5. אנחנו יכולים לקרוא למשתנים מבחוץ ולהשתמש בהם אבל צריך לשים לב שמה שנעשה יקרה רק בפונקציה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68058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DCC-9EF6-DD6A-A615-5F5D2B1B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AF662-F654-28D5-0E07-6ADE7EAC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F63F5-0125-8E66-51CC-6DF97B5EB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מחוץ לפונקציה = להגדיר משתנה בחוץ ששווה ל-3, כשקוראים לפונקציה לקרוא לה עם המשתנה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20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14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פונקציות</a:t>
            </a:r>
          </a:p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עם פרמטרים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AE8D-CFA6-29AC-05A3-3EA13A56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</a:t>
            </a:r>
            <a:br>
              <a:rPr lang="he-IL" dirty="0"/>
            </a:b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7AA20-2AD8-D80C-3D43-E5C771D3E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פונקציות בלי פרמטרים</a:t>
            </a:r>
          </a:p>
          <a:p>
            <a:r>
              <a:rPr lang="he-IL" dirty="0"/>
              <a:t>פונקציות עם פרמטרים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3088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AE8D-CFA6-29AC-05A3-3EA13A56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</a:t>
            </a:r>
            <a:br>
              <a:rPr lang="he-IL" dirty="0"/>
            </a:b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7AA20-2AD8-D80C-3D43-E5C771D3E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פונקציות בלי פרמטרים</a:t>
            </a:r>
          </a:p>
          <a:p>
            <a:r>
              <a:rPr lang="he-IL" dirty="0">
                <a:solidFill>
                  <a:srgbClr val="FF0000"/>
                </a:solidFill>
              </a:rPr>
              <a:t>פונקציות עם פרמטרים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73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פונקציה עם פרמטרים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נסתכל על הפונקציה הזו מהשיעור הקודם</a:t>
            </a:r>
          </a:p>
          <a:p>
            <a:r>
              <a:rPr lang="he-IL" dirty="0"/>
              <a:t>תמיד נתחיל את הסכום עם </a:t>
            </a:r>
            <a:r>
              <a:rPr lang="he-IL" dirty="0" err="1"/>
              <a:t>sum</a:t>
            </a:r>
            <a:endParaRPr lang="he-IL" dirty="0"/>
          </a:p>
          <a:p>
            <a:r>
              <a:rPr lang="he-IL" dirty="0"/>
              <a:t>יש דרך שהפונקציה תדע </a:t>
            </a:r>
            <a:br>
              <a:rPr lang="en-US" dirty="0"/>
            </a:br>
            <a:r>
              <a:rPr lang="he-IL" dirty="0"/>
              <a:t>שהיא תמיד מתחילה עם </a:t>
            </a:r>
            <a:r>
              <a:rPr lang="he-IL" dirty="0" err="1"/>
              <a:t>sum</a:t>
            </a:r>
            <a:r>
              <a:rPr lang="he-IL" dirty="0"/>
              <a:t>!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DB6193B-1DEE-E2AA-11B1-5A15B80F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15" y="1301436"/>
            <a:ext cx="3886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19F2-0C4B-8579-D73E-41C16B91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פונקציות עם פרמטרים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F7F1-2151-0E01-1B7A-D57A394EB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השתנה?</a:t>
            </a:r>
          </a:p>
          <a:p>
            <a:r>
              <a:rPr lang="he-IL" dirty="0"/>
              <a:t>איך המחשב יודע ש-</a:t>
            </a:r>
            <a:r>
              <a:rPr lang="he-IL" dirty="0" err="1"/>
              <a:t>sum</a:t>
            </a:r>
            <a:r>
              <a:rPr lang="he-IL" dirty="0"/>
              <a:t> = 0?</a:t>
            </a:r>
          </a:p>
          <a:p>
            <a:r>
              <a:rPr lang="he-IL" dirty="0"/>
              <a:t>מה קורה אם תקראו</a:t>
            </a:r>
            <a:br>
              <a:rPr lang="en-US" dirty="0"/>
            </a:br>
            <a:r>
              <a:rPr lang="he-IL" dirty="0"/>
              <a:t>לפונקציה עם מספר אחר מ-0?</a:t>
            </a:r>
          </a:p>
        </p:txBody>
      </p:sp>
      <p:pic>
        <p:nvPicPr>
          <p:cNvPr id="7" name="Picture 6" descr="A computer code with numbers and symbols&#10;&#10;Description automatically generated">
            <a:extLst>
              <a:ext uri="{FF2B5EF4-FFF2-40B4-BE49-F238E27FC236}">
                <a16:creationId xmlns:a16="http://schemas.microsoft.com/office/drawing/2014/main" id="{A113DF74-9991-A026-E4BF-35D02BAE0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43053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4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62A0-0A60-6CF1-72DF-F36C8810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פרמטרים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456E9-0419-FDD6-F7FF-43BB45103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הפונקציה מגדירה בשבילנו את המשתנה שבסוגרים!</a:t>
            </a:r>
          </a:p>
          <a:p>
            <a:r>
              <a:rPr lang="he-IL" dirty="0"/>
              <a:t>נרצה לעשות את זה עבור משתנים שתמיד יהיו בפונקציה</a:t>
            </a:r>
          </a:p>
          <a:p>
            <a:r>
              <a:rPr lang="he-IL" dirty="0"/>
              <a:t>נרצה לעשות את זה במיוחד עבור משתנים שנשנה את הערך שלהם הרבה פעמים</a:t>
            </a:r>
            <a:endParaRPr lang="en-IL" dirty="0"/>
          </a:p>
        </p:txBody>
      </p:sp>
      <p:pic>
        <p:nvPicPr>
          <p:cNvPr id="4" name="Picture 3" descr="A computer code with numbers and symbols&#10;&#10;Description automatically generated">
            <a:extLst>
              <a:ext uri="{FF2B5EF4-FFF2-40B4-BE49-F238E27FC236}">
                <a16:creationId xmlns:a16="http://schemas.microsoft.com/office/drawing/2014/main" id="{134DA756-9791-8151-6B57-59F5CA32FC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640"/>
          <a:stretch/>
        </p:blipFill>
        <p:spPr>
          <a:xfrm>
            <a:off x="311700" y="574625"/>
            <a:ext cx="4288359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7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61C6-256D-8DD0-C417-E1221AA6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מבנה פונקציה עם פרמטרים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2A8D7-2E81-AA24-251E-4FB984EEE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מי הפרמטרים בתמונה?</a:t>
            </a:r>
          </a:p>
          <a:p>
            <a:r>
              <a:rPr lang="he-IL" dirty="0"/>
              <a:t>שימו לב:</a:t>
            </a:r>
          </a:p>
          <a:p>
            <a:endParaRPr lang="he-IL" dirty="0"/>
          </a:p>
          <a:p>
            <a:r>
              <a:rPr lang="he-IL" dirty="0"/>
              <a:t>יכול להיות מספר בלתי </a:t>
            </a:r>
            <a:br>
              <a:rPr lang="en-US" dirty="0"/>
            </a:br>
            <a:r>
              <a:rPr lang="he-IL" dirty="0"/>
              <a:t>מוגבל של פרמטרים</a:t>
            </a:r>
          </a:p>
          <a:p>
            <a:r>
              <a:rPr lang="he-IL" dirty="0"/>
              <a:t>פרמטר הוא משתנה</a:t>
            </a:r>
            <a:br>
              <a:rPr lang="en-US" dirty="0"/>
            </a:br>
            <a:r>
              <a:rPr lang="he-IL" dirty="0"/>
              <a:t>שהפונקציה מגדירה בשבילי</a:t>
            </a:r>
          </a:p>
          <a:p>
            <a:r>
              <a:rPr lang="he-IL" dirty="0"/>
              <a:t>אתם נותנים שמות</a:t>
            </a:r>
            <a:br>
              <a:rPr lang="en-US" dirty="0"/>
            </a:br>
            <a:r>
              <a:rPr lang="he-IL" dirty="0"/>
              <a:t>לפרמטרים</a:t>
            </a:r>
          </a:p>
          <a:p>
            <a:r>
              <a:rPr lang="he-IL" dirty="0"/>
              <a:t>הפונקציה </a:t>
            </a:r>
            <a:r>
              <a:rPr lang="he-IL" b="1" dirty="0"/>
              <a:t>מקבלת </a:t>
            </a:r>
            <a:r>
              <a:rPr lang="he-IL" dirty="0"/>
              <a:t>פרמטר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8345741-F345-32E7-7B8F-39AD64E0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9" y="1152475"/>
            <a:ext cx="5334000" cy="2489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29AA88-85DB-C882-C944-29A47D09243A}"/>
              </a:ext>
            </a:extLst>
          </p:cNvPr>
          <p:cNvSpPr/>
          <p:nvPr/>
        </p:nvSpPr>
        <p:spPr>
          <a:xfrm>
            <a:off x="1584357" y="1300255"/>
            <a:ext cx="1059256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שם הפונקציה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5BEF6-16FC-3DE7-C2CB-19C04F18C8A4}"/>
              </a:ext>
            </a:extLst>
          </p:cNvPr>
          <p:cNvSpPr/>
          <p:nvPr/>
        </p:nvSpPr>
        <p:spPr>
          <a:xfrm>
            <a:off x="1923862" y="2344407"/>
            <a:ext cx="1439501" cy="516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מה שהפונקציה מחזירה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56857-CC5D-0D06-FF11-300FAE2C4CCA}"/>
              </a:ext>
            </a:extLst>
          </p:cNvPr>
          <p:cNvSpPr/>
          <p:nvPr/>
        </p:nvSpPr>
        <p:spPr>
          <a:xfrm>
            <a:off x="739800" y="3125099"/>
            <a:ext cx="2014396" cy="398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/>
              <a:t>קריאה לפונקציה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E1F24B-314E-AB9C-BDE7-60E9B6D014CA}"/>
              </a:ext>
            </a:extLst>
          </p:cNvPr>
          <p:cNvSpPr/>
          <p:nvPr/>
        </p:nvSpPr>
        <p:spPr>
          <a:xfrm>
            <a:off x="2775968" y="1300254"/>
            <a:ext cx="405463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b="1" dirty="0" err="1"/>
              <a:t>a</a:t>
            </a:r>
            <a:endParaRPr lang="en-IL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AE8B71-DB97-F8D7-8A56-8D57A56C4AF3}"/>
              </a:ext>
            </a:extLst>
          </p:cNvPr>
          <p:cNvSpPr/>
          <p:nvPr/>
        </p:nvSpPr>
        <p:spPr>
          <a:xfrm>
            <a:off x="3510108" y="1300252"/>
            <a:ext cx="405463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b="1" dirty="0" err="1"/>
              <a:t>b</a:t>
            </a:r>
            <a:endParaRPr lang="en-IL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8A863-79F6-69E4-FC55-4FCC259D957E}"/>
              </a:ext>
            </a:extLst>
          </p:cNvPr>
          <p:cNvSpPr/>
          <p:nvPr/>
        </p:nvSpPr>
        <p:spPr>
          <a:xfrm>
            <a:off x="4285844" y="1300252"/>
            <a:ext cx="405463" cy="36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b="1" dirty="0" err="1"/>
              <a:t>c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88387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9774-030C-E8D6-EDE6-FF635429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C47B2-0224-2A71-F65A-81795EC84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47325"/>
            <a:ext cx="8520600" cy="3551150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כתבו פונקציה </a:t>
            </a:r>
            <a:r>
              <a:rPr lang="he-IL" b="1" dirty="0"/>
              <a:t>שמקבלת פרמטר</a:t>
            </a:r>
            <a:r>
              <a:rPr lang="he-IL" dirty="0"/>
              <a:t> </a:t>
            </a:r>
            <a:r>
              <a:rPr lang="he-IL" dirty="0" err="1"/>
              <a:t>Num</a:t>
            </a:r>
            <a:r>
              <a:rPr lang="he-IL" dirty="0"/>
              <a:t>  </a:t>
            </a:r>
            <a:r>
              <a:rPr lang="he-IL" b="1" dirty="0"/>
              <a:t>ומחזירה</a:t>
            </a:r>
            <a:r>
              <a:rPr lang="he-IL" dirty="0"/>
              <a:t> את </a:t>
            </a:r>
            <a:r>
              <a:rPr lang="he-IL" dirty="0" err="1"/>
              <a:t>num</a:t>
            </a:r>
            <a:endParaRPr lang="he-IL" dirty="0"/>
          </a:p>
          <a:p>
            <a:r>
              <a:rPr lang="he-IL" dirty="0"/>
              <a:t>תקראו לפונקציה עם הערכים הבאים:</a:t>
            </a:r>
          </a:p>
          <a:p>
            <a:r>
              <a:rPr lang="he-IL" dirty="0"/>
              <a:t>3</a:t>
            </a:r>
          </a:p>
          <a:p>
            <a:r>
              <a:rPr lang="he-IL" dirty="0"/>
              <a:t>5</a:t>
            </a:r>
          </a:p>
          <a:p>
            <a:r>
              <a:rPr lang="he-IL" dirty="0"/>
              <a:t>7</a:t>
            </a:r>
          </a:p>
          <a:p>
            <a:r>
              <a:rPr lang="he-IL" dirty="0"/>
              <a:t>13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שמקבלת פרמטר</a:t>
            </a:r>
            <a:r>
              <a:rPr lang="he-IL" dirty="0"/>
              <a:t> בשם: </a:t>
            </a:r>
            <a:r>
              <a:rPr lang="he-IL" dirty="0" err="1"/>
              <a:t>name</a:t>
            </a:r>
            <a:r>
              <a:rPr lang="he-IL" dirty="0"/>
              <a:t>  </a:t>
            </a:r>
            <a:r>
              <a:rPr lang="he-IL" b="1" dirty="0"/>
              <a:t>ומחזירה</a:t>
            </a:r>
            <a:r>
              <a:rPr lang="he-IL" dirty="0"/>
              <a:t> את </a:t>
            </a:r>
            <a:r>
              <a:rPr lang="he-IL" dirty="0" err="1"/>
              <a:t>name</a:t>
            </a:r>
            <a:endParaRPr lang="he-IL" dirty="0"/>
          </a:p>
          <a:p>
            <a:r>
              <a:rPr lang="he-IL" dirty="0"/>
              <a:t>תקראו לפונקציה עם הערכים הבאים:</a:t>
            </a:r>
          </a:p>
          <a:p>
            <a:r>
              <a:rPr lang="he-IL" dirty="0"/>
              <a:t>השם שלכם</a:t>
            </a:r>
          </a:p>
          <a:p>
            <a:r>
              <a:rPr lang="he-IL" dirty="0"/>
              <a:t>שם הילד שיושב לידכם</a:t>
            </a:r>
          </a:p>
          <a:p>
            <a:r>
              <a:rPr lang="he-IL" dirty="0"/>
              <a:t>שם הבית ספר שלכם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01882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56D6-90D2-875D-0B55-543F391E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3629-2D49-2011-0005-AC64D8E1D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0FF93-FB1C-CA72-A8A0-82E150947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47325"/>
            <a:ext cx="8520600" cy="3551150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כתבו פונקציה </a:t>
            </a:r>
            <a:r>
              <a:rPr lang="he-IL" b="1" dirty="0"/>
              <a:t>שמקבלת</a:t>
            </a:r>
            <a:r>
              <a:rPr lang="he-IL" dirty="0"/>
              <a:t> מספר </a:t>
            </a:r>
            <a:r>
              <a:rPr lang="he-IL" b="1" dirty="0"/>
              <a:t>הפונקציה תוסיף 5 למספר ותחזיר את המספר החדש</a:t>
            </a:r>
          </a:p>
          <a:p>
            <a:r>
              <a:rPr lang="he-IL" dirty="0"/>
              <a:t>תקראו לפונקציה עם הערכים הבאים:</a:t>
            </a:r>
          </a:p>
          <a:p>
            <a:r>
              <a:rPr lang="he-IL" dirty="0"/>
              <a:t>3</a:t>
            </a:r>
          </a:p>
          <a:p>
            <a:r>
              <a:rPr lang="he-IL" dirty="0"/>
              <a:t>5</a:t>
            </a:r>
          </a:p>
          <a:p>
            <a:r>
              <a:rPr lang="he-IL" dirty="0"/>
              <a:t>7</a:t>
            </a:r>
          </a:p>
          <a:p>
            <a:r>
              <a:rPr lang="he-IL" dirty="0"/>
              <a:t>13</a:t>
            </a:r>
          </a:p>
          <a:p>
            <a:r>
              <a:rPr lang="he-IL" dirty="0"/>
              <a:t>כתבו פונקציה </a:t>
            </a:r>
            <a:r>
              <a:rPr lang="he-IL" b="1" dirty="0"/>
              <a:t>שמקבלת</a:t>
            </a:r>
            <a:r>
              <a:rPr lang="he-IL" dirty="0"/>
              <a:t> משתנה שם, </a:t>
            </a:r>
            <a:r>
              <a:rPr lang="he-IL" b="1" dirty="0"/>
              <a:t>הפונקציה תחזיר ׳שלום׳ + השם שקיבלתם</a:t>
            </a:r>
            <a:endParaRPr lang="he-IL" dirty="0"/>
          </a:p>
          <a:p>
            <a:r>
              <a:rPr lang="he-IL" dirty="0"/>
              <a:t>תקראו לפונקציה עם הערכים הבאים:</a:t>
            </a:r>
          </a:p>
          <a:p>
            <a:r>
              <a:rPr lang="he-IL" dirty="0"/>
              <a:t>השם שלכם</a:t>
            </a:r>
          </a:p>
          <a:p>
            <a:r>
              <a:rPr lang="he-IL" dirty="0"/>
              <a:t>שם הילד שיושב לידכם</a:t>
            </a:r>
          </a:p>
          <a:p>
            <a:r>
              <a:rPr lang="he-IL" dirty="0"/>
              <a:t>שם הבית ספר שלכם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2363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4951B-7239-A15B-6FD8-EE7D5EA9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דוגמה נוספת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A8C1C-28F1-C180-8258-0AE39B07C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/>
          <a:lstStyle/>
          <a:p>
            <a:r>
              <a:rPr lang="he-IL" dirty="0"/>
              <a:t>מה הפונקציה עושה?</a:t>
            </a:r>
          </a:p>
          <a:p>
            <a:r>
              <a:rPr lang="he-IL" dirty="0"/>
              <a:t>מה הפונקציה תחזיר?</a:t>
            </a:r>
          </a:p>
          <a:p>
            <a:r>
              <a:rPr lang="he-IL" dirty="0"/>
              <a:t>למה </a:t>
            </a:r>
            <a:r>
              <a:rPr lang="he-IL" dirty="0" err="1"/>
              <a:t>x</a:t>
            </a:r>
            <a:r>
              <a:rPr lang="he-IL" dirty="0"/>
              <a:t> שווה?</a:t>
            </a:r>
          </a:p>
          <a:p>
            <a:r>
              <a:rPr lang="he-IL" dirty="0"/>
              <a:t>הפונקציה מקבלת את</a:t>
            </a:r>
            <a:br>
              <a:rPr lang="en-US" dirty="0"/>
            </a:br>
            <a:r>
              <a:rPr lang="he-IL" b="1" dirty="0"/>
              <a:t>המספר 5 ממשתנה שמחוץ לפונקציה</a:t>
            </a:r>
            <a:endParaRPr lang="en-IL" b="1" dirty="0"/>
          </a:p>
        </p:txBody>
      </p:sp>
      <p:pic>
        <p:nvPicPr>
          <p:cNvPr id="5" name="Picture 4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13FA6CCE-1835-5D72-A623-7EF2139EB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22784"/>
            <a:ext cx="4343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27C4-85BF-A9E2-9AF1-EA163CA8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18BC-002A-8349-009C-13F8C8CA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1DFB3-79E8-493A-5BB4-91A4CB04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47325"/>
            <a:ext cx="8520600" cy="3551150"/>
          </a:xfrm>
        </p:spPr>
        <p:txBody>
          <a:bodyPr>
            <a:normAutofit fontScale="77500" lnSpcReduction="20000"/>
          </a:bodyPr>
          <a:lstStyle/>
          <a:p>
            <a:r>
              <a:rPr lang="he-IL" dirty="0"/>
              <a:t>כתבו פונקציה </a:t>
            </a:r>
            <a:r>
              <a:rPr lang="he-IL" b="1" dirty="0"/>
              <a:t>שמקבלת מחוץ לפונקציה את המספר 3.</a:t>
            </a:r>
            <a:r>
              <a:rPr lang="he-IL" dirty="0"/>
              <a:t> </a:t>
            </a:r>
            <a:r>
              <a:rPr lang="he-IL" b="1" dirty="0"/>
              <a:t>הפונקציה מגדירה בתוך הפונקציה את המספר 2, הפונקציה תחזיר את חיבור המשתנים </a:t>
            </a:r>
          </a:p>
          <a:p>
            <a:endParaRPr lang="he-IL" b="1" dirty="0"/>
          </a:p>
          <a:p>
            <a:r>
              <a:rPr lang="he-IL" dirty="0"/>
              <a:t>כתבו פונקציה </a:t>
            </a:r>
            <a:r>
              <a:rPr lang="he-IL" b="1" dirty="0"/>
              <a:t>שמקבלת מחוץ לפונקציה את המספר 5.</a:t>
            </a:r>
            <a:r>
              <a:rPr lang="he-IL" dirty="0"/>
              <a:t> </a:t>
            </a:r>
            <a:r>
              <a:rPr lang="he-IL" b="1" dirty="0"/>
              <a:t>הפונקציה מגדירה בתוך הפונקציה את המספר 2, הפונקציה תחזיר את חיבור המשתנים</a:t>
            </a:r>
          </a:p>
          <a:p>
            <a:endParaRPr lang="he-IL" b="1" dirty="0"/>
          </a:p>
          <a:p>
            <a:r>
              <a:rPr lang="he-IL" dirty="0"/>
              <a:t>כתבו פונקציה </a:t>
            </a:r>
            <a:r>
              <a:rPr lang="he-IL" b="1" dirty="0"/>
              <a:t>שמקבלת מחוץ לפונקציה את המספר 7.</a:t>
            </a:r>
            <a:r>
              <a:rPr lang="he-IL" dirty="0"/>
              <a:t> </a:t>
            </a:r>
            <a:r>
              <a:rPr lang="he-IL" b="1" dirty="0"/>
              <a:t>הפונקציה מגדירה בתוך הפונקציה את המספר 2, הפונקציה תחזיר את חיבור המשתנים</a:t>
            </a:r>
          </a:p>
          <a:p>
            <a:endParaRPr lang="he-IL" b="1" dirty="0"/>
          </a:p>
          <a:p>
            <a:r>
              <a:rPr lang="he-IL" dirty="0"/>
              <a:t>כתבו פונקציה </a:t>
            </a:r>
            <a:r>
              <a:rPr lang="he-IL" b="1" dirty="0"/>
              <a:t>שמקבלת מחוץ לפונקציה את השם שלכם.</a:t>
            </a:r>
            <a:r>
              <a:rPr lang="he-IL" dirty="0"/>
              <a:t> </a:t>
            </a:r>
            <a:r>
              <a:rPr lang="he-IL" b="1" dirty="0"/>
              <a:t>הפונקציה מגדירה בתוך הפונקציה את המילה: ׳היי׳. הפונקציה תחזיר את חיבור המשתנים</a:t>
            </a:r>
          </a:p>
          <a:p>
            <a:endParaRPr lang="he-IL" b="1" dirty="0"/>
          </a:p>
          <a:p>
            <a:r>
              <a:rPr lang="he-IL" dirty="0"/>
              <a:t>כתבו פונקציה </a:t>
            </a:r>
            <a:r>
              <a:rPr lang="he-IL" b="1" dirty="0"/>
              <a:t>שמקבלת מחוץ לפונקציה את השם של מי שיושב לידכם.</a:t>
            </a:r>
            <a:r>
              <a:rPr lang="he-IL" dirty="0"/>
              <a:t> </a:t>
            </a:r>
            <a:r>
              <a:rPr lang="he-IL" b="1" dirty="0"/>
              <a:t>הפונקציה מגדירה בתוך הפונקציה את המילה: ׳היי׳. הפונקציה תחזיר את חיבור המשתנים</a:t>
            </a:r>
          </a:p>
          <a:p>
            <a:br>
              <a:rPr lang="en-US" b="1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391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5901-3509-4437-124F-79186440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EA2D8-4CFE-DCC9-4A66-3485E37D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כתבו פונקציה שמקבלת 2 פרמטרים:</a:t>
            </a:r>
            <a:br>
              <a:rPr lang="en-US" dirty="0"/>
            </a:br>
            <a:r>
              <a:rPr lang="he-IL" dirty="0"/>
              <a:t>1. מחיר מוצר</a:t>
            </a:r>
            <a:br>
              <a:rPr lang="en-US" dirty="0"/>
            </a:br>
            <a:r>
              <a:rPr lang="he-IL" dirty="0"/>
              <a:t>2. כמות המוצרים שנלקחו</a:t>
            </a:r>
            <a:br>
              <a:rPr lang="en-US" dirty="0"/>
            </a:br>
            <a:r>
              <a:rPr lang="he-IL" dirty="0"/>
              <a:t>הפונקציה תחזיר את המחיר הסופי שיש לשלם</a:t>
            </a:r>
            <a:endParaRPr lang="en-IL" dirty="0"/>
          </a:p>
          <a:p>
            <a:r>
              <a:rPr lang="he-IL" dirty="0"/>
              <a:t>כתבו פונקציה שמקבלת 2 פרמטרים: </a:t>
            </a:r>
            <a:br>
              <a:rPr lang="en-US" dirty="0"/>
            </a:br>
            <a:r>
              <a:rPr lang="he-IL" dirty="0"/>
              <a:t>1. שער הדולר</a:t>
            </a:r>
            <a:br>
              <a:rPr lang="en-US" dirty="0"/>
            </a:br>
            <a:r>
              <a:rPr lang="he-IL" dirty="0"/>
              <a:t>2. מחיר של מוצר בדולרים</a:t>
            </a:r>
            <a:br>
              <a:rPr lang="en-US" dirty="0"/>
            </a:br>
            <a:r>
              <a:rPr lang="he-IL" dirty="0"/>
              <a:t>הפונקציה תחזיר את המחיר של המוצר בשקלים </a:t>
            </a:r>
          </a:p>
        </p:txBody>
      </p:sp>
    </p:spTree>
    <p:extLst>
      <p:ext uri="{BB962C8B-B14F-4D97-AF65-F5344CB8AC3E}">
        <p14:creationId xmlns:p14="http://schemas.microsoft.com/office/powerpoint/2010/main" val="296949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44F7-C982-B1C9-6E64-C7CE59AC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BD54A-4C30-7027-F601-1D62E0FF5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52AADBD-2CC3-2C58-27B2-F03E1BD7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48" y="1152475"/>
            <a:ext cx="5896304" cy="29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57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D0CB-9127-EC32-8557-5AD4E88D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3244-B271-80BA-8B87-395EAF41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27398-A14E-EF46-C0B1-95C2926F3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/>
              <a:t>כתבו פונקציה שבודקת אם תלמיד עבר או לא עבר מבחן. הפונקציה מקבלת את הציון שהתלמיד קיבל בשאלה 1, ובנוסף מקבלת את הציון שהתלמיד קיבל בשאלה 2</a:t>
            </a:r>
          </a:p>
          <a:p>
            <a:r>
              <a:rPr lang="he-IL" dirty="0"/>
              <a:t>אם הציון של שאלה 1 ועוד שאלה 2 גדול או שווה ל-60: הפונקציה שולחת לתלמיד הודעה שעבר בהצלחה</a:t>
            </a:r>
          </a:p>
          <a:p>
            <a:r>
              <a:rPr lang="he-IL" dirty="0"/>
              <a:t>אם הציון של שאלה 1 ועוד שאלה 2 קטן מ-60: הפונקציה שולחת לתלמיד הודעה שלא עבר ושהוא צריך לעשות את המבחן שוב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למתקדמים:</a:t>
            </a:r>
            <a:br>
              <a:rPr lang="en-US" dirty="0"/>
            </a:br>
            <a:r>
              <a:rPr lang="he-IL" dirty="0"/>
              <a:t>כתבו את הפונקציה כך שאת הפרמטרים הפונקציה תקבל מהמשתמש</a:t>
            </a:r>
          </a:p>
          <a:p>
            <a:r>
              <a:rPr lang="he-IL" dirty="0"/>
              <a:t>רמז: צריך להוסיף את זה מחוץ לפונקציה</a:t>
            </a:r>
          </a:p>
        </p:txBody>
      </p:sp>
    </p:spTree>
    <p:extLst>
      <p:ext uri="{BB962C8B-B14F-4D97-AF65-F5344CB8AC3E}">
        <p14:creationId xmlns:p14="http://schemas.microsoft.com/office/powerpoint/2010/main" val="410502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B18A-71E9-C4A6-5766-88D9D04E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F29C9-6413-4C4A-B7D4-7158FB716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82AD0CB-EB72-42CA-37B6-61A3EAAFF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24" y="1152475"/>
            <a:ext cx="6148552" cy="307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2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71DC-4C57-CACB-1636-FF9B732E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DE9B6-AD14-63B1-72B1-4F281D164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כתבו פונקציה שבודקת התאמה בין זוגות. הפונקציה מקבלת את הגיל של הבן ומקבלת את הגיל של הבת</a:t>
            </a:r>
          </a:p>
          <a:p>
            <a:r>
              <a:rPr lang="he-IL" dirty="0"/>
              <a:t>אם הגיל של הבן ועוד הגיל של הבת גדול או שווה ל- 35: יש התאמה</a:t>
            </a:r>
          </a:p>
          <a:p>
            <a:r>
              <a:rPr lang="he-IL" dirty="0"/>
              <a:t>אם הגיל של הבן ועוד הגיל של הבת קטן מ-35: אין התאמה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למתקדמים:</a:t>
            </a:r>
            <a:br>
              <a:rPr lang="en-US" dirty="0"/>
            </a:br>
            <a:r>
              <a:rPr lang="he-IL" dirty="0"/>
              <a:t>כתבו את הפונקציה כך שאת הפרמטרים הפונקציה תקבל מהמשתמש</a:t>
            </a:r>
          </a:p>
        </p:txBody>
      </p:sp>
    </p:spTree>
    <p:extLst>
      <p:ext uri="{BB962C8B-B14F-4D97-AF65-F5344CB8AC3E}">
        <p14:creationId xmlns:p14="http://schemas.microsoft.com/office/powerpoint/2010/main" val="28917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27BB1-3D24-4E75-AC65-D14EBD3B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71CDD-7DF6-2EE2-8ECD-1AC1D24C9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938C9E8-155D-CA5D-D0BC-244E21C2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182" y="1371599"/>
            <a:ext cx="5707118" cy="285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60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B06F-7CBF-692C-C9CE-2C3941B3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187F2-E57F-676F-C078-3D78EF2A6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1. כתבו פונקציה שמקבלת מספר מהמשתמש ומחשבת את סכום כל המספרים מ- 1 ועד המספר. 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הפונקציה תחזיר את הסכום שיצא.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רמז: צריך להשתמש בלולאה בתוך הפונקציה. </a:t>
            </a:r>
          </a:p>
          <a:p>
            <a:endParaRPr lang="he-IL" dirty="0">
              <a:solidFill>
                <a:srgbClr val="000000"/>
              </a:solidFill>
              <a:latin typeface="-apple-system"/>
            </a:endParaRPr>
          </a:p>
          <a:p>
            <a:pPr marL="114300" indent="0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2. כתבו פונקציה שמקבלת מספר מהמשתמש, הפונקציה תמשיך לבקש מהמשתמש מספר עד שהמשתמש יית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ן מספר ולא אות. הפונקציה תחזיר את המספר של המשתמש</a:t>
            </a:r>
          </a:p>
          <a:p>
            <a:pPr marL="114300" indent="0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רמז: צריך להשתמש בלולאת 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while</a:t>
            </a:r>
            <a:endParaRPr lang="he-IL" dirty="0">
              <a:solidFill>
                <a:srgbClr val="000000"/>
              </a:solidFill>
              <a:latin typeface="-apple-system"/>
            </a:endParaRPr>
          </a:p>
          <a:p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כתבו פונקציה שמשלבת בין הפונקציות: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הפונקציה תיקח מספר מהמשתמש, תוודא שהוא אכן מספר.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רק לאחר שהמשתמש אכן הביא מספר, הפונקציה תעבור על המספר המשתמש הביא ותחשב את סכום מהספרים מ-1 ועד המספר.</a:t>
            </a:r>
          </a:p>
          <a:p>
            <a:r>
              <a:rPr lang="he-IL" dirty="0">
                <a:solidFill>
                  <a:srgbClr val="000000"/>
                </a:solidFill>
                <a:latin typeface="-apple-system"/>
              </a:rPr>
              <a:t>רמז: צריך להשתמש בפונקציות 1 ו-2</a:t>
            </a:r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3727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D549-349D-3BDF-095E-DD2122C3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AA126-A697-21EF-4232-2AA150670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20CA7CA-E01D-36CC-2F41-427C7153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773" y="574625"/>
            <a:ext cx="5348453" cy="379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80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393-0ADA-3665-C50F-4DCF09C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F2212-A475-7E6C-0943-8CFE4D030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כתבו פונקציה שיוצרת מחשבון:</a:t>
            </a:r>
            <a:br>
              <a:rPr lang="en-IL" dirty="0"/>
            </a:br>
            <a:r>
              <a:rPr lang="he-IL" dirty="0"/>
              <a:t>הפונקציה תבקש מהמשתמש מספר 1, מספר 2, ופעולה (כפל, חילוק, חיבור, חיסור)</a:t>
            </a:r>
            <a:br>
              <a:rPr lang="en-US" dirty="0"/>
            </a:br>
            <a:r>
              <a:rPr lang="he-IL" dirty="0"/>
              <a:t>הפונקציה תחזיר את התוצאה הרצויה.</a:t>
            </a:r>
          </a:p>
        </p:txBody>
      </p:sp>
    </p:spTree>
    <p:extLst>
      <p:ext uri="{BB962C8B-B14F-4D97-AF65-F5344CB8AC3E}">
        <p14:creationId xmlns:p14="http://schemas.microsoft.com/office/powerpoint/2010/main" val="15942538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19824</TotalTime>
  <Words>868</Words>
  <Application>Microsoft Macintosh PowerPoint</Application>
  <PresentationFormat>On-screen Show (16:9)</PresentationFormat>
  <Paragraphs>109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-apple-system</vt:lpstr>
      <vt:lpstr>Simple Light</vt:lpstr>
      <vt:lpstr>PowerPoint Presentation</vt:lpstr>
      <vt:lpstr>פונקציות </vt:lpstr>
      <vt:lpstr>פונקציות </vt:lpstr>
      <vt:lpstr>פונקציה עם פרמטרים</vt:lpstr>
      <vt:lpstr>פונקציות עם פרמטרים</vt:lpstr>
      <vt:lpstr>פרמטרים</vt:lpstr>
      <vt:lpstr>מבנה פונקציה עם פרמטרים</vt:lpstr>
      <vt:lpstr>תרגול</vt:lpstr>
      <vt:lpstr>תרגול</vt:lpstr>
      <vt:lpstr>דוגמה נוספת</vt:lpstr>
      <vt:lpstr>תרגול</vt:lpstr>
      <vt:lpstr>תרגול</vt:lpstr>
      <vt:lpstr>PowerPoint Presentation</vt:lpstr>
      <vt:lpstr>תרגול</vt:lpstr>
      <vt:lpstr>PowerPoint Presentation</vt:lpstr>
      <vt:lpstr>תרגול</vt:lpstr>
      <vt:lpstr>PowerPoint Presentation</vt:lpstr>
      <vt:lpstr>תרגול מתקדם</vt:lpstr>
      <vt:lpstr>PowerPoint Presentation</vt:lpstr>
      <vt:lpstr>תרגול מתקדם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32</cp:revision>
  <dcterms:modified xsi:type="dcterms:W3CDTF">2024-02-20T14:48:01Z</dcterms:modified>
</cp:coreProperties>
</file>