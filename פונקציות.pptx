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63" r:id="rId3"/>
    <p:sldId id="264" r:id="rId4"/>
    <p:sldId id="260" r:id="rId5"/>
    <p:sldId id="261" r:id="rId6"/>
    <p:sldId id="262" r:id="rId7"/>
    <p:sldId id="265" r:id="rId8"/>
    <p:sldId id="266" r:id="rId9"/>
    <p:sldId id="258" r:id="rId10"/>
    <p:sldId id="259" r:id="rId11"/>
    <p:sldId id="267" r:id="rId12"/>
    <p:sldId id="270" r:id="rId13"/>
    <p:sldId id="268" r:id="rId14"/>
    <p:sldId id="269" r:id="rId15"/>
    <p:sldId id="278" r:id="rId16"/>
    <p:sldId id="271" r:id="rId17"/>
    <p:sldId id="274" r:id="rId18"/>
    <p:sldId id="272" r:id="rId19"/>
    <p:sldId id="273" r:id="rId20"/>
    <p:sldId id="275" r:id="rId21"/>
    <p:sldId id="276" r:id="rId22"/>
    <p:sldId id="277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68"/>
    <p:restoredTop sz="94761"/>
  </p:normalViewPr>
  <p:slideViewPr>
    <p:cSldViewPr snapToGrid="0">
      <p:cViewPr varScale="1">
        <p:scale>
          <a:sx n="141" d="100"/>
          <a:sy n="141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69678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64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he-IL" dirty="0"/>
              <a:t>פונקציה שמקבלת </a:t>
            </a:r>
            <a:r>
              <a:rPr lang="he-IL" dirty="0" err="1"/>
              <a:t>פרמרטים</a:t>
            </a:r>
            <a:r>
              <a:rPr lang="he-IL" dirty="0"/>
              <a:t> היא קצת יותר מסובכת להבנה – ולכן נתחיל מתרגל פונקציה שלא מקבלת פרמטרים</a:t>
            </a:r>
            <a:endParaRPr lang="en-IL" dirty="0"/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35428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הרעיון הוא להדגיש למה שנשתמש בפונקציה?</a:t>
            </a:r>
            <a:br>
              <a:rPr lang="en-US" dirty="0"/>
            </a:br>
            <a:r>
              <a:rPr lang="he-IL" dirty="0"/>
              <a:t>לא נוח לרשום את אותו הקוד כל פעם, ובמקום לרשום את אותו הקוד אני יכולה פשוט לרשום את השם של הפונקציה</a:t>
            </a:r>
          </a:p>
        </p:txBody>
      </p:sp>
    </p:spTree>
    <p:extLst>
      <p:ext uri="{BB962C8B-B14F-4D97-AF65-F5344CB8AC3E}">
        <p14:creationId xmlns:p14="http://schemas.microsoft.com/office/powerpoint/2010/main" val="2454185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כעת, במקום להדפיס את התוצאה שנרצה מהפונקציה עם </a:t>
            </a:r>
            <a:r>
              <a:rPr lang="he-IL" dirty="0" err="1"/>
              <a:t>consoloe.log</a:t>
            </a:r>
            <a:r>
              <a:rPr lang="he-IL" dirty="0"/>
              <a:t> נשתמש ב-</a:t>
            </a:r>
            <a:r>
              <a:rPr lang="he-IL" dirty="0" err="1"/>
              <a:t>return</a:t>
            </a:r>
            <a:r>
              <a:rPr lang="he-IL" dirty="0"/>
              <a:t>. </a:t>
            </a:r>
            <a:br>
              <a:rPr lang="en-US" dirty="0"/>
            </a:br>
            <a:r>
              <a:rPr lang="he-IL" dirty="0"/>
              <a:t>היתרון של </a:t>
            </a:r>
            <a:r>
              <a:rPr lang="he-IL" dirty="0" err="1"/>
              <a:t>return</a:t>
            </a:r>
            <a:r>
              <a:rPr lang="he-IL" dirty="0"/>
              <a:t> היא שניתן לשמור אץ התוצאה מהפונקציה כמשתנה , כפי שקורה פה עם המשתנים </a:t>
            </a:r>
            <a:r>
              <a:rPr lang="he-IL" dirty="0" err="1"/>
              <a:t>a</a:t>
            </a:r>
            <a:r>
              <a:rPr lang="he-IL" dirty="0"/>
              <a:t> ו-</a:t>
            </a:r>
            <a:r>
              <a:rPr lang="he-IL" dirty="0" err="1"/>
              <a:t>b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18094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הערה: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לפעמים אפשר להחזיר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</a:t>
            </a:r>
            <a:r>
              <a:rPr lang="he-IL" sz="18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</a:t>
            </a:r>
            <a:endParaRPr lang="he-IL" sz="1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הדרכה לסעיף האחרון: לייצר שתי משתנים חדשים שמקבלים את הפונקציה ולהדפיס את החיבור שלהם</a:t>
            </a: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42898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03167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שאלות וידוי הבנה</a:t>
            </a:r>
            <a:br>
              <a:rPr lang="en-US" dirty="0"/>
            </a:br>
            <a:r>
              <a:rPr lang="he-IL" dirty="0"/>
              <a:t>הבהרות נוספות שניתן להעלות:</a:t>
            </a:r>
            <a:br>
              <a:rPr lang="en-US" dirty="0"/>
            </a:br>
            <a:r>
              <a:rPr lang="he-IL" dirty="0"/>
              <a:t>כותבים </a:t>
            </a:r>
            <a:r>
              <a:rPr lang="he-IL" dirty="0" err="1"/>
              <a:t>return</a:t>
            </a:r>
            <a:r>
              <a:rPr lang="he-IL" dirty="0"/>
              <a:t> פעם אחת, ברגע שכותבים </a:t>
            </a:r>
            <a:r>
              <a:rPr lang="he-IL" dirty="0" err="1"/>
              <a:t>return</a:t>
            </a:r>
            <a:r>
              <a:rPr lang="he-IL" dirty="0"/>
              <a:t>. הפונקציה יוצאת ולכן אין משמעות </a:t>
            </a:r>
            <a:r>
              <a:rPr lang="he-IL" dirty="0" err="1"/>
              <a:t>ללכתוב</a:t>
            </a:r>
            <a:r>
              <a:rPr lang="he-IL" dirty="0"/>
              <a:t> כמה </a:t>
            </a:r>
            <a:r>
              <a:rPr lang="he-IL" dirty="0" err="1"/>
              <a:t>return</a:t>
            </a:r>
            <a:r>
              <a:rPr lang="he-IL" dirty="0"/>
              <a:t> אחד אחרי השני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להדגיש את השוני בין קריאה לפונקציה שיש בה </a:t>
            </a:r>
            <a:r>
              <a:rPr lang="he-IL" dirty="0" err="1"/>
              <a:t>return</a:t>
            </a:r>
            <a:r>
              <a:rPr lang="he-IL" dirty="0"/>
              <a:t> לבין קריאה לפונקציה שאין בה </a:t>
            </a:r>
            <a:r>
              <a:rPr lang="he-IL" dirty="0" err="1"/>
              <a:t>return</a:t>
            </a:r>
            <a:endParaRPr lang="he-IL" dirty="0"/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אי אפשר להחזיר לולאה, וישימו לב שהם לא מחזירים את שם הפונקציה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לשים לב שקוראים לשם הפונקציה, ולא למה שהחזרתם ב-</a:t>
            </a:r>
            <a:r>
              <a:rPr lang="he-IL" dirty="0" err="1"/>
              <a:t>return</a:t>
            </a:r>
            <a:r>
              <a:rPr lang="he-I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4937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38B02BB-6392-A7DB-54C3-767A0B6622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8066" y="4295646"/>
            <a:ext cx="2168820" cy="847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075" y="162067"/>
            <a:ext cx="5005448" cy="504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175" y="4134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625" y="438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962" y="351375"/>
            <a:ext cx="679225" cy="6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500" y="2922150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75" y="1547975"/>
            <a:ext cx="466650" cy="4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425050" y="2022514"/>
            <a:ext cx="4293900" cy="144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1"/>
            <a:r>
              <a:rPr lang="he-IL" sz="4100" b="1" dirty="0">
                <a:solidFill>
                  <a:srgbClr val="1C4587"/>
                </a:solidFill>
                <a:latin typeface="Calibri" panose="020F0502020204030204" pitchFamily="34" charset="0"/>
                <a:ea typeface="Assistant"/>
                <a:cs typeface="Calibri" panose="020F0502020204030204" pitchFamily="34" charset="0"/>
                <a:sym typeface="Assistant"/>
              </a:rPr>
              <a:t>פונקציות</a:t>
            </a:r>
          </a:p>
          <a:p>
            <a:pPr lvl="0" algn="ctr" rtl="1"/>
            <a:r>
              <a:rPr lang="he-IL" sz="4100" b="1" dirty="0">
                <a:solidFill>
                  <a:srgbClr val="1C4587"/>
                </a:solidFill>
                <a:latin typeface="Calibri" panose="020F0502020204030204" pitchFamily="34" charset="0"/>
                <a:ea typeface="Assistant"/>
                <a:cs typeface="Calibri" panose="020F0502020204030204" pitchFamily="34" charset="0"/>
                <a:sym typeface="Assistant"/>
              </a:rPr>
              <a:t>בלי פרמטרים</a:t>
            </a:r>
            <a:endParaRPr sz="4100" b="1" dirty="0">
              <a:solidFill>
                <a:srgbClr val="1C4587"/>
              </a:solidFill>
              <a:latin typeface="Calibri" panose="020F0502020204030204" pitchFamily="34" charset="0"/>
              <a:ea typeface="Assistant"/>
              <a:cs typeface="Calibri" panose="020F0502020204030204" pitchFamily="34" charset="0"/>
              <a:sym typeface="Assistant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2A0155A-C7CC-C086-83F6-76F68615C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638" y="314597"/>
            <a:ext cx="3442348" cy="1345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AE8D-CFA6-29AC-05A3-3EA13A56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פונקציות</a:t>
            </a:r>
            <a:br>
              <a:rPr lang="he-IL" dirty="0"/>
            </a:b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7AA20-2AD8-D80C-3D43-E5C771D3E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פונקציות בלי פרמטרים</a:t>
            </a:r>
          </a:p>
          <a:p>
            <a:r>
              <a:rPr lang="he-IL" dirty="0"/>
              <a:t>פונקציות עם פרמטרים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3088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AE8D-CFA6-29AC-05A3-3EA13A56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פונקציות</a:t>
            </a:r>
            <a:br>
              <a:rPr lang="he-IL" dirty="0"/>
            </a:b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7AA20-2AD8-D80C-3D43-E5C771D3E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>
                <a:solidFill>
                  <a:srgbClr val="FF0000"/>
                </a:solidFill>
              </a:rPr>
              <a:t>פונקציות בלי פרמטרים</a:t>
            </a:r>
          </a:p>
          <a:p>
            <a:r>
              <a:rPr lang="he-IL" dirty="0"/>
              <a:t>פונקציות עם פרמטרים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695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26CF-32B4-F9B0-A605-C213E9030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פונקציות: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00676-645E-58BD-9FAF-29E283482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הקוד הבא מקבל מספר מהמשתמש, </a:t>
            </a:r>
            <a:br>
              <a:rPr lang="en-US" dirty="0"/>
            </a:br>
            <a:r>
              <a:rPr lang="he-IL" dirty="0"/>
              <a:t>ורוצה להדפיס אותו 6 פעמים רק אם המספר קטן מ-10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ואם הייתי רוצה להדפיס את המספר 20 פעמים?</a:t>
            </a:r>
            <a:br>
              <a:rPr lang="en-US" dirty="0"/>
            </a:br>
            <a:r>
              <a:rPr lang="he-IL" dirty="0"/>
              <a:t>זה היה נוח?</a:t>
            </a:r>
            <a:endParaRPr lang="en-IL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C12C7B6-3F9C-916D-6877-67D2B1E0B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460322"/>
            <a:ext cx="3240941" cy="423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9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3E20-37E1-C37E-7ADE-8E615CE64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פונקציות: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EB447-705B-A284-C9C5-F45F2414C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3 השורות יחזרו כל פעם!</a:t>
            </a:r>
          </a:p>
          <a:p>
            <a:r>
              <a:rPr lang="he-IL" dirty="0"/>
              <a:t>אם נקרא לפונקציה בשם – </a:t>
            </a:r>
            <a:br>
              <a:rPr lang="en-US" dirty="0"/>
            </a:br>
            <a:r>
              <a:rPr lang="he-IL" dirty="0"/>
              <a:t>נוכל לקרוא לשם שלה במקום לרשום את הקוד</a:t>
            </a:r>
            <a:endParaRPr lang="en-IL" dirty="0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66F9FE1-E8B6-D26F-E3CA-02714226B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31" y="2924601"/>
            <a:ext cx="6752937" cy="1294313"/>
          </a:xfrm>
          <a:prstGeom prst="rect">
            <a:avLst/>
          </a:prstGeom>
        </p:spPr>
      </p:pic>
      <p:pic>
        <p:nvPicPr>
          <p:cNvPr id="9" name="Picture 8" descr="A name card with a clip&#10;&#10;Description automatically generated">
            <a:extLst>
              <a:ext uri="{FF2B5EF4-FFF2-40B4-BE49-F238E27FC236}">
                <a16:creationId xmlns:a16="http://schemas.microsoft.com/office/drawing/2014/main" id="{76293D75-B9C9-7EBF-0153-1C4A8BA48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94" y="944613"/>
            <a:ext cx="2012237" cy="21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1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779F-2A8E-EEF4-8C6D-B8F11DFA3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פונקציה בואי!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38370-D627-452C-DAE5-72F76B0EC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5AA02B-608A-476F-0F81-0AB17FE28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567" y="1707242"/>
            <a:ext cx="2420906" cy="286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name card with a clip&#10;&#10;Description automatically generated">
            <a:extLst>
              <a:ext uri="{FF2B5EF4-FFF2-40B4-BE49-F238E27FC236}">
                <a16:creationId xmlns:a16="http://schemas.microsoft.com/office/drawing/2014/main" id="{071A0E60-3B15-D7CC-55AC-60B2246D1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20" y="851025"/>
            <a:ext cx="1571064" cy="1708175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72C987A-49F0-1CAD-40BA-E838D23E5F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4" t="9916" b="9357"/>
          <a:stretch/>
        </p:blipFill>
        <p:spPr bwMode="auto">
          <a:xfrm>
            <a:off x="1673707" y="3593427"/>
            <a:ext cx="1411146" cy="773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CADF5CA-7550-DBA9-7A1F-EA31517AD50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4621"/>
          <a:stretch/>
        </p:blipFill>
        <p:spPr>
          <a:xfrm>
            <a:off x="942035" y="2559201"/>
            <a:ext cx="3122971" cy="108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59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90A6-F025-ADD8-C952-DC3BC180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הקוד שלנו עם פונקציה: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EF539-DDF4-DF00-C723-5A070B1D4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1683923-E56C-AFF3-45EB-5016278606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054"/>
          <a:stretch/>
        </p:blipFill>
        <p:spPr>
          <a:xfrm>
            <a:off x="311700" y="2074375"/>
            <a:ext cx="4368800" cy="1684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15E177-016F-E523-250D-D3441D2A2A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978"/>
          <a:stretch/>
        </p:blipFill>
        <p:spPr>
          <a:xfrm>
            <a:off x="6006471" y="1511174"/>
            <a:ext cx="2141648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7B66-C66C-6E5F-43B0-383536D5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99AE3-B5BE-BFB6-0A8A-CA3CE3375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495006" y="1152475"/>
            <a:ext cx="11327306" cy="3416400"/>
          </a:xfrm>
        </p:spPr>
        <p:txBody>
          <a:bodyPr/>
          <a:lstStyle/>
          <a:p>
            <a:r>
              <a:rPr lang="he-IL" dirty="0"/>
              <a:t>כתבו פונקציה שמדפיסה את המספר 5</a:t>
            </a:r>
          </a:p>
          <a:p>
            <a:r>
              <a:rPr lang="he-IL" dirty="0"/>
              <a:t>כתבו פונקציה שמדפיס את השם שלכם</a:t>
            </a:r>
          </a:p>
          <a:p>
            <a:r>
              <a:rPr lang="he-IL" dirty="0"/>
              <a:t>כתבו פונקציה שמדפיסה את שם החבר שיושב לידכם</a:t>
            </a:r>
          </a:p>
          <a:p>
            <a:r>
              <a:rPr lang="he-IL" dirty="0"/>
              <a:t>כתבו פונקציה </a:t>
            </a:r>
            <a:r>
              <a:rPr lang="he-IL" dirty="0" err="1"/>
              <a:t>שמתריאה</a:t>
            </a:r>
            <a:r>
              <a:rPr lang="he-IL" dirty="0"/>
              <a:t> למשתמש : שלום!</a:t>
            </a:r>
          </a:p>
          <a:p>
            <a:r>
              <a:rPr lang="he-IL" dirty="0"/>
              <a:t>כתבו פונקציה </a:t>
            </a:r>
            <a:r>
              <a:rPr lang="he-IL" dirty="0" err="1"/>
              <a:t>שמתריאה</a:t>
            </a:r>
            <a:r>
              <a:rPr lang="he-IL" dirty="0"/>
              <a:t> למשתמש : את הגיל שלכם</a:t>
            </a:r>
          </a:p>
          <a:p>
            <a:r>
              <a:rPr lang="he-IL" dirty="0"/>
              <a:t>כתבו פונקציה </a:t>
            </a:r>
            <a:r>
              <a:rPr lang="he-IL" dirty="0" err="1"/>
              <a:t>שמתריאה</a:t>
            </a:r>
            <a:r>
              <a:rPr lang="he-IL" dirty="0"/>
              <a:t> למשתמש : את שם הפונקציה</a:t>
            </a:r>
          </a:p>
        </p:txBody>
      </p:sp>
    </p:spTree>
    <p:extLst>
      <p:ext uri="{BB962C8B-B14F-4D97-AF65-F5344CB8AC3E}">
        <p14:creationId xmlns:p14="http://schemas.microsoft.com/office/powerpoint/2010/main" val="2375244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70F05C31-AFBB-E271-D49B-F52474433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420" y="1152476"/>
            <a:ext cx="3241546" cy="354600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4CE2555-878A-AEF7-69D8-0F96E16DB4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216" b="61980"/>
          <a:stretch/>
        </p:blipFill>
        <p:spPr>
          <a:xfrm>
            <a:off x="660904" y="1593975"/>
            <a:ext cx="3721540" cy="195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14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C7C8-5C34-D013-DD17-4B4FE098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/>
              <a:t>return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3C624-1424-FAF1-B2FD-8B36E65A1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בואו נסתכל על הפונקציה הבאה:</a:t>
            </a:r>
          </a:p>
          <a:p>
            <a:endParaRPr lang="he-IL" dirty="0"/>
          </a:p>
          <a:p>
            <a:endParaRPr lang="he-IL" dirty="0"/>
          </a:p>
          <a:p>
            <a:endParaRPr lang="en-IL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A294723E-A412-CEE3-2F02-0F9572998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71450"/>
            <a:ext cx="46101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44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E4A3-E8AC-E680-57A8-A35FE8A68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</a:t>
            </a:r>
            <a:r>
              <a:rPr lang="he-IL" dirty="0" err="1"/>
              <a:t>eturn</a:t>
            </a:r>
            <a:r>
              <a:rPr lang="he-IL" dirty="0"/>
              <a:t> – מילה שמורה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7691A-63C6-F872-F874-CCE636FC7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בואו נתמקד ב-2 השורות האלה:</a:t>
            </a:r>
            <a:br>
              <a:rPr lang="en-US" dirty="0"/>
            </a:br>
            <a:r>
              <a:rPr lang="he-IL" dirty="0" err="1"/>
              <a:t>return</a:t>
            </a:r>
            <a:r>
              <a:rPr lang="he-IL" dirty="0"/>
              <a:t>  עוזר לי לשמור את ערכי הפונקציה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למה שארצה לשמור את ערך הפונקציה?</a:t>
            </a:r>
          </a:p>
          <a:p>
            <a:r>
              <a:rPr lang="he-IL" dirty="0"/>
              <a:t>במה זה עזר לי בקוד הנוכחי?</a:t>
            </a:r>
          </a:p>
          <a:p>
            <a:endParaRPr lang="he-IL" dirty="0"/>
          </a:p>
          <a:p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D5E5C-6484-7DDE-E317-373CFF3A2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20" y="1220143"/>
            <a:ext cx="37846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72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61EB-C451-4D60-25DE-0FCDDBED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מבנה פונקציה: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CCC5D-F8CB-003D-2CFD-0DC7F1E68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91F58-0508-9AFB-E308-ABC40D61C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672626"/>
            <a:ext cx="4947718" cy="24738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F9B313-5105-E571-8E7C-E72A673C8E25}"/>
              </a:ext>
            </a:extLst>
          </p:cNvPr>
          <p:cNvSpPr/>
          <p:nvPr/>
        </p:nvSpPr>
        <p:spPr>
          <a:xfrm>
            <a:off x="1711105" y="1810693"/>
            <a:ext cx="1059256" cy="362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/>
              <a:t>שם הפונקציה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C919E1-F6AD-C631-CF96-C1F22E0D9F58}"/>
              </a:ext>
            </a:extLst>
          </p:cNvPr>
          <p:cNvSpPr/>
          <p:nvPr/>
        </p:nvSpPr>
        <p:spPr>
          <a:xfrm>
            <a:off x="2082297" y="2860675"/>
            <a:ext cx="1439501" cy="516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/>
              <a:t>מה שהפונקציה מחזירה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A20364-93BB-1973-9C8D-4C0EABD8120E}"/>
              </a:ext>
            </a:extLst>
          </p:cNvPr>
          <p:cNvSpPr/>
          <p:nvPr/>
        </p:nvSpPr>
        <p:spPr>
          <a:xfrm>
            <a:off x="787651" y="3766242"/>
            <a:ext cx="2014396" cy="398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/>
              <a:t>קריאה לפונקציה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08608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984A7-E403-6EEC-4049-050273A27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6DDB8-8498-98EC-7A15-B1A8662D0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he-IL" dirty="0"/>
              <a:t>כתבו פונקציה </a:t>
            </a:r>
            <a:r>
              <a:rPr lang="he-IL" b="1" dirty="0"/>
              <a:t>שמחזירה</a:t>
            </a:r>
            <a:r>
              <a:rPr lang="he-IL" dirty="0"/>
              <a:t> את המספר 5 – הדפיסו ב-</a:t>
            </a:r>
            <a:r>
              <a:rPr lang="he-IL" dirty="0" err="1"/>
              <a:t>console.log</a:t>
            </a:r>
            <a:r>
              <a:rPr lang="he-IL" dirty="0"/>
              <a:t>() כערך שהפונקציה החזירה</a:t>
            </a:r>
          </a:p>
          <a:p>
            <a:r>
              <a:rPr lang="he-IL" dirty="0"/>
              <a:t>כתבו פונקציה </a:t>
            </a:r>
            <a:r>
              <a:rPr lang="he-IL" b="1" dirty="0"/>
              <a:t>שמחזירה</a:t>
            </a:r>
            <a:r>
              <a:rPr lang="he-IL" dirty="0"/>
              <a:t> את השם שלכם - הדפיסו ב-</a:t>
            </a:r>
            <a:r>
              <a:rPr lang="he-IL" dirty="0" err="1"/>
              <a:t>console.log</a:t>
            </a:r>
            <a:r>
              <a:rPr lang="he-IL" dirty="0"/>
              <a:t>() כערך שהפונקציה החזירה</a:t>
            </a:r>
          </a:p>
          <a:p>
            <a:r>
              <a:rPr lang="he-IL" dirty="0"/>
              <a:t>כתבו פונקציה </a:t>
            </a:r>
            <a:r>
              <a:rPr lang="he-IL" b="1" dirty="0"/>
              <a:t>שמחזירה</a:t>
            </a:r>
            <a:r>
              <a:rPr lang="he-IL" dirty="0"/>
              <a:t> את שם החבר שיושב לידכם - הדפיסו ב-</a:t>
            </a:r>
            <a:r>
              <a:rPr lang="he-IL" dirty="0" err="1"/>
              <a:t>console.log</a:t>
            </a:r>
            <a:r>
              <a:rPr lang="he-IL" dirty="0"/>
              <a:t>() כערך שהפונקציה החזירה</a:t>
            </a:r>
          </a:p>
          <a:p>
            <a:r>
              <a:rPr lang="he-IL" dirty="0"/>
              <a:t>כתבו פונקציה </a:t>
            </a:r>
            <a:r>
              <a:rPr lang="he-IL" b="1" dirty="0"/>
              <a:t>שמחזירה</a:t>
            </a:r>
            <a:r>
              <a:rPr lang="he-IL" dirty="0"/>
              <a:t> למשתמש : שלום! - </a:t>
            </a:r>
            <a:r>
              <a:rPr lang="he-IL" dirty="0" err="1"/>
              <a:t>התריאו</a:t>
            </a:r>
            <a:r>
              <a:rPr lang="he-IL" dirty="0"/>
              <a:t> למשתמש את הערך שהפונקציה החזירה</a:t>
            </a:r>
          </a:p>
          <a:p>
            <a:r>
              <a:rPr lang="he-IL" dirty="0"/>
              <a:t>כתבו פונקציה </a:t>
            </a:r>
            <a:r>
              <a:rPr lang="he-IL" b="1" dirty="0"/>
              <a:t>שמחזירה</a:t>
            </a:r>
            <a:r>
              <a:rPr lang="he-IL" dirty="0"/>
              <a:t> למשתמש : את שם הפונקציה - </a:t>
            </a:r>
            <a:r>
              <a:rPr lang="he-IL" dirty="0" err="1"/>
              <a:t>התריאו</a:t>
            </a:r>
            <a:r>
              <a:rPr lang="he-IL" dirty="0"/>
              <a:t> למשתמש כערך שהפונקציה החזירה</a:t>
            </a:r>
          </a:p>
          <a:p>
            <a:r>
              <a:rPr lang="he-IL" u="sng" dirty="0"/>
              <a:t>למתקדמים –</a:t>
            </a:r>
            <a:r>
              <a:rPr lang="he-IL" dirty="0"/>
              <a:t> השתמשו ב-2 פונקציות: פונקציה אחת </a:t>
            </a:r>
            <a:r>
              <a:rPr lang="he-IL" b="1" dirty="0"/>
              <a:t>שהחזירה</a:t>
            </a:r>
            <a:r>
              <a:rPr lang="he-IL" dirty="0"/>
              <a:t> את שלום ופונקציה שניה  </a:t>
            </a:r>
            <a:r>
              <a:rPr lang="he-IL" b="1" dirty="0"/>
              <a:t>שהחזירה</a:t>
            </a:r>
            <a:r>
              <a:rPr lang="he-IL" dirty="0"/>
              <a:t> את השם שלכם </a:t>
            </a:r>
            <a:r>
              <a:rPr lang="he-IL" dirty="0" err="1"/>
              <a:t>והתריאו</a:t>
            </a:r>
            <a:r>
              <a:rPr lang="he-IL" dirty="0"/>
              <a:t> למשתמש את חיבור המשפט – שלום + השם שלכם.</a:t>
            </a:r>
            <a:br>
              <a:rPr lang="en-US" dirty="0"/>
            </a:br>
            <a:r>
              <a:rPr lang="he-IL" dirty="0"/>
              <a:t>רמז – השתמשו במשתנים ששווים לערך הפונקציה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88813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A5998-9972-9A52-06F6-5F46CECF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מתקדם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C43C4-3F23-0B78-6795-8EDE41E1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6574" y="1152475"/>
            <a:ext cx="8655726" cy="3546000"/>
          </a:xfrm>
        </p:spPr>
        <p:txBody>
          <a:bodyPr>
            <a:normAutofit fontScale="85000" lnSpcReduction="10000"/>
          </a:bodyPr>
          <a:lstStyle/>
          <a:p>
            <a:pPr marL="11430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תכתבו פונקציה:</a:t>
            </a:r>
            <a:endParaRPr lang="he-IL" b="0" dirty="0">
              <a:effectLst/>
            </a:endParaRPr>
          </a:p>
          <a:p>
            <a:pPr marR="25400"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מגדירה את המספר 1 כמשתנה</a:t>
            </a:r>
          </a:p>
          <a:p>
            <a:pPr marR="25400"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מגדירה את המספר 2 כמשתנה</a:t>
            </a:r>
          </a:p>
          <a:p>
            <a:pPr marR="25400"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dirty="0">
                <a:solidFill>
                  <a:srgbClr val="000000"/>
                </a:solidFill>
                <a:latin typeface="Calibri" panose="020F0502020204030204" pitchFamily="34" charset="0"/>
              </a:rPr>
              <a:t>מגדירה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את המספר 3 כמשתנה</a:t>
            </a:r>
          </a:p>
          <a:p>
            <a:pPr marR="25400"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dirty="0">
                <a:solidFill>
                  <a:srgbClr val="000000"/>
                </a:solidFill>
                <a:latin typeface="Calibri" panose="020F0502020204030204" pitchFamily="34" charset="0"/>
              </a:rPr>
              <a:t>מגדירה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את המספר 4 כמשתנה</a:t>
            </a:r>
          </a:p>
          <a:p>
            <a:pPr marR="25400"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מחזירה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את החיבור שלהם</a:t>
            </a:r>
            <a:endParaRPr lang="he-IL" sz="1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114300" marR="25400" indent="0" algn="r" rtl="1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השלב הבא: </a:t>
            </a:r>
            <a:br>
              <a:rPr lang="en-US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</a:br>
            <a:r>
              <a:rPr lang="he-IL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תגדירו סכום 0 כמשתנה,</a:t>
            </a:r>
            <a:br>
              <a:rPr lang="en-US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</a:br>
            <a:r>
              <a:rPr lang="he-IL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הוסיפו לו את המספר 1</a:t>
            </a:r>
            <a:br>
              <a:rPr lang="en-US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</a:br>
            <a:r>
              <a:rPr lang="he-IL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הוסיפו לו את המספר 2</a:t>
            </a:r>
            <a:br>
              <a:rPr lang="en-US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</a:br>
            <a:r>
              <a:rPr lang="he-IL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הוסיפו לו את המספר 3</a:t>
            </a:r>
            <a:br>
              <a:rPr lang="en-US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</a:br>
            <a:r>
              <a:rPr lang="he-IL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הוסיפו לו את המספר 4</a:t>
            </a:r>
            <a:br>
              <a:rPr lang="en-US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</a:br>
            <a:r>
              <a:rPr lang="he-IL" sz="180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החזירו את הסכום החדש</a:t>
            </a:r>
            <a:br>
              <a:rPr lang="he-IL" b="0" dirty="0">
                <a:effectLst/>
              </a:rPr>
            </a:b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16B074-DF10-8D77-2131-4895C5940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83413"/>
            <a:ext cx="4947718" cy="24738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0467C4-BAE4-34CC-DB96-62EF0C73AB49}"/>
              </a:ext>
            </a:extLst>
          </p:cNvPr>
          <p:cNvSpPr/>
          <p:nvPr/>
        </p:nvSpPr>
        <p:spPr>
          <a:xfrm>
            <a:off x="1711105" y="521480"/>
            <a:ext cx="1059256" cy="362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/>
              <a:t>שם הפונקציה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5947A-B42B-285E-157C-F88C2CC51850}"/>
              </a:ext>
            </a:extLst>
          </p:cNvPr>
          <p:cNvSpPr/>
          <p:nvPr/>
        </p:nvSpPr>
        <p:spPr>
          <a:xfrm>
            <a:off x="2082297" y="1571462"/>
            <a:ext cx="1439501" cy="516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/>
              <a:t>מה שהפונקציה מחזירה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EBDE2-7F46-302C-82DF-094E29177F67}"/>
              </a:ext>
            </a:extLst>
          </p:cNvPr>
          <p:cNvSpPr/>
          <p:nvPr/>
        </p:nvSpPr>
        <p:spPr>
          <a:xfrm>
            <a:off x="787651" y="2477029"/>
            <a:ext cx="2014396" cy="398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/>
              <a:t>קריאה לפונקציה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18858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2F8A-921C-6675-C982-636B3FB8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87FB9-0BEB-4280-9835-35510C681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>
                <a:effectLst/>
              </a:rPr>
              <a:t>השלב הבא: </a:t>
            </a:r>
            <a:r>
              <a:rPr lang="he-IL" dirty="0">
                <a:solidFill>
                  <a:schemeClr val="tx1"/>
                </a:solidFill>
              </a:rPr>
              <a:t>תכתבו פונקציה ש</a:t>
            </a:r>
            <a:r>
              <a:rPr lang="he-IL" dirty="0">
                <a:solidFill>
                  <a:schemeClr val="tx1"/>
                </a:solidFill>
                <a:latin typeface="Calibri" panose="020F0502020204030204" pitchFamily="34" charset="0"/>
              </a:rPr>
              <a:t>מחזירה</a:t>
            </a:r>
            <a:r>
              <a:rPr lang="he-IL" sz="1800" b="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את סכום המספרים 1,2,3,4 עם לולאת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he-IL" sz="1800" i="0" u="none" strike="noStrike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he-IL" b="1" dirty="0">
                <a:solidFill>
                  <a:schemeClr val="bg2"/>
                </a:solidFill>
                <a:latin typeface="Calibri" panose="020F0502020204030204" pitchFamily="34" charset="0"/>
              </a:rPr>
              <a:t>שלבים:</a:t>
            </a:r>
            <a:br>
              <a:rPr lang="en-US" b="1" dirty="0">
                <a:solidFill>
                  <a:schemeClr val="bg2"/>
                </a:solidFill>
                <a:latin typeface="Calibri" panose="020F0502020204030204" pitchFamily="34" charset="0"/>
              </a:rPr>
            </a:br>
            <a:r>
              <a:rPr lang="he-IL" dirty="0">
                <a:solidFill>
                  <a:schemeClr val="tx1"/>
                </a:solidFill>
                <a:latin typeface="Calibri" panose="020F0502020204030204" pitchFamily="34" charset="0"/>
              </a:rPr>
              <a:t>הגדירו סכום התחלתי כמשתנה, הסכום ההתחלתי הוא 0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</a:br>
            <a:r>
              <a:rPr lang="he-IL" dirty="0">
                <a:solidFill>
                  <a:schemeClr val="tx1"/>
                </a:solidFill>
                <a:latin typeface="Calibri" panose="020F0502020204030204" pitchFamily="34" charset="0"/>
              </a:rPr>
              <a:t>השתמשו בלולאה בשביל להוסיף בכל פעם את המספר לסכום 0 שיצרתם</a:t>
            </a:r>
          </a:p>
          <a:p>
            <a:pPr marL="11430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>
                <a:solidFill>
                  <a:schemeClr val="tx1"/>
                </a:solidFill>
              </a:rPr>
              <a:t>החזירו למשתמש את הסכום הסופי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20107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BC96-DDCB-96B1-69EB-1377D0A5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C9B2C-1297-C372-421C-F35E6E232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5" name="Picture 4" descr="A number and number in a math equation&#10;&#10;Description automatically generated with medium confidence">
            <a:extLst>
              <a:ext uri="{FF2B5EF4-FFF2-40B4-BE49-F238E27FC236}">
                <a16:creationId xmlns:a16="http://schemas.microsoft.com/office/drawing/2014/main" id="{64350982-7B97-4CFB-8B88-1DF6096A6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01" y="1328596"/>
            <a:ext cx="3886200" cy="1943100"/>
          </a:xfrm>
          <a:prstGeom prst="rect">
            <a:avLst/>
          </a:prstGeom>
        </p:spPr>
      </p:pic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54972161-5E0F-A50F-6CD6-C84E3EA86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999" y="1328596"/>
            <a:ext cx="38862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70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7F52-9F12-1F5A-9218-BBF06726B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מתקדם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1FA9C-1665-8AE8-BE92-535B02BAB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תכתבו פונקציה שמקבלת מספר מהמשתמש ו:</a:t>
            </a:r>
            <a:br>
              <a:rPr lang="en-IL" dirty="0"/>
            </a:br>
            <a:r>
              <a:rPr lang="he-IL" dirty="0"/>
              <a:t>1. עוברת בלולאת </a:t>
            </a:r>
            <a:r>
              <a:rPr lang="he-IL" dirty="0" err="1"/>
              <a:t>for</a:t>
            </a:r>
            <a:r>
              <a:rPr lang="he-IL" dirty="0"/>
              <a:t>  על כל המספרים מ-1 ועד המספר של המשתמש</a:t>
            </a:r>
            <a:br>
              <a:rPr lang="en-US" dirty="0"/>
            </a:br>
            <a:r>
              <a:rPr lang="he-IL" dirty="0"/>
              <a:t>2. מחברת את המספרים שעוברת עליהם בלולאה</a:t>
            </a:r>
            <a:br>
              <a:rPr lang="en-US" dirty="0"/>
            </a:br>
            <a:r>
              <a:rPr lang="he-IL" dirty="0"/>
              <a:t>3. מחזירה את סכום כל המספרים</a:t>
            </a:r>
            <a:br>
              <a:rPr lang="en-US" dirty="0"/>
            </a:br>
            <a:br>
              <a:rPr lang="en-US" dirty="0"/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71207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C3A7-38AA-F9AE-06B6-88ED3B09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מתקדם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45C67-EDA9-E6ED-9E4D-120A39402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תכתבו פונקציה ש:</a:t>
            </a:r>
            <a:br>
              <a:rPr lang="en-US" dirty="0"/>
            </a:br>
            <a:r>
              <a:rPr lang="he-IL" dirty="0"/>
              <a:t>1. עוברת בלולאת </a:t>
            </a:r>
            <a:r>
              <a:rPr lang="he-IL" dirty="0" err="1"/>
              <a:t>for</a:t>
            </a:r>
            <a:r>
              <a:rPr lang="he-IL" dirty="0"/>
              <a:t> על המספרים מ-1 עד 10</a:t>
            </a:r>
            <a:br>
              <a:rPr lang="en-IL" dirty="0"/>
            </a:br>
            <a:r>
              <a:rPr lang="he-IL" dirty="0"/>
              <a:t>2. מדפיסה כוכבית ככמות המספר, כלומר: עבור המספר אחד היא תדפיס: *, עבור המספר 2: **, עבור המספר 3: *** וכן הלאה</a:t>
            </a:r>
            <a:br>
              <a:rPr lang="en-US" dirty="0"/>
            </a:br>
            <a:r>
              <a:rPr lang="he-IL" dirty="0"/>
              <a:t>3. הפונקציה תחזיר </a:t>
            </a:r>
            <a:r>
              <a:rPr lang="he-IL" dirty="0" err="1"/>
              <a:t>NaN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57919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29E2-7B0C-F0FC-B8D7-F0AB9C3E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מתקדם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99AB7-B1DB-4F8C-AB81-38B76B0E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תכתבו פונקציה שמקבלת מספר מהמשתמש ו:</a:t>
            </a:r>
            <a:br>
              <a:rPr lang="en-US" dirty="0"/>
            </a:br>
            <a:r>
              <a:rPr lang="he-IL" dirty="0"/>
              <a:t>1. עוברת בלולאת </a:t>
            </a:r>
            <a:r>
              <a:rPr lang="he-IL" dirty="0" err="1"/>
              <a:t>for</a:t>
            </a:r>
            <a:r>
              <a:rPr lang="he-IL" dirty="0"/>
              <a:t> על המספרים מ-1 עד המספר של המשתמש</a:t>
            </a:r>
            <a:br>
              <a:rPr lang="en-IL" dirty="0"/>
            </a:br>
            <a:r>
              <a:rPr lang="he-IL" dirty="0"/>
              <a:t>2. מדפיסה כוכבית ככמות המספר, כלומר: עבור המספר אחד היא תדפיס: *, עבור המספר 2: **, עבור המספר 3: *** וכן הלאה</a:t>
            </a:r>
            <a:br>
              <a:rPr lang="en-US" dirty="0"/>
            </a:br>
            <a:r>
              <a:rPr lang="he-IL" dirty="0"/>
              <a:t>3. הפונקציה תחזיר </a:t>
            </a:r>
            <a:r>
              <a:rPr lang="he-IL" dirty="0" err="1"/>
              <a:t>NaN</a:t>
            </a:r>
            <a:endParaRPr lang="he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7025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62EA-B2A2-CCE3-0985-3702EF04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מתקדם: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1743-F51A-A009-AD92-DC98262CA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he-IL" sz="1800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חדר כושר: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תכתבו פונקציה לחדר כושר ש – </a:t>
            </a:r>
            <a:endParaRPr lang="he-IL" b="0" dirty="0">
              <a:effectLst/>
            </a:endParaRP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מקבלת מהמשתמש את היום בשבוע</a:t>
            </a: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אם מדובר על הימים 3,6 היא מחזירה למשתמש מה הוא צריך להביא לאימון </a:t>
            </a: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יום שלישי צריך להביא נעלי ספורט </a:t>
            </a:r>
            <a:r>
              <a:rPr lang="he-IL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ודילגית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b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יום שישי צריך להביא מגבת 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08216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9A25-4B05-1FEB-101B-342D42F0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</a:t>
            </a:r>
            <a:endParaRPr lang="en-I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2E8220E-1D11-50D5-1588-7FE3498B8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523" y="1127223"/>
            <a:ext cx="3960953" cy="335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694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BF34-265C-4FED-71E8-43D45277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שאלות הבנה: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CFA9E-0E9E-E4EC-4ACE-D98E64242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המבנה של פונקציה?</a:t>
            </a:r>
          </a:p>
          <a:p>
            <a:r>
              <a:rPr lang="he-IL" dirty="0"/>
              <a:t>מה תפקיד ה-</a:t>
            </a:r>
            <a:r>
              <a:rPr lang="he-IL" dirty="0" err="1"/>
              <a:t>return</a:t>
            </a:r>
            <a:r>
              <a:rPr lang="he-IL" dirty="0"/>
              <a:t>?</a:t>
            </a:r>
          </a:p>
          <a:p>
            <a:r>
              <a:rPr lang="he-IL" dirty="0"/>
              <a:t>מה משמעות השורה הבאה:</a:t>
            </a:r>
          </a:p>
          <a:p>
            <a:r>
              <a:rPr lang="he-IL" dirty="0"/>
              <a:t>מה אני יכולה לעשות בתוך פונקציה?</a:t>
            </a:r>
          </a:p>
          <a:p>
            <a:r>
              <a:rPr lang="he-IL" dirty="0"/>
              <a:t> איזה ערכים אני יכולה להחזיר ב-</a:t>
            </a:r>
            <a:r>
              <a:rPr lang="he-IL" dirty="0" err="1"/>
              <a:t>return</a:t>
            </a:r>
            <a:r>
              <a:rPr lang="he-IL" dirty="0"/>
              <a:t>?</a:t>
            </a:r>
          </a:p>
          <a:p>
            <a:r>
              <a:rPr lang="he-IL" dirty="0"/>
              <a:t>מה היתרון של הפונקציה?</a:t>
            </a:r>
          </a:p>
          <a:p>
            <a:r>
              <a:rPr lang="he-IL" dirty="0"/>
              <a:t>איך אני קוראת לפונקציה?</a:t>
            </a:r>
          </a:p>
          <a:p>
            <a:pPr marL="114300" indent="0">
              <a:buNone/>
            </a:pPr>
            <a:endParaRPr lang="he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B4F78A-B926-2E29-91FF-BA0BA39FC1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1208" b="44130"/>
          <a:stretch/>
        </p:blipFill>
        <p:spPr>
          <a:xfrm>
            <a:off x="1937316" y="1727137"/>
            <a:ext cx="3702993" cy="46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3227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17408</TotalTime>
  <Words>819</Words>
  <Application>Microsoft Macintosh PowerPoint</Application>
  <PresentationFormat>On-screen Show (16:9)</PresentationFormat>
  <Paragraphs>95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Simple Light</vt:lpstr>
      <vt:lpstr>PowerPoint Presentation</vt:lpstr>
      <vt:lpstr>פונקציות </vt:lpstr>
      <vt:lpstr>פונקציות </vt:lpstr>
      <vt:lpstr>פונקציות:</vt:lpstr>
      <vt:lpstr>פונקציות:</vt:lpstr>
      <vt:lpstr>פונקציה בואי!</vt:lpstr>
      <vt:lpstr>הקוד שלנו עם פונקציה:</vt:lpstr>
      <vt:lpstr>תרגול:</vt:lpstr>
      <vt:lpstr>PowerPoint Presentation</vt:lpstr>
      <vt:lpstr>return</vt:lpstr>
      <vt:lpstr>Return – מילה שמורה</vt:lpstr>
      <vt:lpstr>מבנה פונקציה:</vt:lpstr>
      <vt:lpstr>תרגול</vt:lpstr>
      <vt:lpstr>תרגול מתקדם</vt:lpstr>
      <vt:lpstr>PowerPoint Presentation</vt:lpstr>
      <vt:lpstr>פתרון:</vt:lpstr>
      <vt:lpstr>תרגול מתקדם</vt:lpstr>
      <vt:lpstr>תרגול מתקדם</vt:lpstr>
      <vt:lpstr>תרגול מתקדם</vt:lpstr>
      <vt:lpstr>תרגול מתקדם:</vt:lpstr>
      <vt:lpstr>פתרון</vt:lpstr>
      <vt:lpstr>שאלות הבנה: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Maya Majlaton</dc:creator>
  <cp:lastModifiedBy>Ziv זיו יוסף</cp:lastModifiedBy>
  <cp:revision>33</cp:revision>
  <dcterms:modified xsi:type="dcterms:W3CDTF">2024-01-29T17:47:55Z</dcterms:modified>
</cp:coreProperties>
</file>